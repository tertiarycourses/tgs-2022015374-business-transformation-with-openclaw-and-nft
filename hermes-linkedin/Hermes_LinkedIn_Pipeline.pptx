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AI Thought Leadership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8CFF"/>
                </a:solidFill>
                <a:latin typeface="Calibri"/>
              </a:rPr>
              <a:t>Hermes CLI  ·  Kanban Orchestration  ·  Multi-Model Cost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5 Agents  ·  4 Different Models  ·  Auto-Publish to LinkedIn  ·  ~$0.006 per post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20574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2057400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8587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41148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352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6B6D4"/>
                </a:solidFill>
                <a:latin typeface="Calibri"/>
              </a:rPr>
              <a:t>Kimi K2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3" y="41148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3840480"/>
            <a:ext cx="20574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1488" y="3840480"/>
            <a:ext cx="2057400" cy="2377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38587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1148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Strategist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352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B5CF6"/>
                </a:solidFill>
                <a:latin typeface="Calibri"/>
              </a:rPr>
              <a:t>DeepSeek R1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1" y="41148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65776" y="3840480"/>
            <a:ext cx="20574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5776" y="3840480"/>
            <a:ext cx="2057400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38587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41148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Writer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4352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  <a:latin typeface="Calibri"/>
              </a:rPr>
              <a:t>DeepSeek 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9" y="41148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0064" y="3840480"/>
            <a:ext cx="20574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0064" y="3840480"/>
            <a:ext cx="2057400" cy="23774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3216" y="38587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41148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4352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97316"/>
                </a:solidFill>
                <a:latin typeface="Calibri"/>
              </a:rPr>
              <a:t>DeepSeek V3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7" y="41148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74352" y="3840480"/>
            <a:ext cx="20574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74352" y="3840480"/>
            <a:ext cx="2057400" cy="23774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47504" y="38587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41148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Publisher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47504" y="4352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A66C2"/>
                </a:solidFill>
                <a:latin typeface="Calibri"/>
              </a:rPr>
              <a:t>Groq Llama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© 2026 Tertiary Infotech Academy  ·  Mohan Pothula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LinkedIn Consistency Is Hard for Educators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6118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6118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  <a:latin typeface="Calibri"/>
              </a:rPr>
              <a:t>⏱  Time Drain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Writing one good LinkedIn post takes 1–2 hours.
Multiply by 52 weeks = 104 hours/year lost.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554480"/>
            <a:ext cx="36118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1554480"/>
            <a:ext cx="3611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  <a:latin typeface="Calibri"/>
              </a:rPr>
              <a:t>🧠  Idea Fatigue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402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Coming up with fresh, relevant angles every week
becomes mentally exhausting.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554480"/>
            <a:ext cx="36118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554480"/>
            <a:ext cx="36118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📉  Inconsistency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402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Missing even 2–3 weeks breaks momentum.
Algorithm penalises irregular posters.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The Solution: A fully automated multi-agent pipeline that researches, writes,
reviews, and publishes — while you focus on teaching.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06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WSQ Educator Auto-Publisher — Mohan's LinkedIn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26974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697480" cy="29260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Mohan — WSQ trainer,
AI courseware author,
Singapore tech educator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508760"/>
            <a:ext cx="26974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508760"/>
            <a:ext cx="2697480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53619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874519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One high-quality LinkedIn post
every Tuesday 08:00 SGT —
fully automated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508760"/>
            <a:ext cx="26974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1508760"/>
            <a:ext cx="269748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53619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874519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Real trending AI / automation /
workforce news tied to
Mohan's teaching domain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0576" y="1508760"/>
            <a:ext cx="26974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0576" y="1508760"/>
            <a:ext cx="2697480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6" y="153619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Audience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1874519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Singapore HR managers,
SME founders, L&amp;D leads,
tech-adjacent professionals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486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$0.006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per 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2486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$0.30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per 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2486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2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saved weekly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2486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posts/year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52486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manual effort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End-to-End Pipeline — 5 Agents, 4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90779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54480"/>
            <a:ext cx="20574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54480"/>
            <a:ext cx="2057400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81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Agent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90195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Scout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2286000"/>
            <a:ext cx="1828800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304288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Kimi K2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60604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Finds 3 real
trending topics
with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90779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1554480"/>
            <a:ext cx="20574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554480"/>
            <a:ext cx="2057400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581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Agent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190195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Strategist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286000"/>
            <a:ext cx="1828800" cy="2377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3784" y="2304288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DeepSeek R1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60604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Reasons &amp;
picks best
topic + angle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290779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7488" y="1554480"/>
            <a:ext cx="20574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7488" y="1554480"/>
            <a:ext cx="205740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8928" y="1581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Agent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190195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Writer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928" y="2286000"/>
            <a:ext cx="1828800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93792" y="2304288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DeepSeek V3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260604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Writes the
full LinkedIn
post draft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7464" y="290779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97496" y="1554480"/>
            <a:ext cx="20574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97496" y="1554480"/>
            <a:ext cx="2057400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88936" y="1581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Agent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190195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QA Editor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88936" y="2286000"/>
            <a:ext cx="1828800" cy="23774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2304288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DeepSeek V3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88936" y="260604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Checks rules
fixes violations
approves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47504" y="1554480"/>
            <a:ext cx="20574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47504" y="1554480"/>
            <a:ext cx="2057400" cy="29260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38944" y="1581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Agent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8944" y="190195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Publisher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38944" y="2286000"/>
            <a:ext cx="1828800" cy="23774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93808" y="2304288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Groq Llama 3.3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38944" y="260604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Formats &amp;
schedules via
LinkedIn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" y="5742432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  <a:latin typeface="Calibri"/>
              </a:rPr>
              <a:t>⏰ CRON TRIGGER
Every Monday 06:00 SGT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92640" y="5577840"/>
            <a:ext cx="2103120" cy="6400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65792" y="5614416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  <a:latin typeface="Calibri"/>
              </a:rPr>
              <a:t>✓ Posted Tuesday 08:00 SGT
  LinkedIn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06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Kanban Board — Hermes CLI Stage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63040"/>
            <a:ext cx="1572768" cy="27432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4813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737360"/>
            <a:ext cx="157276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792224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New card
created
Mon 06:00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2651760"/>
            <a:ext cx="1417320" cy="731520"/>
          </a:xfrm>
          <a:prstGeom prst="rect">
            <a:avLst/>
          </a:prstGeom>
          <a:solidFill>
            <a:srgbClr val="21262E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706624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alibri"/>
              </a:rPr>
              <a:t>Week 32
AI topic card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463040"/>
            <a:ext cx="1572768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75104" y="14813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SCOUTING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1737360"/>
            <a:ext cx="157276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1792224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Agent 1
Kimi K2
running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3392" y="2651760"/>
            <a:ext cx="1417320" cy="731520"/>
          </a:xfrm>
          <a:prstGeom prst="rect">
            <a:avLst/>
          </a:prstGeom>
          <a:solidFill>
            <a:srgbClr val="2126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48256" y="2706624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alibri"/>
              </a:rPr>
              <a:t>Week 33
AI topic 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4448" y="1463040"/>
            <a:ext cx="1572768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14813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DRAFTING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4448" y="1737360"/>
            <a:ext cx="157276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1792224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Agent 2+3
DeepSeek
running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651760"/>
            <a:ext cx="1417320" cy="731520"/>
          </a:xfrm>
          <a:prstGeom prst="rect">
            <a:avLst/>
          </a:prstGeom>
          <a:solidFill>
            <a:srgbClr val="2126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4" y="2706624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alibri"/>
              </a:rPr>
              <a:t>Week 34
AI topic card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48656" y="1463040"/>
            <a:ext cx="1572768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14813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48656" y="1737360"/>
            <a:ext cx="157276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21808" y="1792224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Agent 4
Checking
rules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21808" y="2651760"/>
            <a:ext cx="1417320" cy="731520"/>
          </a:xfrm>
          <a:prstGeom prst="rect">
            <a:avLst/>
          </a:prstGeom>
          <a:solidFill>
            <a:srgbClr val="2126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76672" y="2706624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alibri"/>
              </a:rPr>
              <a:t>Week 35
AI topic card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12864" y="1463040"/>
            <a:ext cx="1572768" cy="2743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14813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SCHEDULED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12864" y="1737360"/>
            <a:ext cx="157276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6016" y="1792224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Agent 5
Formatted
&amp; queued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86016" y="2651760"/>
            <a:ext cx="1417320" cy="731520"/>
          </a:xfrm>
          <a:prstGeom prst="rect">
            <a:avLst/>
          </a:prstGeom>
          <a:solidFill>
            <a:srgbClr val="21262E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2706624"/>
            <a:ext cx="12618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1D9"/>
                </a:solidFill>
                <a:latin typeface="Calibri"/>
              </a:rPr>
              <a:t>Week 36
AI topic card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77072" y="1463040"/>
            <a:ext cx="1572768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31936" y="14813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POSTED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77072" y="1737360"/>
            <a:ext cx="157276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0224" y="1792224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LinkedIn
API call
succeeded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41280" y="1463040"/>
            <a:ext cx="1572768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96144" y="14813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BLOCKED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1737360"/>
            <a:ext cx="1572768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14432" y="1792224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Human
review
needed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" y="52303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B949E"/>
                </a:solidFill>
                <a:latin typeface="Calibri"/>
              </a:rPr>
              <a:t>Card moves right as each agent completes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3728" y="5102352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97316"/>
                </a:solidFill>
                <a:latin typeface="Calibri"/>
              </a:rPr>
              <a:t>↑  Card moves to BLOCKED if QA rejects — requires human review before resuming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" y="5577840"/>
            <a:ext cx="11430000" cy="530352"/>
          </a:xfrm>
          <a:prstGeom prst="rect">
            <a:avLst/>
          </a:prstGeom>
          <a:solidFill>
            <a:srgbClr val="0D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61441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Calibri"/>
              </a:rPr>
              <a:t>Each card carries:  </a:t>
            </a:r>
          </a:p>
          <a:p>
            <a:pPr algn="l"/>
            <a:r>
              <a:rPr sz="800" b="0">
                <a:solidFill>
                  <a:srgbClr val="C9D1D9"/>
                </a:solidFill>
                <a:latin typeface="Courier New"/>
              </a:rPr>
              <a:t>week_id  ·  domain  ·  persona  ·  recent_topics[]  ·  post_draft  ·  status  ·  tokens_used  ·  cost_usd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AGENT 1  ·  SCOUT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Research Agent — Find Real Trending 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" y="1280160"/>
            <a:ext cx="3108960" cy="5230368"/>
          </a:xfrm>
          <a:prstGeom prst="rect">
            <a:avLst/>
          </a:prstGeom>
          <a:solidFill>
            <a:srgbClr val="0A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4173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700784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Find 3 genuinely trending
topics with real signals
— never hallucinate events.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26151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2907792"/>
            <a:ext cx="2560320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293522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Kimi K2  (Moonshot 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33101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Why Kimi K2?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3602736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Long context (128K)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Web grounding built-in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Cheapest per-token for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   research tasks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~$0.001 per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515721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544982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JSON array of 3 topics
with signal, audience,
angle,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38988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1682496"/>
            <a:ext cx="8686800" cy="4791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0128" y="1682496"/>
            <a:ext cx="36576" cy="4791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9856" y="1773936"/>
            <a:ext cx="8503920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SYSTEM: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You are a content scout for an AI educator in Singapore.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Your only job: find 3 genuinely trending topics from the past 7 days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relevant to [DOMAIN]. A topic needs a REAL signal — product launch,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viral post, government announcement, research paper, or news event.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Never invent signals. If confidence is low, say so.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USER: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Domain: AI agents, no-code automation, workforce transformation,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      Singapore tech policy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For each topic return JSON with keys: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title        — max 8 words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signal       — what happened and source type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audience     — who on LinkedIn cares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angle        — contrarian | how-to | case study | prediction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confidence   — high | medium | low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Return a JSON array of exactly 3 topics. Nothing else.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AGENT 2  ·  STRATEGIST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Strategy Agent — Pick the Best Topic Using Reasoning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" y="1280160"/>
            <a:ext cx="3108960" cy="5230368"/>
          </a:xfrm>
          <a:prstGeom prst="rect">
            <a:avLst/>
          </a:prstGeom>
          <a:solidFill>
            <a:srgbClr val="15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4173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70078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Receives 3 topics from Scout.
Reasons step-by-step to pick
the best one for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2816352"/>
            <a:ext cx="2560320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284378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DeepSeek R1  (reasoning)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Why DeepSeek R1?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3511296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Reasoning model — shows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   chain-of-thought steps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Better topic ranking than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   Haiku at 30% lower cost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~$0.002 per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49743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5266944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JSON: chosen topic, reasoning,
hook concept, format, length,
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38988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1682496"/>
            <a:ext cx="8686800" cy="4791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0128" y="1682496"/>
            <a:ext cx="36576" cy="4791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9856" y="1773936"/>
            <a:ext cx="8503920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SYSTEM: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You are a content strategist. Reason step by step before deciding.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Never guess — show your reasoning chain before the final answer.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USER: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Author: Mohan — WSQ trainer, AI courseware developer, educator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Audience: Singapore HR managers, SME founders, L&amp;D professionals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Voice: direct, practical, educator — not hype, not corporate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Avoid repeating: [RECENT_TOPICS_LIST]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Incoming topics: [SCOUT_JSON]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Reason through EACH question before deciding: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1. Which topic would Mohan have genuine credibility to speak about?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2. Which has strongest engagement for his specific audience?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3. Which has NOT been flooded on LinkedIn this week?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4. Which connects to workforce upskilling or AI adoption in SG?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Output JSON: chosen_topic · why_this_wins · hook_concept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           post_format · target_length · post_tone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06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AGENT 3  ·  WRITER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Writer Agent — Draft the LinkedIn Post (Premium Model Slot)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" y="1280160"/>
            <a:ext cx="3108960" cy="5230368"/>
          </a:xfrm>
          <a:prstGeom prst="rect">
            <a:avLst/>
          </a:prstGeom>
          <a:solidFill>
            <a:srgbClr val="06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4173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70078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Write the complete LinkedIn
post. This is the highest-
quality step in the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2816352"/>
            <a:ext cx="256032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284378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DeepSeek V3  (best value)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Why DeepSeek V3?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3511296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Writing quality ≈ Sonnet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90% cheaper than Sonnet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Strong English fluency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Follows style rules well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~$0.002 per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49743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Hard Rules Enforced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5266944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  <a:latin typeface="Calibri"/>
              </a:rPr>
              <a:t>·  Never open with 'I'</a:t>
            </a:r>
          </a:p>
          <a:p>
            <a:pPr algn="l"/>
            <a:r>
              <a:rPr sz="900" b="0">
                <a:solidFill>
                  <a:srgbClr val="C9D1D9"/>
                </a:solidFill>
                <a:latin typeface="Calibri"/>
              </a:rPr>
              <a:t>·  No banned words list</a:t>
            </a:r>
          </a:p>
          <a:p>
            <a:pPr algn="l"/>
            <a:r>
              <a:rPr sz="900" b="0">
                <a:solidFill>
                  <a:srgbClr val="C9D1D9"/>
                </a:solidFill>
                <a:latin typeface="Calibri"/>
              </a:rPr>
              <a:t>·  Max 3 hashtags at end</a:t>
            </a:r>
          </a:p>
          <a:p>
            <a:pPr algn="l"/>
            <a:r>
              <a:rPr sz="900" b="0">
                <a:solidFill>
                  <a:srgbClr val="C9D1D9"/>
                </a:solidFill>
                <a:latin typeface="Calibri"/>
              </a:rPr>
              <a:t>·  End with a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38988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1682496"/>
            <a:ext cx="8686800" cy="4791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0128" y="1682496"/>
            <a:ext cx="36576" cy="4791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9856" y="1773936"/>
            <a:ext cx="8503920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SYSTEM: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You are a ghostwriter for a senior AI educator in Singapore.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Write LinkedIn posts that sound like a real person with real opinions —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not a content template, not corporate, not AI-generated.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Reader should finish thinking: 'This person knows their stuff.'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HARD RULES — violating any is a failure: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- Never open with 'I'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- Never use: "game-changer", "leverage", "delve", "thrilled",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  "excited to share", "the future of", "unlock"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- Maximum 3 hashtags, only at the very end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- End with ONE genuine question that invites a reply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- No em-dash spam (max 1 per post)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- Output ONLY the post text — no preamble, no explanation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USER: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Topic: [CHOSEN_TOPIC]  |  Hook: [HOOK_CONCEPT]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Format: [POST_FORMAT]  |  Tone: [POST_TONE]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Length: [TARGET_LENGTH]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Context: Mohan teaches AI agents to Singapore professionals (WSQ).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92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AGENT 4  ·  QA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Quality Assurance Agent — Enforce Rules, Not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" y="1280160"/>
            <a:ext cx="3108960" cy="5230368"/>
          </a:xfrm>
          <a:prstGeom prst="rect">
            <a:avLst/>
          </a:prstGeom>
          <a:solidFill>
            <a:srgbClr val="1C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4173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70078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Mechanical checklist only.
Does NOT rewrite for style.
Only fixes rule violations.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2816352"/>
            <a:ext cx="2560320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284378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DeepSeek V3  (same as Writer)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Why same model?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3511296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Reuses warm cache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No cold-start overhead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Different system prompt =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   different behaviour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~$0.001 per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49743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5266944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  <a:latin typeface="Calibri"/>
              </a:rPr>
              <a:t>approved  — no changes</a:t>
            </a:r>
          </a:p>
          <a:p>
            <a:pPr algn="l"/>
            <a:r>
              <a:rPr sz="900" b="0">
                <a:solidFill>
                  <a:srgbClr val="C9D1D9"/>
                </a:solidFill>
                <a:latin typeface="Calibri"/>
              </a:rPr>
              <a:t>revised   — fixed + summary</a:t>
            </a:r>
          </a:p>
          <a:p>
            <a:pPr algn="l"/>
            <a:r>
              <a:rPr sz="900" b="0">
                <a:solidFill>
                  <a:srgbClr val="C9D1D9"/>
                </a:solidFill>
                <a:latin typeface="Calibri"/>
              </a:rPr>
              <a:t>rejected  → card to BLOCKED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38988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1682496"/>
            <a:ext cx="8686800" cy="4791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0128" y="1682496"/>
            <a:ext cx="36576" cy="4791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9856" y="1773936"/>
            <a:ext cx="8503920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SYSTEM: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You are a quality checker, NOT a writer.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Enforce rules mechanically. Do not improve style.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Only fix violations — nothing else.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USER: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Run this checklist on the post: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[ ] First word is NOT 'I'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[ ] No banned words: game-changer, leverage, delve,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    "In today's world", thrilled, excited to announce,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    unlock, the future of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[ ] Hashtag count is 3 or fewer, at the end only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[ ] Post ends with a question mark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[ ] Word count within 15% of target: [TARGET_LENGTH]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[ ] No markdown symbols (**, *, #, _)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[ ] Character count under 3000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POST: [DRAFT_POST]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Output JSON: { "status": "approved|revised|rejected",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"post": "...", "violations_found": [...], "change_summary": "..."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AGENT 5  ·  PUBLISHER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Publisher Agent — Format, Schedule &amp; Trigger LinkedIn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" y="1280160"/>
            <a:ext cx="3108960" cy="5230368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4173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66C2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70078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Mechanical formatter only.
Prepares LinkedIn API payload.
Hermes handles the POST 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25237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66C2"/>
                </a:solidFill>
                <a:latin typeface="Calibr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2816352"/>
            <a:ext cx="2560320" cy="29260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" y="284378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Llama 3.3 70B via Groq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32186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66C2"/>
                </a:solidFill>
                <a:latin typeface="Calibri"/>
              </a:rPr>
              <a:t>Why Groq + Llama?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3511296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Free tier available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Ultra-fast inference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Task is pure formatting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Zero creativity needed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alibri"/>
              </a:rPr>
              <a:t>·  Cost: $0.000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49743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66C2"/>
                </a:solidFill>
                <a:latin typeface="Calibri"/>
              </a:rPr>
              <a:t>LinkedIn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526694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POST /v2/ugcPosts
Auth: OAuth 2.0 Bearer
Scheduled: Tue 08:00 SGT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38988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66C2"/>
                </a:solidFill>
                <a:latin typeface="Calibri"/>
              </a:rPr>
              <a:t>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1682496"/>
            <a:ext cx="8686800" cy="4791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0128" y="1682496"/>
            <a:ext cx="36576" cy="4791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9856" y="1773936"/>
            <a:ext cx="8503920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SYSTEM: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You are a publishing formatter. Mechanical formatting only.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Do NOT edit content. Do NOT make creative decisions.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USER: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1. If QA status is 'rejected' →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 output { "halt": true, "reason": "QA rejected" } and STOP.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2. Otherwise: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 - Strip all markdown formatting (**, *, #, _)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 - Replace paragraph breaks with \n\n for LinkedIn API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 - Count characters (must be under 3000)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 - Schedule for next Tuesday 08:00 SGT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Output ONLY this JSON (Hermes makes the API call):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{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"halt": false,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"text": "...",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"char_count": 000,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"word_count": 000,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"scheduled_for": "YYYY-MM-DDT08:00:00+08:00",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"platform": "linkedin",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  "ready": true</a:t>
            </a:r>
          </a:p>
          <a:p>
            <a:pPr algn="l"/>
            <a:r>
              <a:rPr sz="750" b="0">
                <a:solidFill>
                  <a:srgbClr val="C9D1D9"/>
                </a:solidFill>
                <a:latin typeface="Courier New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COST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Per-Post Cost Breakdown — Right Model for Right Task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63040"/>
            <a:ext cx="11777472" cy="329184"/>
          </a:xfrm>
          <a:prstGeom prst="rect">
            <a:avLst/>
          </a:prstGeom>
          <a:solidFill>
            <a:srgbClr val="0A2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9961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8CFF"/>
                </a:solidFill>
                <a:latin typeface="Calibri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14996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8C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8656" y="14996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8CFF"/>
                </a:solidFill>
                <a:latin typeface="Calibri"/>
              </a:rPr>
              <a:t>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14996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8CFF"/>
                </a:solidFill>
                <a:latin typeface="Calibri"/>
              </a:rPr>
              <a:t>Per 1M (in/out)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4996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8CFF"/>
                </a:solidFill>
                <a:latin typeface="Calibri"/>
              </a:rPr>
              <a:t>Per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1828800"/>
            <a:ext cx="11777472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1828800"/>
            <a:ext cx="54864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1993392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Agent 1  Scout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1993392"/>
            <a:ext cx="2249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Kimi K2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1993392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~800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93392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$0.15/$0.60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93392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~$0.001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2487168"/>
            <a:ext cx="11777472" cy="640080"/>
          </a:xfrm>
          <a:prstGeom prst="rect">
            <a:avLst/>
          </a:prstGeom>
          <a:solidFill>
            <a:srgbClr val="13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168" y="2487168"/>
            <a:ext cx="54864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" y="2651760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Agent 2  Strategist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9504" y="2651760"/>
            <a:ext cx="2249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DeepSeek R1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265176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~600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651760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$0.55/$2.19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65176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~$0.002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3145536"/>
            <a:ext cx="11777472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3145536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" y="3310128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Agent 3  Writer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9504" y="3310128"/>
            <a:ext cx="2249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DeepSeek V3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3310128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~1,200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310128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$0.27/$1.10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310128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~$0.002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3803904"/>
            <a:ext cx="11777472" cy="640080"/>
          </a:xfrm>
          <a:prstGeom prst="rect">
            <a:avLst/>
          </a:prstGeom>
          <a:solidFill>
            <a:srgbClr val="13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3803904"/>
            <a:ext cx="54864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3968496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Calibri"/>
              </a:rPr>
              <a:t>Agent 4  QA Editor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9504" y="3968496"/>
            <a:ext cx="2249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DeepSeek V3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5232" y="3968496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~800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968496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$0.27/$1.10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3968496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~$0.001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" y="4462272"/>
            <a:ext cx="11777472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01168" y="4462272"/>
            <a:ext cx="54864" cy="6400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" y="4626864"/>
            <a:ext cx="24323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6C2"/>
                </a:solidFill>
                <a:latin typeface="Calibri"/>
              </a:rPr>
              <a:t>Agent 5  Publisher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9504" y="4626864"/>
            <a:ext cx="2249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Groq Llama 3.3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5232" y="4626864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~300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626864"/>
            <a:ext cx="17922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Free tier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4626864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$0.000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" y="5138928"/>
            <a:ext cx="11777472" cy="475488"/>
          </a:xfrm>
          <a:prstGeom prst="rect">
            <a:avLst/>
          </a:prstGeom>
          <a:solidFill>
            <a:srgbClr val="062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" y="521208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TOTAL  per post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48656" y="521208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~3,700 tokens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21208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~$0.006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" y="5760720"/>
            <a:ext cx="2834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0896" y="5797296"/>
            <a:ext cx="2615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Per month (4 posts)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" y="5998464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~$0.025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5760720"/>
            <a:ext cx="2834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10128" y="5797296"/>
            <a:ext cx="2615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Per year (52 posts)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0128" y="5998464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~$0.30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99632" y="5760720"/>
            <a:ext cx="2834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797296"/>
            <a:ext cx="2615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vs All-Claude Sonnet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5998464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  <a:latin typeface="Calibri"/>
              </a:rPr>
              <a:t>~$4.00/yr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98864" y="5760720"/>
            <a:ext cx="2834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08592" y="5797296"/>
            <a:ext cx="26151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Saving vs Sonnet-only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08592" y="5998464"/>
            <a:ext cx="2615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93%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All Models Considered — Why This Stack Wins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63040"/>
            <a:ext cx="11777472" cy="310896"/>
          </a:xfrm>
          <a:prstGeom prst="rect">
            <a:avLst/>
          </a:prstGeom>
          <a:solidFill>
            <a:srgbClr val="1A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4904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alibri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14904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alibri"/>
              </a:rPr>
              <a:t>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5264" y="14904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alibri"/>
              </a:rPr>
              <a:t>In/1M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49047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alibri"/>
              </a:rPr>
              <a:t>Out/1M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4904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alibri"/>
              </a:rP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14904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alibri"/>
              </a:rPr>
              <a:t>Reason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149047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alibri"/>
              </a:rP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14904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alibri"/>
              </a:rPr>
              <a:t>Best For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1792224"/>
            <a:ext cx="11777472" cy="640080"/>
          </a:xfrm>
          <a:prstGeom prst="rect">
            <a:avLst/>
          </a:prstGeom>
          <a:solidFill>
            <a:srgbClr val="0D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1792224"/>
            <a:ext cx="54864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1947672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  <a:latin typeface="Calibri"/>
              </a:rPr>
              <a:t>Kimi K2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2" y="1947672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Moonshot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194767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  <a:latin typeface="Courier New"/>
              </a:rPr>
              <a:t>$0.15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1947672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ourier New"/>
              </a:rPr>
              <a:t>$0.60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47672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1947672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1947672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1947672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Research, long-ctx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2450592"/>
            <a:ext cx="11777472" cy="640080"/>
          </a:xfrm>
          <a:prstGeom prst="rect">
            <a:avLst/>
          </a:prstGeom>
          <a:solidFill>
            <a:srgbClr val="0D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1168" y="2450592"/>
            <a:ext cx="54864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" y="2606040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alibri"/>
              </a:rPr>
              <a:t>DeepSeek 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9112" y="2606040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DeepSeek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4408" y="260604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  <a:latin typeface="Courier New"/>
              </a:rPr>
              <a:t>$0.55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2606040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ourier New"/>
              </a:rPr>
              <a:t>$2.19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606040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7296" y="2606040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2606040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2088" y="2606040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Reasoning, strategy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" y="3108960"/>
            <a:ext cx="11777472" cy="640080"/>
          </a:xfrm>
          <a:prstGeom prst="rect">
            <a:avLst/>
          </a:prstGeom>
          <a:solidFill>
            <a:srgbClr val="0D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1168" y="3108960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" y="3264408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Calibri"/>
              </a:rPr>
              <a:t>DeepSeek V3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39112" y="3264408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DeepSeek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64408" y="3264408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  <a:latin typeface="Courier New"/>
              </a:rPr>
              <a:t>$0.27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32504" y="3264408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ourier New"/>
              </a:rPr>
              <a:t>$1.10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3264408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97296" y="3264408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3264408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088" y="3264408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Writing, formatting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3767328"/>
            <a:ext cx="11777472" cy="640080"/>
          </a:xfrm>
          <a:prstGeom prst="rect">
            <a:avLst/>
          </a:prstGeom>
          <a:solidFill>
            <a:srgbClr val="0D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1168" y="3767328"/>
            <a:ext cx="54864" cy="6400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176" y="3922776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66C2"/>
                </a:solidFill>
                <a:latin typeface="Calibri"/>
              </a:rPr>
              <a:t>Groq Llama 3.3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39112" y="3922776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Groq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64408" y="3922776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  <a:latin typeface="Courier New"/>
              </a:rPr>
              <a:t>Free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2504" y="3922776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97316"/>
                </a:solidFill>
                <a:latin typeface="Courier New"/>
              </a:rPr>
              <a:t>Free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3922776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97296" y="3922776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★★★☆☆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8272" y="3922776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62088" y="3922776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Simple tasks, speed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1168" y="4425696"/>
            <a:ext cx="11777472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176" y="4581144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Claude Haiku 4.5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39112" y="4581144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Anthropic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64408" y="4581144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ourier New"/>
              </a:rPr>
              <a:t>$0.80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32504" y="4581144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97316"/>
                </a:solidFill>
                <a:latin typeface="Courier New"/>
              </a:rPr>
              <a:t>$4.00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46320" y="4581144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★★★☆☆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97296" y="4581144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★★★☆☆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8272" y="4581144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★★★☆☆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62088" y="4581144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Fallback option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1168" y="5084064"/>
            <a:ext cx="11777472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5239512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alibri"/>
              </a:rPr>
              <a:t>Claude Sonnet 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39112" y="5239512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Anthropic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64408" y="523951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Courier New"/>
              </a:rPr>
              <a:t>$3.00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32504" y="5239512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97316"/>
                </a:solidFill>
                <a:latin typeface="Courier New"/>
              </a:rPr>
              <a:t>$15.00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46320" y="5239512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★★☆☆☆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97296" y="5239512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★★★★★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48272" y="5239512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★★☆☆☆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62088" y="5239512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1D9"/>
                </a:solidFill>
                <a:latin typeface="Calibri"/>
              </a:rPr>
              <a:t>Not cost-optimal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1168" y="58704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B949E"/>
                </a:solidFill>
                <a:latin typeface="Calibri"/>
              </a:rPr>
              <a:t>✓ = Used in pipeline    Grey rows = considered but not selected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92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Fallback Strategy — Pipeline Never Halts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274320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274320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36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Kimi K2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→  Haiku 4.5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Drop web grounding,
use training data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6976" y="1508760"/>
            <a:ext cx="274320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36976" y="1508760"/>
            <a:ext cx="274320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8416" y="1536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DeepSeek R1 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1828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  <a:latin typeface="Calibri"/>
              </a:rPr>
              <a:t>→  Haiku 4.5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Add chain-of-thought
instruction to prompt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508760"/>
            <a:ext cx="274320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508760"/>
            <a:ext cx="27432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536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DeepSeek V3 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1828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→  Haiku 4.5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Slightly higher cost
~$0.008 total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2288" y="1508760"/>
            <a:ext cx="274320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62288" y="1508760"/>
            <a:ext cx="2743200" cy="25603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1536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Groq 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828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66C2"/>
                </a:solidFill>
                <a:latin typeface="Calibri"/>
              </a:rPr>
              <a:t>→  Haiku 4.5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  <a:latin typeface="Calibri"/>
              </a:rPr>
              <a:t>Formatting task only
~$0.001 extra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754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Hermes auto-routes to fallback — no human intervention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157216"/>
            <a:ext cx="11612880" cy="731520"/>
          </a:xfrm>
          <a:prstGeom prst="rect">
            <a:avLst/>
          </a:prstGeom>
          <a:solidFill>
            <a:srgbClr val="1C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5266944"/>
            <a:ext cx="11247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  <a:latin typeface="Calibri"/>
              </a:rPr>
              <a:t>Worst case (all providers down):  All 5 agents fall back to Claude Haiku 4.5  →  Total cost ~$0.04/post  ·  Still 50× cheaper than manual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06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Demo Script — 90 Seconds on Stage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81328"/>
            <a:ext cx="5687568" cy="1426464"/>
          </a:xfrm>
          <a:prstGeom prst="rect">
            <a:avLst/>
          </a:prstGeom>
          <a:solidFill>
            <a:srgbClr val="161B22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81328"/>
            <a:ext cx="640080" cy="14264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57276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72768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6C2"/>
                </a:solidFill>
                <a:latin typeface="Calibri"/>
              </a:rPr>
              <a:t>Show Kanban 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901952"/>
            <a:ext cx="480974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Open Hermes dashboard. Show INBOX with one card labelled 'Week 32 — AI Agents topic'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481328"/>
            <a:ext cx="5687568" cy="1426464"/>
          </a:xfrm>
          <a:prstGeom prst="rect">
            <a:avLst/>
          </a:prstGeom>
          <a:solidFill>
            <a:srgbClr val="161B2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481328"/>
            <a:ext cx="640080" cy="14264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7276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00:15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1572768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Trigger the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901952"/>
            <a:ext cx="480974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Run: hermes run --card week-32
Watch card move: INBOX → SCOUTING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072384"/>
            <a:ext cx="5687568" cy="1426464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072384"/>
            <a:ext cx="640080" cy="14264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" y="31638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00:35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163824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Scout + Strategist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493008"/>
            <a:ext cx="480974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Card moves SCOUTING → DRAFTING. Show the 3 topics returned + which was chosen and why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072384"/>
            <a:ext cx="5687568" cy="1426464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072384"/>
            <a:ext cx="640080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1638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00:55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3163824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Writer completes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3493008"/>
            <a:ext cx="480974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Card moves DRAFTING → QA. Show the draft post — read the first 2 lines aloud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663440"/>
            <a:ext cx="5687568" cy="1426464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4663440"/>
            <a:ext cx="640080" cy="14264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" y="475488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01:10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4754880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QA approves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84064"/>
            <a:ext cx="480974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Card moves QA → SCHEDULED. Show status: 'approved', violations_found: []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4768" y="4663440"/>
            <a:ext cx="5687568" cy="1426464"/>
          </a:xfrm>
          <a:prstGeom prst="rect">
            <a:avLst/>
          </a:prstGeom>
          <a:solidFill>
            <a:srgbClr val="161B22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4663440"/>
            <a:ext cx="640080" cy="14264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75488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01:25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94576" y="4754880"/>
            <a:ext cx="4809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6C2"/>
                </a:solidFill>
                <a:latin typeface="Calibri"/>
              </a:rPr>
              <a:t>Show scheduled payload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5084064"/>
            <a:ext cx="480974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Show the final JSON payload + cost log: $0.006 total
Say: 'Posts Tuesday 08:00 automatically. Zero minutes of my time.'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128016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DBFF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1170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Validate Prompts → Build in Hermes CLI → Go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63040"/>
            <a:ext cx="5303520" cy="5065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CFF"/>
                </a:solidFill>
                <a:latin typeface="Calibri"/>
              </a:rPr>
              <a:t>VALIDATE BEFORE HERMES CLI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901952"/>
            <a:ext cx="54864" cy="7498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9385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Agent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938528"/>
            <a:ext cx="41148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Does Kimi K2 return real signals?
Or does it hallucinate events?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779776"/>
            <a:ext cx="54864" cy="7498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8163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Agent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816352"/>
            <a:ext cx="41148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Does DeepSeek R1 pick topics that
fit YOUR voice and audience?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657600"/>
            <a:ext cx="54864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6941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Agent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694176"/>
            <a:ext cx="41148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Does the post sound like YOU?
Run 3 topics, compare outputs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4535424"/>
            <a:ext cx="54864" cy="7498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457200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Agent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572000"/>
            <a:ext cx="41148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Does QA catch violations without
over-editing good content?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5413248"/>
            <a:ext cx="54864" cy="74980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544982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66C2"/>
                </a:solidFill>
                <a:latin typeface="Calibri"/>
              </a:rPr>
              <a:t>Agent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5449824"/>
            <a:ext cx="41148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Does the JSON payload match
LinkedIn API spec exactly?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42432" y="1463040"/>
            <a:ext cx="6217920" cy="5065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88736" y="1554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HERMES CLI — BUILD ORDER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88736" y="1901952"/>
            <a:ext cx="54864" cy="67665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93852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Step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193852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Test each prompt standalone
via Hermes prompt 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88736" y="2670048"/>
            <a:ext cx="54864" cy="67665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Step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2706624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Wire Agent 1 → 2 handoff
test JSON schema passthrough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8736" y="3438144"/>
            <a:ext cx="54864" cy="6766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4747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Step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4576" y="3474720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Add Agent 3 + verify tone
matches your voice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8736" y="4206240"/>
            <a:ext cx="54864" cy="67665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42428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Step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94576" y="4242816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Add Agent 4 QA gate
test with intentional violations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88736" y="4974336"/>
            <a:ext cx="54864" cy="67665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50109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66C2"/>
                </a:solidFill>
                <a:latin typeface="Calibri"/>
              </a:rPr>
              <a:t>Step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4576" y="5010912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Wire Agent 5 + LinkedIn OAuth
test with a draft post (not publish)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88736" y="5742432"/>
            <a:ext cx="54864" cy="6766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577900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Step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4576" y="577900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  <a:latin typeface="Calibri"/>
              </a:rPr>
              <a:t>Set cron: every Monday 06:00
Go live — first post Tuesday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alibri"/>
              </a:rPr>
              <a:t>Hermes + Kanban  ·  LinkedIn Auto-Publisher  ·  Multi-Agent Pipeline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0" y="64922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