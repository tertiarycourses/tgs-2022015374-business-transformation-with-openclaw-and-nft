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6064859-Autonomous-AI-Agents-with-OpenClaw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cs.openclaw.ai/" TargetMode="External"/><Relationship Id="rId3" Type="http://schemas.openxmlformats.org/officeDocument/2006/relationships/hyperlink" Target="https://docs.openclaw.ai/help/faq" TargetMode="External"/><Relationship Id="rId4" Type="http://schemas.openxmlformats.org/officeDocument/2006/relationships/hyperlink" Target="https://docs.openclaw.ai/start/getting-started" TargetMode="External"/><Relationship Id="rId5" Type="http://schemas.openxmlformats.org/officeDocument/2006/relationships/hyperlink" Target="https://openclaw.ai/showcase" TargetMode="External"/><Relationship Id="rId6" Type="http://schemas.openxmlformats.org/officeDocument/2006/relationships/hyperlink" Target="https://github.com/openclaw/openclaw" TargetMode="External"/><Relationship Id="rId7" Type="http://schemas.openxmlformats.org/officeDocument/2006/relationships/hyperlink" Target="https://github.com/openclaw" TargetMode="External"/><Relationship Id="rId8" Type="http://schemas.openxmlformats.org/officeDocument/2006/relationships/hyperlink" Target="https://www.openclaw.org/" TargetMode="Externa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lay.google.com/store/apps/details?id=ai.openclaw.app&amp;hl=en_US" TargetMode="External"/><Relationship Id="rId3" Type="http://schemas.openxmlformats.org/officeDocument/2006/relationships/hyperlink" Target="https://github.com/hesamsheikh/awesome-openclaw-usecases" TargetMode="External"/><Relationship Id="rId4" Type="http://schemas.openxmlformats.org/officeDocument/2006/relationships/hyperlink" Target="https://github.com/rohitg00/awesome-openclaw/blob/main/README.md" TargetMode="External"/><Relationship Id="rId5" Type="http://schemas.openxmlformats.org/officeDocument/2006/relationships/hyperlink" Target="https://www.hostinger.com/tutorials/openclaw-use-cases/" TargetMode="External"/><Relationship Id="rId6" Type="http://schemas.openxmlformats.org/officeDocument/2006/relationships/hyperlink" Target="https://aiagentskit.com/blog/openclaw-use-cases/" TargetMode="External"/><Relationship Id="rId7" Type="http://schemas.openxmlformats.org/officeDocument/2006/relationships/hyperlink" Target="https://kanerika.com/blogs/openclaw-usecases/" TargetMode="External"/><Relationship Id="rId8" Type="http://schemas.openxmlformats.org/officeDocument/2006/relationships/hyperlink" Target="https://www.digitalocean.com/resources/articles/what-is-openclaw" TargetMode="Externa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techradar.com/pro/what-is-openclaw" TargetMode="External"/><Relationship Id="rId3" Type="http://schemas.openxmlformats.org/officeDocument/2006/relationships/hyperlink" Target="https://www.malwarebytes.com/blog/news/2026/02/openclaw-what-is-it-and-can-you-use-it-safely" TargetMode="External"/><Relationship Id="rId4" Type="http://schemas.openxmlformats.org/officeDocument/2006/relationships/hyperlink" Target="https://www.ionos.com/digitalguide/server/know-how/openclaw/" TargetMode="External"/><Relationship Id="rId5" Type="http://schemas.openxmlformats.org/officeDocument/2006/relationships/hyperlink" Target="https://milvus.io/blog/openclaw-formerly-clawdbot-moltbot-explained-a-complete-guide-to-the-autonomous-ai-agent.md" TargetMode="External"/><Relationship Id="rId6" Type="http://schemas.openxmlformats.org/officeDocument/2006/relationships/hyperlink" Target="https://www.tencentcloud.com/techpedia/140975" TargetMode="External"/><Relationship Id="rId7" Type="http://schemas.openxmlformats.org/officeDocument/2006/relationships/hyperlink" Target="https://emergent.sh/learn/what-is-openclaw" TargetMode="External"/><Relationship Id="rId8" Type="http://schemas.openxmlformats.org/officeDocument/2006/relationships/hyperlink" Target="https://en.wikipedia.org/wiki/OpenClaw" TargetMode="Externa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hero-v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9456" y="0"/>
            <a:ext cx="5715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10896"/>
            <a:ext cx="1225296" cy="12252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353312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6FEB"/>
                </a:solidFill>
                <a:latin typeface="Arial"/>
              </a:rPr>
              <a:t>WSQ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719072"/>
            <a:ext cx="5074920" cy="1353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61B26"/>
                </a:solidFill>
                <a:latin typeface="Arial"/>
              </a:rPr>
              <a:t>Autonomous AI Agents
with OpenClaw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182112"/>
            <a:ext cx="48006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5B6372"/>
                </a:solidFill>
                <a:latin typeface="Arial"/>
              </a:rPr>
              <a:t>Deep architecture, configuration and governed operation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968496"/>
            <a:ext cx="457200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Course Code  </a:t>
            </a:r>
            <a:r>
              <a:rPr sz="1400" b="0">
                <a:solidFill>
                  <a:srgbClr val="1F6FEB"/>
                </a:solidFill>
                <a:latin typeface="Arial"/>
              </a:rPr>
              <a:t>TGS-2026064859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352544"/>
            <a:ext cx="457200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Version  </a:t>
            </a:r>
            <a:r>
              <a:rPr sz="1300" b="0">
                <a:solidFill>
                  <a:srgbClr val="10B981"/>
                </a:solidFill>
                <a:latin typeface="Arial"/>
              </a:rPr>
              <a:t>6.0</a:t>
            </a:r>
            <a:r>
              <a:rPr sz="1300" b="0">
                <a:solidFill>
                  <a:srgbClr val="5B6372"/>
                </a:solidFill>
                <a:latin typeface="Arial"/>
              </a:rPr>
              <a:t>  ·  </a:t>
            </a:r>
            <a:r>
              <a:rPr sz="1300" b="0">
                <a:solidFill>
                  <a:srgbClr val="5B6372"/>
                </a:solidFill>
                <a:latin typeface="Arial"/>
              </a:rPr>
              <a:t>23 August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916168"/>
            <a:ext cx="4800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208776"/>
            <a:ext cx="4800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372"/>
                </a:solidFill>
                <a:latin typeface="Arial"/>
              </a:rPr>
              <a:t>UEN: 201200696W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217920"/>
            <a:ext cx="960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5B6372"/>
                </a:solidFill>
                <a:latin typeface="Arial"/>
              </a:rPr>
              <a:t>Concept visual</a:t>
            </a:r>
          </a:p>
        </p:txBody>
      </p:sp>
    </p:spTree>
  </p:cSld>
  <p:clrMapOvr>
    <a:masterClrMapping/>
  </p:clrMapOvr>
  <p:transition spd="fast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TECHNICAL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Establish a known-good Gateway before changing configuration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627632"/>
            <a:ext cx="6565392" cy="3621024"/>
          </a:xfrm>
          <a:prstGeom prst="roundRect">
            <a:avLst>
              <a:gd name="adj" fmla="val 12000"/>
            </a:avLst>
          </a:prstGeom>
          <a:solidFill>
            <a:srgbClr val="101826"/>
          </a:solidFill>
          <a:ln>
            <a:solidFill>
              <a:srgbClr val="101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65376"/>
            <a:ext cx="6089904" cy="31272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D8E3F0"/>
                </a:solidFill>
                <a:latin typeface="Consolas"/>
              </a:rPr>
              <a:t>openclaw gateway status
openclaw status
openclaw health
openclaw doctor
openclaw logs --tail 100
openclaw config get gateway
openclaw config get session
openclaw dashboard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79792" y="1627632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62672" y="1792224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737360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Process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011680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Gateway service is running and owns the expected PID.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79792" y="2523744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662672" y="268833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633472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Network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907791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Bind address is local and port 18789 is listening.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79792" y="3419856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62672" y="3584448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529584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Runtime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803904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Model auth, channels and session store resolve without errors.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79792" y="4315968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62672" y="4480559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425696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700016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Capture status, health, config and first failing log timestamp.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431536"/>
            <a:ext cx="5285232" cy="548640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5559552"/>
            <a:ext cx="89611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B981"/>
                </a:solidFill>
                <a:latin typeface="Arial"/>
              </a:rPr>
              <a:t>EXPECTED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00784" y="5504688"/>
            <a:ext cx="4023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61B26"/>
                </a:solidFill>
                <a:latin typeface="Arial"/>
              </a:rPr>
              <a:t>Status, health and dashboard agree; one controlled message completes end to end.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2" y="5431536"/>
            <a:ext cx="5285232" cy="548640"/>
          </a:xfrm>
          <a:prstGeom prst="roundRect">
            <a:avLst>
              <a:gd name="adj" fmla="val 12000"/>
            </a:avLst>
          </a:prstGeom>
          <a:solidFill>
            <a:srgbClr val="FFF0EE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5559552"/>
            <a:ext cx="71323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6A5A"/>
                </a:solidFill>
                <a:latin typeface="Arial"/>
              </a:rPr>
              <a:t>IF NOT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9168" y="5504688"/>
            <a:ext cx="41605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0" b="1" i="0">
                <a:solidFill>
                  <a:srgbClr val="161B26"/>
                </a:solidFill>
                <a:latin typeface="Arial"/>
              </a:rPr>
              <a:t>Do not reinstall first. Identify whether process, bind, auth, session or delivery failed.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getting started, Gateway configuration and troubleshooting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TRAQOM - SSG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60704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372"/>
                </a:solidFill>
                <a:latin typeface="Arial"/>
              </a:rPr>
              <a:t>Attendance is required for WSQ-funded participation and is recorded in TRAQOM</a:t>
            </a:r>
          </a:p>
        </p:txBody>
      </p:sp>
      <p:sp>
        <p:nvSpPr>
          <p:cNvPr id="6" name="Oval 5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" y="1755648"/>
            <a:ext cx="3502152" cy="4279392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5216" y="1755648"/>
            <a:ext cx="73152" cy="427939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1938528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AM attendance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2414015"/>
            <a:ext cx="3108960" cy="3474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Complete the morning attendance when the trainer displays the official QR code.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1755648"/>
            <a:ext cx="3502152" cy="4279392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1755648"/>
            <a:ext cx="73152" cy="427939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1938528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PM attendance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414015"/>
            <a:ext cx="3108960" cy="3474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Repeat the attendance after lunch for the afternoon session.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1584" y="1755648"/>
            <a:ext cx="3502152" cy="4279392"/>
          </a:xfrm>
          <a:prstGeom prst="roundRect">
            <a:avLst>
              <a:gd name="adj" fmla="val 12000"/>
            </a:avLst>
          </a:prstGeom>
          <a:solidFill>
            <a:srgbClr val="F2EC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1584" y="1755648"/>
            <a:ext cx="73152" cy="427939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4" y="1938528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Assessment attendance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4" y="2414015"/>
            <a:ext cx="3108960" cy="3474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Complete the separate assessment attendance before the final instruments begin.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About the Trainer - Mohan Pothula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609344"/>
            <a:ext cx="2971800" cy="4370832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609344" y="2011680"/>
            <a:ext cx="1078992" cy="107899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700">
                <a:solidFill>
                  <a:srgbClr val="FFFFFF"/>
                </a:solidFill>
                <a:latin typeface="Arial"/>
              </a:rPr>
              <a:t>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310128"/>
            <a:ext cx="2414016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61B26"/>
                </a:solidFill>
                <a:latin typeface="Arial"/>
              </a:rPr>
              <a:t>Mohan Pothula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767328"/>
            <a:ext cx="2414016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6FEB"/>
                </a:solidFill>
                <a:latin typeface="Arial"/>
              </a:rPr>
              <a:t>OpenClaw Trainer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68496" y="1609344"/>
            <a:ext cx="7498079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68496" y="1609344"/>
            <a:ext cx="73152" cy="60350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1691640"/>
            <a:ext cx="199339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B6372"/>
                </a:solidFill>
                <a:latin typeface="Arial"/>
              </a:rPr>
              <a:t>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4768" y="1682496"/>
            <a:ext cx="502920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61B26"/>
                </a:solidFill>
                <a:latin typeface="Arial"/>
              </a:rPr>
              <a:t>Mohan Pothula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68496" y="2331720"/>
            <a:ext cx="7498079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68496" y="2331720"/>
            <a:ext cx="73152" cy="60350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0" y="2414015"/>
            <a:ext cx="199339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B6372"/>
                </a:solidFill>
                <a:latin typeface="Arial"/>
              </a:rPr>
              <a:t>TITLE / DESIGNATION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4768" y="2404872"/>
            <a:ext cx="502920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61B26"/>
                </a:solidFill>
                <a:latin typeface="Arial"/>
              </a:rPr>
              <a:t>Senior AI and automation trainer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68496" y="3054096"/>
            <a:ext cx="7498079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968496" y="3054096"/>
            <a:ext cx="73152" cy="60350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0" y="3136391"/>
            <a:ext cx="199339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B6372"/>
                </a:solidFill>
                <a:latin typeface="Arial"/>
              </a:rPr>
              <a:t>QUALIFICATIONS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44768" y="3127248"/>
            <a:ext cx="502920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61B26"/>
                </a:solidFill>
                <a:latin typeface="Arial"/>
              </a:rPr>
              <a:t>Cloud, DevOps and applied AI practice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68496" y="3776472"/>
            <a:ext cx="7498079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68496" y="3776472"/>
            <a:ext cx="73152" cy="60350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06240" y="3858768"/>
            <a:ext cx="199339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B6372"/>
                </a:solidFill>
                <a:latin typeface="Arial"/>
              </a:rPr>
              <a:t>AREAS OF EXPERTISE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44768" y="3849624"/>
            <a:ext cx="502920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61B26"/>
                </a:solidFill>
                <a:latin typeface="Arial"/>
              </a:rPr>
              <a:t>Autonomous agents, cloud deployment, APIs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68496" y="4498848"/>
            <a:ext cx="7498079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968496" y="4498848"/>
            <a:ext cx="73152" cy="603504"/>
          </a:xfrm>
          <a:prstGeom prst="rect">
            <a:avLst/>
          </a:prstGeom>
          <a:solidFill>
            <a:srgbClr val="F46A5A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06240" y="4581144"/>
            <a:ext cx="199339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B6372"/>
                </a:solidFill>
                <a:latin typeface="Arial"/>
              </a:rPr>
              <a:t>TRAINING EXPERIENCE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502920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61B26"/>
                </a:solidFill>
                <a:latin typeface="Arial"/>
              </a:rPr>
              <a:t>Hands-on technical enablement and consulting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968496" y="5221224"/>
            <a:ext cx="7498079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68496" y="5221224"/>
            <a:ext cx="73152" cy="60350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0" y="5303520"/>
            <a:ext cx="199339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B6372"/>
                </a:solidFill>
                <a:latin typeface="Arial"/>
              </a:rPr>
              <a:t>CONTACT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44768" y="5294376"/>
            <a:ext cx="502920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61B26"/>
                </a:solidFill>
                <a:latin typeface="Arial"/>
              </a:rPr>
              <a:t>enquiry@tertiaryinfotech.com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LEARNER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60704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372"/>
                </a:solidFill>
                <a:latin typeface="Arial"/>
              </a:rPr>
              <a:t>Your introduction becomes the first input to the use-case design exercise</a:t>
            </a:r>
          </a:p>
        </p:txBody>
      </p:sp>
      <p:sp>
        <p:nvSpPr>
          <p:cNvPr id="6" name="Oval 5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" y="1755648"/>
            <a:ext cx="3502152" cy="4279392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5216" y="1755648"/>
            <a:ext cx="73152" cy="427939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1938528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Your 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2414015"/>
            <a:ext cx="3108960" cy="3474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What work, system or customer outcome do you own?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1755648"/>
            <a:ext cx="3502152" cy="4279392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1755648"/>
            <a:ext cx="73152" cy="427939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1938528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Your experience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414015"/>
            <a:ext cx="3108960" cy="3474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Which AI, automation, cloud or messaging tools have you used?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1584" y="1755648"/>
            <a:ext cx="3502152" cy="4279392"/>
          </a:xfrm>
          <a:prstGeom prst="roundRect">
            <a:avLst>
              <a:gd name="adj" fmla="val 12000"/>
            </a:avLst>
          </a:prstGeom>
          <a:solidFill>
            <a:srgbClr val="F2EC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1584" y="1755648"/>
            <a:ext cx="73152" cy="427939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4" y="1938528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Your 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4" y="2414015"/>
            <a:ext cx="3108960" cy="3474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Name one bounded task you would like an agent to help perform.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GROUND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How we work safely in this course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" y="1755648"/>
            <a:ext cx="3502152" cy="2020824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5216" y="1755648"/>
            <a:ext cx="73152" cy="202082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1938528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Protect credentials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2414015"/>
            <a:ext cx="3108960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Use training keys and never reveal production tokens, passwords or private data.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755648"/>
            <a:ext cx="3502152" cy="2020824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1755648"/>
            <a:ext cx="73152" cy="202082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1938528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Use the sandbox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414015"/>
            <a:ext cx="3108960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Run powerful tools in the designated learner environment, not an unmanaged personal workspace.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1584" y="1755648"/>
            <a:ext cx="3502152" cy="2020824"/>
          </a:xfrm>
          <a:prstGeom prst="roundRect">
            <a:avLst>
              <a:gd name="adj" fmla="val 12000"/>
            </a:avLst>
          </a:prstGeom>
          <a:solidFill>
            <a:srgbClr val="F2EC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01584" y="1755648"/>
            <a:ext cx="73152" cy="202082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0184" y="1938528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Ask before side effects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4" y="2414015"/>
            <a:ext cx="3108960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Pause before sending, publishing, purchasing, deleting or changing external systems.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5216" y="4014215"/>
            <a:ext cx="3502152" cy="2020824"/>
          </a:xfrm>
          <a:prstGeom prst="roundRect">
            <a:avLst>
              <a:gd name="adj" fmla="val 12000"/>
            </a:avLst>
          </a:prstGeom>
          <a:solidFill>
            <a:srgbClr val="FFF6E6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5216" y="4014215"/>
            <a:ext cx="73152" cy="202082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" y="4197096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Capture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" y="4672583"/>
            <a:ext cx="3108960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Retain commands, status outputs, screenshots and test results for every lab.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014215"/>
            <a:ext cx="3502152" cy="2020824"/>
          </a:xfrm>
          <a:prstGeom prst="roundRect">
            <a:avLst>
              <a:gd name="adj" fmla="val 12000"/>
            </a:avLst>
          </a:prstGeom>
          <a:solidFill>
            <a:srgbClr val="FFF0EE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43400" y="4014215"/>
            <a:ext cx="73152" cy="2020824"/>
          </a:xfrm>
          <a:prstGeom prst="rect">
            <a:avLst/>
          </a:prstGeom>
          <a:solidFill>
            <a:srgbClr val="F46A5A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4197096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Diagnose, do not guess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672583"/>
            <a:ext cx="3108960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Read logs and verify the failing boundary before changing configuration.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01584" y="4014215"/>
            <a:ext cx="3502152" cy="2020824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01584" y="4014215"/>
            <a:ext cx="73152" cy="2020824"/>
          </a:xfrm>
          <a:prstGeom prst="rect">
            <a:avLst/>
          </a:prstGeom>
          <a:solidFill>
            <a:srgbClr val="161B26"/>
          </a:solidFill>
          <a:ln>
            <a:solidFill>
              <a:srgbClr val="161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30184" y="4197096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Return on time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0184" y="4672583"/>
            <a:ext cx="3108960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Keep the compact 1-day schedule so every learner reaches the final integration lab.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LESSON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One-day technical learning journey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7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664208"/>
          <a:ext cx="10826496" cy="4370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5989320"/>
                <a:gridCol w="3419856"/>
              </a:tblGrid>
              <a:tr h="437083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Time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Learning block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Output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43708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09:00-10:20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OpenClaw foundations, Gateway architecture, runtime and context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Architecture map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3708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10:20-10:35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Tea break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43708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10:35-12:45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Sessions, memory, tools, skills, automation and Labs 1-3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Running agent path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3708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12:45-13:45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Lunch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43708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13:45-15:35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Labs 4-7: tools, skills, scheduling and security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Controlled autonomy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3708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15:35-15:45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Tea break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43708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15:45-16:45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Labs 8-10: observability, cost and invoice integration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Evidence pack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3708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16:45-17:00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Assessment briefing and TRAQOM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Ready to assess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43708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17:00-18:00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Written Assessment plus Case Study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Competency evidence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What you will be able to explain and operate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" y="1755648"/>
            <a:ext cx="3502152" cy="2020824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5216" y="1755648"/>
            <a:ext cx="73152" cy="202082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1938528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2414015"/>
            <a:ext cx="3108960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Trace a message through channel, Gateway, session, context assembly, model, tools and delivery.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755648"/>
            <a:ext cx="3502152" cy="2020824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1755648"/>
            <a:ext cx="73152" cy="202082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1938528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414015"/>
            <a:ext cx="3108960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Distinguish workspace files, session transcripts, memory, compaction and pruning.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1584" y="1755648"/>
            <a:ext cx="3502152" cy="2020824"/>
          </a:xfrm>
          <a:prstGeom prst="roundRect">
            <a:avLst>
              <a:gd name="adj" fmla="val 12000"/>
            </a:avLst>
          </a:prstGeom>
          <a:solidFill>
            <a:srgbClr val="F2EC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01584" y="1755648"/>
            <a:ext cx="73152" cy="202082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0184" y="1938528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Capability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4" y="2414015"/>
            <a:ext cx="3108960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Explain tools, skills, plugins, policies, sandboxes and approval boundaries.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5216" y="4014215"/>
            <a:ext cx="3502152" cy="2020824"/>
          </a:xfrm>
          <a:prstGeom prst="roundRect">
            <a:avLst>
              <a:gd name="adj" fmla="val 12000"/>
            </a:avLst>
          </a:prstGeom>
          <a:solidFill>
            <a:srgbClr val="FFF6E6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5216" y="4014215"/>
            <a:ext cx="73152" cy="202082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" y="4197096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Automation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" y="4672583"/>
            <a:ext cx="3108960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Choose correctly between conversation, cron, heartbeat, webhook and delegated work.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014215"/>
            <a:ext cx="3502152" cy="2020824"/>
          </a:xfrm>
          <a:prstGeom prst="roundRect">
            <a:avLst>
              <a:gd name="adj" fmla="val 12000"/>
            </a:avLst>
          </a:prstGeom>
          <a:solidFill>
            <a:srgbClr val="FFF0EE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43400" y="4014215"/>
            <a:ext cx="73152" cy="2020824"/>
          </a:xfrm>
          <a:prstGeom prst="rect">
            <a:avLst/>
          </a:prstGeom>
          <a:solidFill>
            <a:srgbClr val="F46A5A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4197096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Deployment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672583"/>
            <a:ext cx="3108960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Operate a local/container or VPS Gateway with meaningful health and security checks.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01584" y="4014215"/>
            <a:ext cx="3502152" cy="2020824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01584" y="4014215"/>
            <a:ext cx="73152" cy="2020824"/>
          </a:xfrm>
          <a:prstGeom prst="rect">
            <a:avLst/>
          </a:prstGeom>
          <a:solidFill>
            <a:srgbClr val="161B26"/>
          </a:solidFill>
          <a:ln>
            <a:solidFill>
              <a:srgbClr val="161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30184" y="4197096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0184" y="4672583"/>
            <a:ext cx="3108960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Verify each workflow with expected outputs, logs, acceptance tests and recovery steps.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BRIEFING FOR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How competency will be demonstrated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" y="1755648"/>
            <a:ext cx="3502152" cy="2020824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5216" y="1755648"/>
            <a:ext cx="73152" cy="202082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1938528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Read the scenario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2414015"/>
            <a:ext cx="3108960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Identify the business outcome, actors, data, tools, constraints and required evidence.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755648"/>
            <a:ext cx="3502152" cy="2020824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1755648"/>
            <a:ext cx="73152" cy="202082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1938528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Map the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414015"/>
            <a:ext cx="3108960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Show the Gateway path, state, model, channel, capability and control boundary.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1584" y="1755648"/>
            <a:ext cx="3502152" cy="2020824"/>
          </a:xfrm>
          <a:prstGeom prst="roundRect">
            <a:avLst>
              <a:gd name="adj" fmla="val 12000"/>
            </a:avLst>
          </a:prstGeom>
          <a:solidFill>
            <a:srgbClr val="F2EC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01584" y="1755648"/>
            <a:ext cx="73152" cy="202082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0184" y="1938528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Justify choices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4" y="2414015"/>
            <a:ext cx="3108960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Explain why the deployment, permissions, model and automation mode fit the risk.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5216" y="4014215"/>
            <a:ext cx="3502152" cy="2020824"/>
          </a:xfrm>
          <a:prstGeom prst="roundRect">
            <a:avLst>
              <a:gd name="adj" fmla="val 12000"/>
            </a:avLst>
          </a:prstGeom>
          <a:solidFill>
            <a:srgbClr val="FFF6E6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5216" y="4014215"/>
            <a:ext cx="73152" cy="202082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" y="4197096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Use course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" y="4672583"/>
            <a:ext cx="3108960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Reference the architecture slides, Learner Guide and outputs from the ten labs.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014215"/>
            <a:ext cx="3502152" cy="2020824"/>
          </a:xfrm>
          <a:prstGeom prst="roundRect">
            <a:avLst>
              <a:gd name="adj" fmla="val 12000"/>
            </a:avLst>
          </a:prstGeom>
          <a:solidFill>
            <a:srgbClr val="FFF0EE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43400" y="4014215"/>
            <a:ext cx="73152" cy="2020824"/>
          </a:xfrm>
          <a:prstGeom prst="rect">
            <a:avLst/>
          </a:prstGeom>
          <a:solidFill>
            <a:srgbClr val="F46A5A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4197096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Answer in your words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672583"/>
            <a:ext cx="3108960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The assessor evaluates understanding and application, not copied commands.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01584" y="4014215"/>
            <a:ext cx="3502152" cy="2020824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01584" y="4014215"/>
            <a:ext cx="73152" cy="2020824"/>
          </a:xfrm>
          <a:prstGeom prst="rect">
            <a:avLst/>
          </a:prstGeom>
          <a:solidFill>
            <a:srgbClr val="161B26"/>
          </a:solidFill>
          <a:ln>
            <a:solidFill>
              <a:srgbClr val="161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30184" y="4197096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Escalate ambiguity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0184" y="4672583"/>
            <a:ext cx="3108960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State assumptions and stop conditions when the scenario lacks safe authority.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Final assessment and funding requirements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" y="1755648"/>
            <a:ext cx="3502152" cy="2020824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5216" y="1755648"/>
            <a:ext cx="73152" cy="202082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1938528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Written Assessment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2414015"/>
            <a:ext cx="3108960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Thirty minutes of short-answer questions on architecture, capability and control.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755648"/>
            <a:ext cx="3502152" cy="2020824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1755648"/>
            <a:ext cx="73152" cy="202082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1938528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Case Study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414015"/>
            <a:ext cx="3108960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Thirty minutes applying the ten lab concepts to an end-to-end business scenario.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1584" y="1755648"/>
            <a:ext cx="3502152" cy="2020824"/>
          </a:xfrm>
          <a:prstGeom prst="roundRect">
            <a:avLst>
              <a:gd name="adj" fmla="val 12000"/>
            </a:avLst>
          </a:prstGeom>
          <a:solidFill>
            <a:srgbClr val="F2EC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01584" y="1755648"/>
            <a:ext cx="73152" cy="202082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0184" y="1938528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Open 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4" y="2414015"/>
            <a:ext cx="3108960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Use the course slides, Learner Guide and approved lab materials.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5216" y="4014215"/>
            <a:ext cx="3502152" cy="2020824"/>
          </a:xfrm>
          <a:prstGeom prst="roundRect">
            <a:avLst>
              <a:gd name="adj" fmla="val 12000"/>
            </a:avLst>
          </a:prstGeom>
          <a:solidFill>
            <a:srgbClr val="FFF6E6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5216" y="4014215"/>
            <a:ext cx="73152" cy="202082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" y="4197096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Competency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" y="4672583"/>
            <a:ext cx="3108960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Both instruments must meet the stated criteria; reassessment follows the approved process.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014215"/>
            <a:ext cx="3502152" cy="2020824"/>
          </a:xfrm>
          <a:prstGeom prst="roundRect">
            <a:avLst>
              <a:gd name="adj" fmla="val 12000"/>
            </a:avLst>
          </a:prstGeom>
          <a:solidFill>
            <a:srgbClr val="FFF0EE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43400" y="4014215"/>
            <a:ext cx="73152" cy="2020824"/>
          </a:xfrm>
          <a:prstGeom prst="rect">
            <a:avLst/>
          </a:prstGeom>
          <a:solidFill>
            <a:srgbClr val="F46A5A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4197096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Attendance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672583"/>
            <a:ext cx="3108960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Minimum attendance requirements apply to funding eligibility.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01584" y="4014215"/>
            <a:ext cx="3502152" cy="2020824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01584" y="4014215"/>
            <a:ext cx="73152" cy="2020824"/>
          </a:xfrm>
          <a:prstGeom prst="rect">
            <a:avLst/>
          </a:prstGeom>
          <a:solidFill>
            <a:srgbClr val="161B26"/>
          </a:solidFill>
          <a:ln>
            <a:solidFill>
              <a:srgbClr val="161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30184" y="4197096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Submission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0184" y="4672583"/>
            <a:ext cx="3108960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Complete and submit the learner-facing papers through the LMS.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ASSESSMENT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From attendance to signed assessment record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11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53004" y="3273552"/>
            <a:ext cx="310896" cy="0"/>
          </a:xfrm>
          <a:prstGeom prst="line">
            <a:avLst/>
          </a:prstGeom>
          <a:ln w="2032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795113" y="3273552"/>
            <a:ext cx="310896" cy="0"/>
          </a:xfrm>
          <a:prstGeom prst="line">
            <a:avLst/>
          </a:prstGeom>
          <a:ln w="2032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37222" y="3273552"/>
            <a:ext cx="310896" cy="0"/>
          </a:xfrm>
          <a:prstGeom prst="line">
            <a:avLst/>
          </a:prstGeom>
          <a:ln w="2032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279331" y="3273552"/>
            <a:ext cx="310896" cy="0"/>
          </a:xfrm>
          <a:prstGeom prst="line">
            <a:avLst/>
          </a:prstGeom>
          <a:ln w="2032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58368" y="2139696"/>
            <a:ext cx="1858060" cy="23591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139696"/>
            <a:ext cx="1858060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59" y="2395728"/>
            <a:ext cx="393192" cy="39319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2395728"/>
            <a:ext cx="1144828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61B26"/>
                </a:solidFill>
                <a:latin typeface="Arial"/>
              </a:rPr>
              <a:t>TRAQOM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3090672"/>
            <a:ext cx="1528876" cy="10241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372"/>
                </a:solidFill>
                <a:latin typeface="Arial"/>
              </a:rPr>
              <a:t>Scan the LMS QR and complete required attendance.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00476" y="2139696"/>
            <a:ext cx="1858060" cy="23591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00476" y="2139696"/>
            <a:ext cx="1858060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065068" y="2395728"/>
            <a:ext cx="393192" cy="39319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03980" y="2395728"/>
            <a:ext cx="1144828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61B26"/>
                </a:solidFill>
                <a:latin typeface="Arial"/>
              </a:rPr>
              <a:t>Assessment attendance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5068" y="3090672"/>
            <a:ext cx="1528876" cy="10241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372"/>
                </a:solidFill>
                <a:latin typeface="Arial"/>
              </a:rPr>
              <a:t>Record the assessment session before starting.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42585" y="2139696"/>
            <a:ext cx="1858060" cy="23591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42585" y="2139696"/>
            <a:ext cx="1858060" cy="9144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07177" y="2395728"/>
            <a:ext cx="393192" cy="39319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46089" y="2395728"/>
            <a:ext cx="1144828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61B26"/>
                </a:solidFill>
                <a:latin typeface="Arial"/>
              </a:rPr>
              <a:t>Sit WA + 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7177" y="3090672"/>
            <a:ext cx="1528876" cy="10241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372"/>
                </a:solidFill>
                <a:latin typeface="Arial"/>
              </a:rPr>
              <a:t>Complete both open-book instruments.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84694" y="2139696"/>
            <a:ext cx="1858060" cy="23591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84694" y="2139696"/>
            <a:ext cx="1858060" cy="914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549286" y="2395728"/>
            <a:ext cx="393192" cy="39319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88198" y="2395728"/>
            <a:ext cx="1144828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61B26"/>
                </a:solidFill>
                <a:latin typeface="Arial"/>
              </a:rPr>
              <a:t>Submit on LMS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9286" y="3090672"/>
            <a:ext cx="1528876" cy="10241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372"/>
                </a:solidFill>
                <a:latin typeface="Arial"/>
              </a:rPr>
              <a:t>Upload or enter the required answers.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26803" y="2139696"/>
            <a:ext cx="1858060" cy="23591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626803" y="2139696"/>
            <a:ext cx="1858060" cy="91440"/>
          </a:xfrm>
          <a:prstGeom prst="rect">
            <a:avLst/>
          </a:prstGeom>
          <a:solidFill>
            <a:srgbClr val="F46A5A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791395" y="2395728"/>
            <a:ext cx="393192" cy="393192"/>
          </a:xfrm>
          <a:prstGeom prst="ellipse">
            <a:avLst/>
          </a:prstGeom>
          <a:solidFill>
            <a:srgbClr val="F46A5A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30307" y="2395728"/>
            <a:ext cx="1144828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61B26"/>
                </a:solidFill>
                <a:latin typeface="Arial"/>
              </a:rPr>
              <a:t>Sign record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91395" y="3090672"/>
            <a:ext cx="1528876" cy="10241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372"/>
                </a:solidFill>
                <a:latin typeface="Arial"/>
              </a:rPr>
              <a:t>Confirm the Assessment Summary Record.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4901184"/>
            <a:ext cx="10826496" cy="82296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5084064"/>
            <a:ext cx="11430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6FEB"/>
                </a:solidFill>
                <a:latin typeface="Arial"/>
              </a:rPr>
              <a:t>SYSTEM PATH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11680" y="5029200"/>
            <a:ext cx="909828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TRAQOM -&gt; Assessment attendance -&gt; Sit WA + CS -&gt; Submit on LMS -&gt; Sign record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HANDS-ON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Access the complete lab pack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60704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372"/>
                </a:solidFill>
                <a:latin typeface="Arial"/>
              </a:rPr>
              <a:t>Clone the repository or download one ZIP; every lab includes Markdown and PDF guidance</a:t>
            </a:r>
          </a:p>
        </p:txBody>
      </p:sp>
      <p:sp>
        <p:nvSpPr>
          <p:cNvPr id="6" name="Oval 5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1865376"/>
            <a:ext cx="5230368" cy="21396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1865376"/>
            <a:ext cx="5230368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2194560"/>
            <a:ext cx="4709160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6FEB"/>
                </a:solidFill>
                <a:latin typeface="Arial"/>
              </a:rPr>
              <a:t>Option A - Clone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2816352"/>
            <a:ext cx="470916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161B26"/>
                </a:solidFill>
                <a:latin typeface="Consolas"/>
              </a:rPr>
              <a:t>git clone \
https://github.com/tertiarycourses/
TGS-2026064859-Autonomous-AI-Agents-with-OpenClaw.git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1865376"/>
            <a:ext cx="5230368" cy="21396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1344" y="1865376"/>
            <a:ext cx="5230368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2194560"/>
            <a:ext cx="4709160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0B981"/>
                </a:solidFill>
                <a:latin typeface="Arial"/>
              </a:rPr>
              <a:t>Option B - Download ZIP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2816352"/>
            <a:ext cx="470916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161B26"/>
                </a:solidFill>
                <a:latin typeface="Arial"/>
              </a:rPr>
              <a:t>Open the GitHub repository, choose Code, then Download ZIP.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4480560"/>
            <a:ext cx="10149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6FEB"/>
                </a:solidFill>
                <a:latin typeface="Arial"/>
                <a:hlinkClick r:id="rId2"/>
              </a:rPr>
              <a:t>https://github.com/tertiarycourses/TGS-2026064859-Autonomous-AI-Agents-with-OpenClaw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75104" y="5138928"/>
            <a:ext cx="8229600" cy="54864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5266944"/>
            <a:ext cx="77724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B6372"/>
                </a:solidFill>
                <a:latin typeface="Arial"/>
              </a:rPr>
              <a:t>Run commands only in the learner environment. Detailed procedures and evidence checklists are in the lab files.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CONFIGURATION AND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Know which artefact owns each behaviour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13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627632"/>
            <a:ext cx="10826496" cy="932688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1627632"/>
            <a:ext cx="1737360" cy="932688"/>
          </a:xfrm>
          <a:prstGeom prst="roundRect">
            <a:avLst>
              <a:gd name="adj" fmla="val 12000"/>
            </a:avLst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1810512"/>
            <a:ext cx="1353312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Arial"/>
              </a:rPr>
              <a:t>Gateway config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33472" y="1792224"/>
            <a:ext cx="1417319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06624" y="1938528"/>
            <a:ext cx="127101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openclaw.json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97096" y="1792224"/>
            <a:ext cx="1417319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0248" y="1938528"/>
            <a:ext cx="127101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gateway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19" y="1792224"/>
            <a:ext cx="1417319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33871" y="1938528"/>
            <a:ext cx="127101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channels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24343" y="1792224"/>
            <a:ext cx="1417319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97495" y="1938528"/>
            <a:ext cx="127101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agents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1801368"/>
            <a:ext cx="2231136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B6372"/>
                </a:solidFill>
                <a:latin typeface="Arial"/>
              </a:rPr>
              <a:t>Validated schema; controls runtime wiring.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2724912"/>
            <a:ext cx="10826496" cy="932688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2724912"/>
            <a:ext cx="1737360" cy="932688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2907792"/>
            <a:ext cx="1353312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Arial"/>
              </a:rPr>
              <a:t>Workspace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33472" y="2889504"/>
            <a:ext cx="1417319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06624" y="3035808"/>
            <a:ext cx="127101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AGENTS.md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97096" y="2889504"/>
            <a:ext cx="1417319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70248" y="3035808"/>
            <a:ext cx="127101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SOUL.md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0719" y="2889504"/>
            <a:ext cx="1417319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33871" y="3035808"/>
            <a:ext cx="127101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TOOLS.md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24343" y="2889504"/>
            <a:ext cx="1417319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97495" y="3035808"/>
            <a:ext cx="127101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HEARTBEAT.md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79408" y="2898648"/>
            <a:ext cx="2231136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B6372"/>
                </a:solidFill>
                <a:latin typeface="Arial"/>
              </a:rPr>
              <a:t>Loaded into the agent contract at run start.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3822191"/>
            <a:ext cx="10826496" cy="932688"/>
          </a:xfrm>
          <a:prstGeom prst="roundRect">
            <a:avLst>
              <a:gd name="adj" fmla="val 12000"/>
            </a:avLst>
          </a:prstGeom>
          <a:solidFill>
            <a:srgbClr val="F2EC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822191"/>
            <a:ext cx="1737360" cy="932688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" y="4005072"/>
            <a:ext cx="1353312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Arial"/>
              </a:rPr>
              <a:t>Durable state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633472" y="3986783"/>
            <a:ext cx="1417319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06624" y="4133087"/>
            <a:ext cx="127101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sessions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97096" y="3986783"/>
            <a:ext cx="1417319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70248" y="4133087"/>
            <a:ext cx="127101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transcripts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760719" y="3986783"/>
            <a:ext cx="1417319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33871" y="4133087"/>
            <a:ext cx="127101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MEMORY.md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24343" y="3986783"/>
            <a:ext cx="1417319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97495" y="4133087"/>
            <a:ext cx="127101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memory/*.md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79408" y="3995928"/>
            <a:ext cx="2231136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B6372"/>
                </a:solidFill>
                <a:latin typeface="Arial"/>
              </a:rPr>
              <a:t>Persists continuity separately from prompt context.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8368" y="4919472"/>
            <a:ext cx="10826496" cy="932688"/>
          </a:xfrm>
          <a:prstGeom prst="roundRect">
            <a:avLst>
              <a:gd name="adj" fmla="val 12000"/>
            </a:avLst>
          </a:prstGeom>
          <a:solidFill>
            <a:srgbClr val="FFF6E6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58368" y="4919472"/>
            <a:ext cx="1737360" cy="932688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1248" y="5102352"/>
            <a:ext cx="1353312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633472" y="5084064"/>
            <a:ext cx="1417319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06624" y="5230368"/>
            <a:ext cx="127101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status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197096" y="5084064"/>
            <a:ext cx="1417319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70248" y="5230368"/>
            <a:ext cx="127101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health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760719" y="5084064"/>
            <a:ext cx="1417319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833871" y="5230368"/>
            <a:ext cx="127101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logs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24343" y="5084064"/>
            <a:ext cx="1417319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97495" y="5230368"/>
            <a:ext cx="127101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run receipts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79408" y="5093208"/>
            <a:ext cx="2231136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B6372"/>
                </a:solidFill>
                <a:latin typeface="Arial"/>
              </a:rPr>
              <a:t>Proves effective behaviour and recovery.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agent, workspace, memory and Gateway configuration documentation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REFERENCE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Separate ingress, control, execution and evidence planes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627632"/>
            <a:ext cx="10826496" cy="932688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1627632"/>
            <a:ext cx="1737360" cy="932688"/>
          </a:xfrm>
          <a:prstGeom prst="roundRect">
            <a:avLst>
              <a:gd name="adj" fmla="val 12000"/>
            </a:avLst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1810512"/>
            <a:ext cx="1353312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Arial"/>
              </a:rPr>
              <a:t>Ingress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33472" y="1792224"/>
            <a:ext cx="1417319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06624" y="1938528"/>
            <a:ext cx="127101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Telegram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97096" y="1792224"/>
            <a:ext cx="1417319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0248" y="1938528"/>
            <a:ext cx="127101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WhatsApp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19" y="1792224"/>
            <a:ext cx="1417319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33871" y="1938528"/>
            <a:ext cx="127101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CLI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24343" y="1792224"/>
            <a:ext cx="1417319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97495" y="1938528"/>
            <a:ext cx="127101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Webhook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1801368"/>
            <a:ext cx="2231136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B6372"/>
                </a:solidFill>
                <a:latin typeface="Arial"/>
              </a:rPr>
              <a:t>Authenticate sender and resolve the binding.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2724912"/>
            <a:ext cx="10826496" cy="932688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2724912"/>
            <a:ext cx="1737360" cy="932688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2907792"/>
            <a:ext cx="1353312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33472" y="2889504"/>
            <a:ext cx="1417319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06624" y="3035808"/>
            <a:ext cx="127101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Gateway :18789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97096" y="2889504"/>
            <a:ext cx="1417319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70248" y="3035808"/>
            <a:ext cx="127101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Router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0719" y="2889504"/>
            <a:ext cx="1417319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33871" y="3035808"/>
            <a:ext cx="127101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Queues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24343" y="2889504"/>
            <a:ext cx="1417319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97495" y="3035808"/>
            <a:ext cx="127101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Session lock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79408" y="2898648"/>
            <a:ext cx="2231136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B6372"/>
                </a:solidFill>
                <a:latin typeface="Arial"/>
              </a:rPr>
              <a:t>One long-lived process owns ordering and delivery.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3822191"/>
            <a:ext cx="10826496" cy="932688"/>
          </a:xfrm>
          <a:prstGeom prst="roundRect">
            <a:avLst>
              <a:gd name="adj" fmla="val 12000"/>
            </a:avLst>
          </a:prstGeom>
          <a:solidFill>
            <a:srgbClr val="F2EC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822191"/>
            <a:ext cx="1737360" cy="932688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" y="4005072"/>
            <a:ext cx="1353312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Arial"/>
              </a:rPr>
              <a:t>Execution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633472" y="3986783"/>
            <a:ext cx="1417319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06624" y="4133087"/>
            <a:ext cx="127101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Model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97096" y="3986783"/>
            <a:ext cx="1417319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70248" y="4133087"/>
            <a:ext cx="127101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Tools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760719" y="3986783"/>
            <a:ext cx="1417319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33871" y="4133087"/>
            <a:ext cx="127101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Nodes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24343" y="3986783"/>
            <a:ext cx="1417319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97495" y="4133087"/>
            <a:ext cx="127101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External APIs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79408" y="3995928"/>
            <a:ext cx="2231136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B6372"/>
                </a:solidFill>
                <a:latin typeface="Arial"/>
              </a:rPr>
              <a:t>Policy and sandbox decide what may act where.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8368" y="4919472"/>
            <a:ext cx="10826496" cy="932688"/>
          </a:xfrm>
          <a:prstGeom prst="roundRect">
            <a:avLst>
              <a:gd name="adj" fmla="val 12000"/>
            </a:avLst>
          </a:prstGeom>
          <a:solidFill>
            <a:srgbClr val="FFF6E6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58368" y="4919472"/>
            <a:ext cx="1737360" cy="932688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1248" y="5102352"/>
            <a:ext cx="1353312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633472" y="5084064"/>
            <a:ext cx="1417319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06624" y="5230368"/>
            <a:ext cx="127101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Transcript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197096" y="5084064"/>
            <a:ext cx="1417319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70248" y="5230368"/>
            <a:ext cx="127101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Tool result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760719" y="5084064"/>
            <a:ext cx="1417319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833871" y="5230368"/>
            <a:ext cx="127101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Audit event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24343" y="5084064"/>
            <a:ext cx="1417319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97495" y="5230368"/>
            <a:ext cx="127101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Receipt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79408" y="5093208"/>
            <a:ext cx="2231136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B6372"/>
                </a:solidFill>
                <a:latin typeface="Arial"/>
              </a:rPr>
              <a:t>Acceptance requires more than a chat response.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Gateway architecture and agent-loop documentation</a:t>
            </a:r>
          </a:p>
        </p:txBody>
      </p:sp>
    </p:spTree>
  </p:cSld>
  <p:clrMapOvr>
    <a:masterClrMapping/>
  </p:clrMapOvr>
  <p:transition spd="med">
    <p:push dir="l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GATEWAY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The first WebSocket frame is a versioned, scoped connect request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627632"/>
            <a:ext cx="6565392" cy="3621024"/>
          </a:xfrm>
          <a:prstGeom prst="roundRect">
            <a:avLst>
              <a:gd name="adj" fmla="val 12000"/>
            </a:avLst>
          </a:prstGeom>
          <a:solidFill>
            <a:srgbClr val="101826"/>
          </a:solidFill>
          <a:ln>
            <a:solidFill>
              <a:srgbClr val="101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65376"/>
            <a:ext cx="6089904" cy="31272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D8E3F0"/>
                </a:solidFill>
                <a:latin typeface="Consolas"/>
              </a:rPr>
              <a:t>{
  "type": "req", "id": "c-1", "method": "connect",
  "params": {
    "minProtocol": 4, "maxProtocol": 4,
    "client": {"id":"ops-cli", "version":"2026.8",
               "platform":"linux", "mode":"operator"},
    "role": "operator",
    "scopes": ["operator.read"],
    "auth": {"token":"${OPENCLAW_GATEWAY_TOKEN}"},
    "locale": "en-SG"
  }
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79792" y="1627632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62672" y="1792224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737360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Framing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011680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WebSocket text frame containing JSON; connect must be first.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79792" y="2523744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662672" y="268833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633472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Admission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907791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Pre-auth payload is capped at 64 KiB before identity is trusted.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79792" y="3419856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62672" y="3584448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529584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Authority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803904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hello-ok.auth.scopes is the live authority enforced by RPC dispatch.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79792" y="4315968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62672" y="4480559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425696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Negotiation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700016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hello-ok returns protocol features, state snapshot and buffer policy.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431536"/>
            <a:ext cx="5285232" cy="548640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5559552"/>
            <a:ext cx="89611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B981"/>
                </a:solidFill>
                <a:latin typeface="Arial"/>
              </a:rPr>
              <a:t>EXPECTED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00784" y="5504688"/>
            <a:ext cx="4023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61B26"/>
                </a:solidFill>
                <a:latin typeface="Arial"/>
              </a:rPr>
              <a:t>A valid client receives hello-ok with health, stateVersion, uptimeMs and policy limits.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2" y="5431536"/>
            <a:ext cx="5285232" cy="548640"/>
          </a:xfrm>
          <a:prstGeom prst="roundRect">
            <a:avLst>
              <a:gd name="adj" fmla="val 12000"/>
            </a:avLst>
          </a:prstGeom>
          <a:solidFill>
            <a:srgbClr val="FFF0EE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5559552"/>
            <a:ext cx="71323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6A5A"/>
                </a:solidFill>
                <a:latin typeface="Arial"/>
              </a:rPr>
              <a:t>IF NOT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9168" y="5504688"/>
            <a:ext cx="41605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0" b="1" i="0">
                <a:solidFill>
                  <a:srgbClr val="161B26"/>
                </a:solidFill>
                <a:latin typeface="Arial"/>
              </a:rPr>
              <a:t>Protocol mismatch, invalid auth or an oversized pre-auth frame is rejected before RPC dispatch.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Gateway protocol and client-building reference</a:t>
            </a:r>
          </a:p>
        </p:txBody>
      </p:sp>
    </p:spTree>
  </p:cSld>
  <p:clrMapOvr>
    <a:masterClrMapping/>
  </p:clrMapOvr>
  <p:transition spd="fast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RUNTIME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Every mutable object has one physical owner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16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664208"/>
          <a:ext cx="10826496" cy="4370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971800"/>
                <a:gridCol w="3886200"/>
                <a:gridCol w="2368296"/>
              </a:tblGrid>
              <a:tr h="624404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Object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Physical location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Owner / write rule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Recovery implication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Gateway config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~/.openclaw/openclaw.json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Gateway validates; successful reload atomically swaps the in-memory snapshot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Failed reload leaves the last good snapshot active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Agent workspace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agents.defaults.workspace or agents.entries[].workspace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Agent-readable instructions, skills and durable files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Back up as source-controlled operational state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Agent state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~/.openclaw/agents/&lt;agentId&gt;/agent/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Per-agent auth profiles, model registry and runtime metadata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Never share across personas unless designed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Session rows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openclaw-agent.sqlite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Gateway maps sessionKey to current sessionId and counters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Reset changes sessionId, not the key grammar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Transcript events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openclaw-agent.sqlite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Append-only tree: id + parentId, tool calls and compaction summaries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Context can be rebuilt after restart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Durable memory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MEMORY.md + memory/YYYY-MM-DD.md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Agent writes selected facts; retrieval is explicit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Compaction cannot substitute for durable memory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session-management, workspace and memory reference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GATEWAY SURFACES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One port multiplexes control, inference, tools and UI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17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664208"/>
          <a:ext cx="10826496" cy="4370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514600"/>
                <a:gridCol w="4617720"/>
                <a:gridCol w="2093976"/>
              </a:tblGrid>
              <a:tr h="546354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Surface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Method / transport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Contract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Auth boundary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54635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Control RPC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WebSocket JSON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req(method, params) -&gt; res(ok, payload|error)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connect role + live scopes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4635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Events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WebSocket JSON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event + payload + optional seq/stateVersion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subscribed, authenticated socket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54635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Model discovery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GET /v1/models[/&lt;id&gt;]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openclaw, openclaw/default, openclaw/&lt;agentId&gt;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trusted operator HTTP auth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4635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Inference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POST /v1/chat/completions or /v1/responses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agent-first OpenAI-compatible request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same Gateway auth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54635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Embeddings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POST /v1/embeddings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provider/model selected by agent configuration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same Gateway auth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4635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Direct tool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POST /tools/invoke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single tool call; body &lt;= 2 MB; optional idempotencyKey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Gateway auth plus tool policy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54635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Control UI / hooks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HTTP on Gateway port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browser control surface and registered routes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operator/session-specific access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Gateway runbook, protocol and HTTP API reference</a:t>
            </a:r>
          </a:p>
        </p:txBody>
      </p:sp>
    </p:spTree>
  </p:cSld>
  <p:clrMapOvr>
    <a:masterClrMapping/>
  </p:clrMapOvr>
  <p:transition spd="fast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GATEWAY 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Effective bind and port follow deterministic precedence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18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664208"/>
          <a:ext cx="10826496" cy="4370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3017520"/>
                <a:gridCol w="1920240"/>
                <a:gridCol w="4562856"/>
              </a:tblGrid>
              <a:tr h="728472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Setting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Resolution order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Default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Operational consequence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72847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Port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--port -&gt; OPENCLAW_GATEWAY_PORT -&gt; gateway.port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18789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Installed services retain their resolved port; repair supervisor metadata after a change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72847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Bind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CLI override -&gt; gateway.bind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loopback; auto in detected containers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Non-loopback requires explicit browser origins and authentication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72847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Config path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profile/state defaults -&gt; OPENCLAW_CONFIG_PATH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~/.openclaw/openclaw.json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Reload watches the resolved active path, not every config copy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72847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Reload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gateway.reload.mode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hybrid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Safe changes hot-apply; restart-required changes use the service lifecycle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72847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Remote client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explicit URL / SSH or tailnet transport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ws://127.0.0.1:18789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 tunnel changes transport, not the Gateway authentication requirement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Gateway runbook and configuration reference</a:t>
            </a:r>
          </a:p>
        </p:txBody>
      </p:sp>
    </p:spTree>
  </p:cSld>
  <p:clrMapOvr>
    <a:masterClrMapping/>
  </p:clrMapOvr>
  <p:transition spd="fast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FRAME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RPC, events and agent runs have distinct completion semantics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19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664208"/>
          <a:ext cx="10826496" cy="4370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3063240"/>
                <a:gridCol w="3154680"/>
                <a:gridCol w="3008376"/>
              </a:tblGrid>
              <a:tr h="624404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Frame / event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Required fields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Ordering rule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Engineering use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req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type, id, method, params; optional traceparent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Unique id per in-flight request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Correlate client intent with one RPC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res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type, id, ok, payload|error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Exactly one terminal response per req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Machine-readable success or failure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event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type, event, payload; optional seq/stateVersion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Use seq/stateVersion to detect gaps and stale state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Stream lifecycle, session, tool and health changes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agent accepted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status=accepted + run identity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Immediate acknowledgement precedes execution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Separate admission latency from runtime latency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agent stream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agent/session.tool/session.operation events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Zero or more between accepted and terminal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Render progress and persist evidence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agent terminal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status=ok|error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One final completion after streamed events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Close SLO timer and delivery decision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Gateway protocol and runbook</a:t>
            </a:r>
          </a:p>
        </p:txBody>
      </p:sp>
    </p:spTree>
  </p:cSld>
  <p:clrMapOvr>
    <a:masterClrMapping/>
  </p:clrMapOvr>
  <p:transition spd="fast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NETWORK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Admission and backpressure are part of the protocol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20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664208"/>
          <a:ext cx="10826496" cy="4370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514600"/>
                <a:gridCol w="3703320"/>
                <a:gridCol w="2779776"/>
              </a:tblGrid>
              <a:tr h="624404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Boundary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Limit / signal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Failure behavior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What to instrument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Pre-auth WebSocket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64 KiB MAX_PREAUTH_PAYLOAD_BYTES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Reject before connect completes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remote address, safe reason code, bytes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Post-auth payload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hello-ok.policy.maxPayload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Close or drop the invalid frame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payload.large surface and limit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Outbound buffering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hello-ok.policy.maxBufferedBytes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Slow clients cannot grow memory without bound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buffer depth and slow-consumer events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Direct tool API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2 MB default HTTP request body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HTTP request rejected before invocation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status, content length, tool name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Trace context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traceparent &lt;= 128 characters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Malformed short value gets a fresh trace; longer value invalidates frame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accepted/replaced trace context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Worker ingress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closed /__openclaw__/worker protocol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No general operator RPC or node events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credential epoch, bundle hash, expiry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Gateway protocol</a:t>
            </a:r>
          </a:p>
        </p:txBody>
      </p:sp>
    </p:spTree>
  </p:cSld>
  <p:clrMapOvr>
    <a:masterClrMapping/>
  </p:clrMapOvr>
  <p:transition spd="fast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RUNTIME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Embedded agent runtime versus external harness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21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682496"/>
            <a:ext cx="5285232" cy="4187952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20240"/>
            <a:ext cx="470001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5B6372"/>
                </a:solidFill>
                <a:latin typeface="Arial"/>
              </a:rPr>
              <a:t>Embedded OpenClaw runtime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2651760"/>
            <a:ext cx="310896" cy="310896"/>
          </a:xfrm>
          <a:prstGeom prst="ellipse">
            <a:avLst/>
          </a:prstGeom>
          <a:solidFill>
            <a:srgbClr val="5B6372"/>
          </a:solidFill>
          <a:ln>
            <a:solidFill>
              <a:srgbClr val="5B6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633472"/>
            <a:ext cx="4160520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1B26"/>
                </a:solidFill>
                <a:latin typeface="Arial"/>
              </a:rPr>
              <a:t>Model discovery and authentication are integrated</a:t>
            </a:r>
          </a:p>
        </p:txBody>
      </p:sp>
      <p:sp>
        <p:nvSpPr>
          <p:cNvPr id="16" name="Oval 15"/>
          <p:cNvSpPr/>
          <p:nvPr/>
        </p:nvSpPr>
        <p:spPr>
          <a:xfrm>
            <a:off x="932688" y="3218688"/>
            <a:ext cx="310896" cy="310896"/>
          </a:xfrm>
          <a:prstGeom prst="ellipse">
            <a:avLst/>
          </a:prstGeom>
          <a:solidFill>
            <a:srgbClr val="5B6372"/>
          </a:solidFill>
          <a:ln>
            <a:solidFill>
              <a:srgbClr val="5B6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3200400"/>
            <a:ext cx="4160520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1B26"/>
                </a:solidFill>
                <a:latin typeface="Arial"/>
              </a:rPr>
              <a:t>Tool wiring and prompt assembly share one contract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3785615"/>
            <a:ext cx="310896" cy="310896"/>
          </a:xfrm>
          <a:prstGeom prst="ellipse">
            <a:avLst/>
          </a:prstGeom>
          <a:solidFill>
            <a:srgbClr val="5B6372"/>
          </a:solidFill>
          <a:ln>
            <a:solidFill>
              <a:srgbClr val="5B6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67328"/>
            <a:ext cx="4160520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1B26"/>
                </a:solidFill>
                <a:latin typeface="Arial"/>
              </a:rPr>
              <a:t>Session state is owned by OpenClaw</a:t>
            </a:r>
          </a:p>
        </p:txBody>
      </p:sp>
      <p:sp>
        <p:nvSpPr>
          <p:cNvPr id="20" name="Oval 19"/>
          <p:cNvSpPr/>
          <p:nvPr/>
        </p:nvSpPr>
        <p:spPr>
          <a:xfrm>
            <a:off x="932688" y="4352544"/>
            <a:ext cx="310896" cy="310896"/>
          </a:xfrm>
          <a:prstGeom prst="ellipse">
            <a:avLst/>
          </a:prstGeom>
          <a:solidFill>
            <a:srgbClr val="5B6372"/>
          </a:solidFill>
          <a:ln>
            <a:solidFill>
              <a:srgbClr val="5B6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4334256"/>
            <a:ext cx="4160520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1B26"/>
                </a:solidFill>
                <a:latin typeface="Arial"/>
              </a:rPr>
              <a:t>Channel delivery and runtime events stay connected</a:t>
            </a:r>
          </a:p>
        </p:txBody>
      </p:sp>
      <p:sp>
        <p:nvSpPr>
          <p:cNvPr id="22" name="Oval 21"/>
          <p:cNvSpPr/>
          <p:nvPr/>
        </p:nvSpPr>
        <p:spPr>
          <a:xfrm>
            <a:off x="932688" y="4919472"/>
            <a:ext cx="310896" cy="310896"/>
          </a:xfrm>
          <a:prstGeom prst="ellipse">
            <a:avLst/>
          </a:prstGeom>
          <a:solidFill>
            <a:srgbClr val="5B6372"/>
          </a:solidFill>
          <a:ln>
            <a:solidFill>
              <a:srgbClr val="5B6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4901184"/>
            <a:ext cx="4160520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1B26"/>
                </a:solidFill>
                <a:latin typeface="Arial"/>
              </a:rPr>
              <a:t>Default path for the course labs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54496" y="1682496"/>
            <a:ext cx="5285232" cy="4187952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28816" y="1920240"/>
            <a:ext cx="470001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0B981"/>
                </a:solidFill>
                <a:latin typeface="Arial"/>
              </a:rPr>
              <a:t>External or delegated harness</a:t>
            </a:r>
          </a:p>
        </p:txBody>
      </p:sp>
      <p:sp>
        <p:nvSpPr>
          <p:cNvPr id="26" name="Oval 25"/>
          <p:cNvSpPr/>
          <p:nvPr/>
        </p:nvSpPr>
        <p:spPr>
          <a:xfrm>
            <a:off x="6547104" y="2651760"/>
            <a:ext cx="310896" cy="31089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04304" y="2633472"/>
            <a:ext cx="4160520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1B26"/>
                </a:solidFill>
                <a:latin typeface="Arial"/>
              </a:rPr>
              <a:t>Separate process and lifecycle</a:t>
            </a:r>
          </a:p>
        </p:txBody>
      </p:sp>
      <p:sp>
        <p:nvSpPr>
          <p:cNvPr id="28" name="Oval 27"/>
          <p:cNvSpPr/>
          <p:nvPr/>
        </p:nvSpPr>
        <p:spPr>
          <a:xfrm>
            <a:off x="6547104" y="3218688"/>
            <a:ext cx="310896" cy="31089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04304" y="3200400"/>
            <a:ext cx="4160520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1B26"/>
                </a:solidFill>
                <a:latin typeface="Arial"/>
              </a:rPr>
              <a:t>Requires an explicit bridge or delegation contract</a:t>
            </a:r>
          </a:p>
        </p:txBody>
      </p:sp>
      <p:sp>
        <p:nvSpPr>
          <p:cNvPr id="30" name="Oval 29"/>
          <p:cNvSpPr/>
          <p:nvPr/>
        </p:nvSpPr>
        <p:spPr>
          <a:xfrm>
            <a:off x="6547104" y="3785615"/>
            <a:ext cx="310896" cy="31089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04304" y="3767328"/>
            <a:ext cx="4160520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1B26"/>
                </a:solidFill>
                <a:latin typeface="Arial"/>
              </a:rPr>
              <a:t>May own its own tool and context semantics</a:t>
            </a:r>
          </a:p>
        </p:txBody>
      </p:sp>
      <p:sp>
        <p:nvSpPr>
          <p:cNvPr id="32" name="Oval 31"/>
          <p:cNvSpPr/>
          <p:nvPr/>
        </p:nvSpPr>
        <p:spPr>
          <a:xfrm>
            <a:off x="6547104" y="4352544"/>
            <a:ext cx="310896" cy="31089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04304" y="4334256"/>
            <a:ext cx="4160520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1B26"/>
                </a:solidFill>
                <a:latin typeface="Arial"/>
              </a:rPr>
              <a:t>Needs returned evidence and failure propagation</a:t>
            </a:r>
          </a:p>
        </p:txBody>
      </p:sp>
      <p:sp>
        <p:nvSpPr>
          <p:cNvPr id="34" name="Oval 33"/>
          <p:cNvSpPr/>
          <p:nvPr/>
        </p:nvSpPr>
        <p:spPr>
          <a:xfrm>
            <a:off x="6547104" y="4919472"/>
            <a:ext cx="310896" cy="31089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04304" y="4901184"/>
            <a:ext cx="4160520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1B26"/>
                </a:solidFill>
                <a:latin typeface="Arial"/>
              </a:rPr>
              <a:t>Use only for a defined specialist boundary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agent runtime and delegate architecture</a:t>
            </a:r>
          </a:p>
        </p:txBody>
      </p:sp>
    </p:spTree>
  </p:cSld>
  <p:clrMapOvr>
    <a:masterClrMapping/>
  </p:clrMapOvr>
  <p:transition spd="fast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MESSAGE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Follow identifiers, not chat text, across the run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22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664208"/>
          <a:ext cx="10826496" cy="4370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926080"/>
                <a:gridCol w="2926080"/>
                <a:gridCol w="3557016"/>
              </a:tblGrid>
              <a:tr h="624404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Stage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Record / event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Stable correlation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Invariant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Ingress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channel event + peer/account/thread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provider event id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Authenticate and deduplicate before routing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Route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binding -&gt; agentId -&gt; sessionKey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sessionKey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Exactly one owning agent and isolation scope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Accept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agent response status=accepted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runId + request id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Admission acknowledgement is not completion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Execute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agent + session.tool events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runId + toolCallId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Tool result remains paired with its call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Persist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transcript id + parentId; usage counters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sessionId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Write state before claiming durable completion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Deliver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channel message id / receipt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delivery idempotency key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Retry cannot create a duplicate side effect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Gateway protocol, agent loop and session management</a:t>
            </a:r>
          </a:p>
        </p:txBody>
      </p:sp>
    </p:spTree>
  </p:cSld>
  <p:clrMapOvr>
    <a:masterClrMapping/>
  </p:clrMapOvr>
  <p:transition spd="fast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AGENT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The per-session run has five technical phases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23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53004" y="3273552"/>
            <a:ext cx="310896" cy="0"/>
          </a:xfrm>
          <a:prstGeom prst="line">
            <a:avLst/>
          </a:prstGeom>
          <a:ln w="2032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795113" y="3273552"/>
            <a:ext cx="310896" cy="0"/>
          </a:xfrm>
          <a:prstGeom prst="line">
            <a:avLst/>
          </a:prstGeom>
          <a:ln w="2032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37222" y="3273552"/>
            <a:ext cx="310896" cy="0"/>
          </a:xfrm>
          <a:prstGeom prst="line">
            <a:avLst/>
          </a:prstGeom>
          <a:ln w="2032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279331" y="3273552"/>
            <a:ext cx="310896" cy="0"/>
          </a:xfrm>
          <a:prstGeom prst="line">
            <a:avLst/>
          </a:prstGeom>
          <a:ln w="2032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58368" y="2139696"/>
            <a:ext cx="1858060" cy="23591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139696"/>
            <a:ext cx="1858060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59" y="2395728"/>
            <a:ext cx="393192" cy="39319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2395728"/>
            <a:ext cx="1144828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61B26"/>
                </a:solidFill>
                <a:latin typeface="Arial"/>
              </a:rPr>
              <a:t>Intake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3090672"/>
            <a:ext cx="1528876" cy="10241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372"/>
                </a:solidFill>
                <a:latin typeface="Arial"/>
              </a:rPr>
              <a:t>Validate parameters, resolve session and accept the run.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00476" y="2139696"/>
            <a:ext cx="1858060" cy="23591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00476" y="2139696"/>
            <a:ext cx="1858060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065068" y="2395728"/>
            <a:ext cx="393192" cy="39319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03980" y="2395728"/>
            <a:ext cx="1144828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61B26"/>
                </a:solidFill>
                <a:latin typeface="Arial"/>
              </a:rPr>
              <a:t>Prepare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5068" y="3090672"/>
            <a:ext cx="1528876" cy="10241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372"/>
                </a:solidFill>
                <a:latin typeface="Arial"/>
              </a:rPr>
              <a:t>Resolve workspace, skills, model, auth and transcript lock.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42585" y="2139696"/>
            <a:ext cx="1858060" cy="23591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42585" y="2139696"/>
            <a:ext cx="1858060" cy="9144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07177" y="2395728"/>
            <a:ext cx="393192" cy="39319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46089" y="2395728"/>
            <a:ext cx="1144828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61B26"/>
                </a:solidFill>
                <a:latin typeface="Arial"/>
              </a:rPr>
              <a:t>Assemble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7177" y="3090672"/>
            <a:ext cx="1528876" cy="10241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372"/>
                </a:solidFill>
                <a:latin typeface="Arial"/>
              </a:rPr>
              <a:t>Build system prompt and token-budgeted context.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84694" y="2139696"/>
            <a:ext cx="1858060" cy="23591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84694" y="2139696"/>
            <a:ext cx="1858060" cy="914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549286" y="2395728"/>
            <a:ext cx="393192" cy="39319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88198" y="2395728"/>
            <a:ext cx="1144828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61B26"/>
                </a:solidFill>
                <a:latin typeface="Arial"/>
              </a:rPr>
              <a:t>Execute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9286" y="3090672"/>
            <a:ext cx="1528876" cy="10241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372"/>
                </a:solidFill>
                <a:latin typeface="Arial"/>
              </a:rPr>
              <a:t>Stream model output and typed tool results.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26803" y="2139696"/>
            <a:ext cx="1858060" cy="23591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626803" y="2139696"/>
            <a:ext cx="1858060" cy="91440"/>
          </a:xfrm>
          <a:prstGeom prst="rect">
            <a:avLst/>
          </a:prstGeom>
          <a:solidFill>
            <a:srgbClr val="F46A5A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791395" y="2395728"/>
            <a:ext cx="393192" cy="393192"/>
          </a:xfrm>
          <a:prstGeom prst="ellipse">
            <a:avLst/>
          </a:prstGeom>
          <a:solidFill>
            <a:srgbClr val="F46A5A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30307" y="2395728"/>
            <a:ext cx="1144828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61B26"/>
                </a:solidFill>
                <a:latin typeface="Arial"/>
              </a:rPr>
              <a:t>Persist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91395" y="3090672"/>
            <a:ext cx="1528876" cy="10241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372"/>
                </a:solidFill>
                <a:latin typeface="Arial"/>
              </a:rPr>
              <a:t>Write transcript, usage and delivery state.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4901184"/>
            <a:ext cx="10826496" cy="82296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5084064"/>
            <a:ext cx="11430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6FEB"/>
                </a:solidFill>
                <a:latin typeface="Arial"/>
              </a:rPr>
              <a:t>SYSTEM PATH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11680" y="5029200"/>
            <a:ext cx="909828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Intake -&gt; Prepare -&gt; Assemble -&gt; Execute -&gt; Persist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agent loop</a:t>
            </a:r>
          </a:p>
        </p:txBody>
      </p:sp>
    </p:spTree>
  </p:cSld>
  <p:clrMapOvr>
    <a:masterClrMapping/>
  </p:clrMapOvr>
  <p:transition spd="fast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QUEUE INVARIANTS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Serialization protects transcript order and external side effects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24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664208"/>
          <a:ext cx="10826496" cy="4370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971800"/>
                <a:gridCol w="3154680"/>
                <a:gridCol w="3099816"/>
              </a:tblGrid>
              <a:tr h="624404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Mechanism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State protected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Required event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Failure signature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Per-session queue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turn order for one sessionKey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accepted -&gt; started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two runs mutate the same session concurrently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Session write lock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SQLite transcript rewrite/compaction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lock acquisition/release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orphan parentId or reordered tool block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Global capacity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provider and host concurrency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queue depth / wait duration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rate-limit burst or resource exhaustion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Run timeout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model/tool liveness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terminal error with elapsed time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session remains permanently blocked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Retry policy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external side-effect count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attempt + idempotencyKey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duplicate send/write after ambiguous timeout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State version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client view of Gateway snapshot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seq + stateVersion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UI applies stale/out-of-order event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Gateway protocol, agent loop and session management</a:t>
            </a:r>
          </a:p>
        </p:txBody>
      </p:sp>
    </p:spTree>
  </p:cSld>
  <p:clrMapOvr>
    <a:masterClrMapping/>
  </p:clrMapOvr>
  <p:transition spd="fast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SESSION KEY GRAMMAR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The key encodes routing scope; sessionId encodes the live transcript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25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664208"/>
          <a:ext cx="10826496" cy="4370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971800"/>
                <a:gridCol w="3703320"/>
                <a:gridCol w="2734056"/>
              </a:tblGrid>
              <a:tr h="624404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Workload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Example sessionKey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Isolation behavior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Reset / retention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Private main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agent:main:main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One rolling owner conversation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/new assigns a new sessionId; key remains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Group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agent:ops:telegram:group:4711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Group or room isolated by channel object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Independent transcript and compaction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Channel room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agent:ops:slack:channel:C01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Room identity is part of key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Binding may deliberately route to main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Per-channel DM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agent:support:telegram:direct:123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dmScope=per-channel-peer prevents cross-channel sharing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Daily or idle reset is opt-in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Cron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cron:&lt;job.id&gt;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Isolated run can drop ambient routing authority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Retention governed by automation policy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Webhook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hook:&lt;uuid&gt; or explicit override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Event-specific persistent or isolated context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Caller must define idempotency and expiry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session-management deep dive</a:t>
            </a:r>
          </a:p>
        </p:txBody>
      </p:sp>
    </p:spTree>
  </p:cSld>
  <p:clrMapOvr>
    <a:masterClrMapping/>
  </p:clrMapOvr>
  <p:transition spd="fast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SESSION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Scope conversations deliberately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627632"/>
            <a:ext cx="6565392" cy="3621024"/>
          </a:xfrm>
          <a:prstGeom prst="roundRect">
            <a:avLst>
              <a:gd name="adj" fmla="val 12000"/>
            </a:avLst>
          </a:prstGeom>
          <a:solidFill>
            <a:srgbClr val="101826"/>
          </a:solidFill>
          <a:ln>
            <a:solidFill>
              <a:srgbClr val="101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65376"/>
            <a:ext cx="6089904" cy="31272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D8E3F0"/>
                </a:solidFill>
                <a:latin typeface="Consolas"/>
              </a:rPr>
              <a:t>// ~/.openclaw/openclaw.json
{
  session: {
    dmScope: "per-channel-peer",
    threadBindings: { enabled: true, idleHours: 24 },
    reset: { mode: "daily", atHour: 4, idleMinutes: 120 }
  }
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79792" y="1627632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62672" y="1792224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737360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dmScope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011680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Prevents unrelated senders from sharing context.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79792" y="2523744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662672" y="268833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633472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thread binding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907791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Keeps focused work attached to a topic.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79792" y="3419856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62672" y="3584448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529584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reset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803904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Controls when a new active context begins.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79792" y="4315968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62672" y="4480559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425696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transcript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700016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Reset does not erase the stored audit trail.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431536"/>
            <a:ext cx="5285232" cy="548640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5559552"/>
            <a:ext cx="89611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B981"/>
                </a:solidFill>
                <a:latin typeface="Arial"/>
              </a:rPr>
              <a:t>EXPECTED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00784" y="5504688"/>
            <a:ext cx="4023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61B26"/>
                </a:solidFill>
                <a:latin typeface="Arial"/>
              </a:rPr>
              <a:t>A new sender/channel pair receives an isolated session key.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2" y="5431536"/>
            <a:ext cx="5285232" cy="548640"/>
          </a:xfrm>
          <a:prstGeom prst="roundRect">
            <a:avLst>
              <a:gd name="adj" fmla="val 12000"/>
            </a:avLst>
          </a:prstGeom>
          <a:solidFill>
            <a:srgbClr val="FFF0EE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5559552"/>
            <a:ext cx="71323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6A5A"/>
                </a:solidFill>
                <a:latin typeface="Arial"/>
              </a:rPr>
              <a:t>IF NOT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9168" y="5504688"/>
            <a:ext cx="41605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0" b="1" i="0">
                <a:solidFill>
                  <a:srgbClr val="161B26"/>
                </a:solidFill>
                <a:latin typeface="Arial"/>
              </a:rPr>
              <a:t>Inspect the effective config and session key; do not clear all state first.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Gateway configuration</a:t>
            </a:r>
          </a:p>
        </p:txBody>
      </p:sp>
    </p:spTree>
  </p:cSld>
  <p:clrMapOvr>
    <a:masterClrMapping/>
  </p:clrMapOvr>
  <p:transition spd="fast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WORKSPACE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Identity, instructions, state and transcripts are separate stores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27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664208"/>
          <a:ext cx="10826496" cy="4370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057400"/>
                <a:gridCol w="2788920"/>
                <a:gridCol w="3008376"/>
              </a:tblGrid>
              <a:tr h="624404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Path / object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Loaded when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Mutability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Security boundary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&lt;workspace&gt;/AGENTS.md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Run bootstrap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Versioned operator instruction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Cannot grant a tool denied by runtime policy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SOUL.md / IDENTITY.md / USER.md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Run bootstrap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Durable persona and user context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Treat as privileged prompt material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&lt;workspace&gt;/skills/&lt;name&gt;/SKILL.md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Skill discovery and eligibility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Reviewed workflow instruction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Supply-chain code/instruction surface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MEMORY.md / memory/*.md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Explicit recall or bootstrap policy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Agent/operator durable notes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Avoid secrets and cross-user leakage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~/.openclaw/agents/&lt;id&gt;/agent/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Agent runtime initialization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Auth/model/state metadata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Unique per agent persona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openclaw-agent.sqlite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Every session operation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Gateway-owned rows + append-only transcript tree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Remote Gateway owns the authoritative database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workspace, multi-agent and session-management documentation</a:t>
            </a:r>
          </a:p>
        </p:txBody>
      </p:sp>
    </p:spTree>
  </p:cSld>
  <p:clrMapOvr>
    <a:masterClrMapping/>
  </p:clrMapOvr>
  <p:transition spd="fast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BOOTSTRAP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Resolve once, then freeze the run's instruction and capability boundary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28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664208"/>
          <a:ext cx="10826496" cy="4370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3063240"/>
                <a:gridCol w="3429000"/>
                <a:gridCol w="2916936"/>
              </a:tblGrid>
              <a:tr h="624404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Phase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Input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Output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Invariant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Resolve agent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binding, agentId, profile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workspace + agentDir + model registry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No fallback to another agent's state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Resolve workspace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agents.defaults/entries workspace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canonical realpath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Sandbox access is evaluated against resolved path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Discover skills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workspace/project/personal/managed/bundled roots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precedence-resolved eligible catalogue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One winning skill per name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Load bootstrap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AGENTS/SOUL/IDENTITY/TOOLS + configured files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ordered Project Context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Missing/oversized inputs are observable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Filter tools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registration + profile + policy + sandbox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effective typed tool schemas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Denied tools never reach the model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Freeze run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model/auth/context/tool snapshot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reproducible run contract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Mid-run file/config change affects only a later run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agent loop, workspace and skills documentation</a:t>
            </a:r>
          </a:p>
        </p:txBody>
      </p:sp>
    </p:spTree>
  </p:cSld>
  <p:clrMapOvr>
    <a:masterClrMapping/>
  </p:clrMapOvr>
  <p:transition spd="fast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PROMPT ASSEMBLY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The model receives an ordered contract assembled at run time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29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664208"/>
          <a:ext cx="10826496" cy="4370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3108960"/>
                <a:gridCol w="3840480"/>
                <a:gridCol w="2276856"/>
              </a:tblGrid>
              <a:tr h="624404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Layer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Source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Inclusion rule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Failure mode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Runtime base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OpenClaw system contract + tool protocol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Always first; runtime-owned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Unsafe override assumption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Tool schemas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Effective post-policy tool registry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Only visible tools; structured arguments/results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Token bloat or phantom capability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Skill catalogue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Eligible skill metadata and selected instructions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Discovery snapshot is fixed for the run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Wrong precedence or unreviewed skill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Workspace bootstrap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AGENTS/SOUL/TOOLS and configured files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Selected from resolved agent workspace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Stale or excessive bootstrap context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Session context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Recent transcript + compaction summary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Token-budgeted and order-preserving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Lost identifier or tool-call pair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Run context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channel, peer, time, attachments, retrieved memory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Specific to one request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Untrusted content treated as authority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agent loop, workspace and context documentation</a:t>
            </a:r>
          </a:p>
        </p:txBody>
      </p:sp>
    </p:spTree>
  </p:cSld>
  <p:clrMapOvr>
    <a:masterClrMapping/>
  </p:clrMapOvr>
  <p:transition spd="fast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CONTEXT MANIFEST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Inventory every token-bearing input before the model call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30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664208"/>
          <a:ext cx="10826496" cy="4370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3063240"/>
                <a:gridCol w="2240280"/>
                <a:gridCol w="3922776"/>
              </a:tblGrid>
              <a:tr h="546354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Input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Selection key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Persistence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Control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54635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Runtime/system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OpenClaw runtime version + agent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Generated per run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Cannot be overridden by retrieved content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4635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Tool schemas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effective post-policy tool set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Generated per run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Narrow by role to reduce tokens and authority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54635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Skills/bootstrap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resolved paths + content hashes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Workspace files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Review precedence and size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4635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Recent transcript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sessionId + ordered event tail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SQLite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Keep toolCall/toolResult pairs intact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54635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Compaction summary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latest valid summary event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SQLite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Preserve opaque identifiers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4635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Memory/retrieval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query, passage IDs, source versions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Workspace/index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Top_k and trust-label each passage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54635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Channel/media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event ID, sender, thread, extracted attachment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Provider + transcript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Treat content as untrusted data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agent loop, context, compaction and session documentation</a:t>
            </a:r>
          </a:p>
        </p:txBody>
      </p:sp>
    </p:spTree>
  </p:cSld>
  <p:clrMapOvr>
    <a:masterClrMapping/>
  </p:clrMapOvr>
  <p:transition spd="fast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CONTEXT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The active request is a projection of durable session state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31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664208"/>
          <a:ext cx="10826496" cy="4370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3246120"/>
                <a:gridCol w="3337560"/>
                <a:gridCol w="2825496"/>
              </a:tblGrid>
              <a:tr h="624404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Operation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Reads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Writes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Concurrency rule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Ingest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channel event + route binding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transcript event + session activity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deduplicate provider event before enqueue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Lock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sessionKey -&gt; sessionId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run/queue state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one serialized mutation path per session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Assemble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bootstrap, tools, recent tail, summary, retrieval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ephemeral model request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snapshot inputs before provider call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Execute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model stream + tool schemas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assistant/tool transcript events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toolCall stays paired with toolResult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Compact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active transcript + token/byte guards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summary event; optional memory note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hold session write lock during rewrite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Deliver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terminal result + route metadata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delivery receipt and counters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idempotency prevents duplicate side effect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agent loop and session-management deep dive</a:t>
            </a:r>
          </a:p>
        </p:txBody>
      </p:sp>
    </p:spTree>
  </p:cSld>
  <p:clrMapOvr>
    <a:masterClrMapping/>
  </p:clrMapOvr>
  <p:transition spd="fast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TOKEN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Worked 128k context allocation exposes the real constraint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32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664208"/>
          <a:ext cx="10826496" cy="4370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1143000"/>
                <a:gridCol w="4617720"/>
                <a:gridCol w="3008376"/>
              </a:tblGrid>
              <a:tr h="546354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Allocation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Tokens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Engineering rule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If exceeded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54635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Model window C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128,000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Hard provider/model maximum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Request fails or forces compaction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4635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Output/reasoning reserve R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24,000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Do not spend the entire window on input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Final answer or tool loop truncates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54635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Runtime + bootstrap B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12,000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Measure after skills/workspace are loaded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Remove irrelevant files or skills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4635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Tool definitions D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18,000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Expose only capabilities needed for the role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Narrow profiles and plugin surface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54635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Recent transcript H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56,000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Keep coherent recent turns and paired tool blocks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Compact or prune old results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4635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Retrieval + attachments A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10,000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Bound top_k, chunk size and attachment extraction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Retrieve fewer, higher-value passages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54635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Safety headroom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8,000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 - (R+B+D+H+A) = 8,000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Do not start the run below the floor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worked engineering allocation; official compaction and context behavior</a:t>
            </a:r>
          </a:p>
        </p:txBody>
      </p:sp>
    </p:spTree>
  </p:cSld>
  <p:clrMapOvr>
    <a:masterClrMapping/>
  </p:clrMapOvr>
  <p:transition spd="fast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CONTEXT MAINTENANCE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Compaction and pruning solve different problems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33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664208"/>
          <a:ext cx="10826496" cy="4370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880360"/>
                <a:gridCol w="1554480"/>
                <a:gridCol w="2743200"/>
                <a:gridCol w="2139696"/>
              </a:tblGrid>
              <a:tr h="874166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Mechanism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Operation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Persisted?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Best used for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87416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Compaction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Summarizes older conversation into a compact entry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Yes - transcript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Long-running sessions near the model limit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 poor summary can lose nuance.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87416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Pruning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Trims old tool results from the current request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No - in memory only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Large command/browser outputs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Needed evidence may disappear from the prompt.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87416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Memory flush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Saves durable notes before compaction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Yes - memory files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Decisions and facts that must survive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Unreviewed notes can preserve errors.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87416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/new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Starts a new session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Old transcript remains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Clean task boundary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Context is not carried forward automatically.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compaction</a:t>
            </a:r>
          </a:p>
        </p:txBody>
      </p:sp>
    </p:spTree>
  </p:cSld>
  <p:clrMapOvr>
    <a:masterClrMapping/>
  </p:clrMapOvr>
  <p:transition spd="fast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COMPACTION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Make summarization, identifier retention and memory flush explicit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34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627632"/>
            <a:ext cx="6565392" cy="3621024"/>
          </a:xfrm>
          <a:prstGeom prst="roundRect">
            <a:avLst>
              <a:gd name="adj" fmla="val 12000"/>
            </a:avLst>
          </a:prstGeom>
          <a:solidFill>
            <a:srgbClr val="101826"/>
          </a:solidFill>
          <a:ln>
            <a:solidFill>
              <a:srgbClr val="101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65376"/>
            <a:ext cx="6089904" cy="31272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D8E3F0"/>
                </a:solidFill>
                <a:latin typeface="Consolas"/>
              </a:rPr>
              <a:t>{
  agents: { defaults: { compaction: {
    model: "openrouter/anthropic/claude-sonnet-4-6",
    identifierPolicy: "strict",
    maxActiveTranscriptBytes: "8mb",
    notifyUser: true,
    memoryFlush: {
      enabled: true,
      model: "ollama/qwen3:8b",
      softThresholdTokens: 4000,
      forceFlushTranscriptBytes: "2mb"
    }
  }}}
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79792" y="1627632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62672" y="1792224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737360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Summary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011680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Compaction can use an exact dedicated provider/model.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79792" y="2523744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662672" y="268833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633472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Identifiers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907791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Strict policy preserves opaque IDs through summarization.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79792" y="3419856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62672" y="3584448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529584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Byte guard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803904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Pre-run compaction can trigger when active JSONL grows too large.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79792" y="4315968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62672" y="4480559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425696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Memory flush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700016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A silent NO_REPLY turn writes durable notes before compaction.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431536"/>
            <a:ext cx="5285232" cy="548640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5559552"/>
            <a:ext cx="89611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B981"/>
                </a:solidFill>
                <a:latin typeface="Arial"/>
              </a:rPr>
              <a:t>EXPECTED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00784" y="5504688"/>
            <a:ext cx="4023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61B26"/>
                </a:solidFill>
                <a:latin typeface="Arial"/>
              </a:rPr>
              <a:t>Older turns become a persisted summary; recent turns and paired tool blocks remain intact.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2" y="5431536"/>
            <a:ext cx="5285232" cy="548640"/>
          </a:xfrm>
          <a:prstGeom prst="roundRect">
            <a:avLst>
              <a:gd name="adj" fmla="val 12000"/>
            </a:avLst>
          </a:prstGeom>
          <a:solidFill>
            <a:srgbClr val="FFF0EE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5559552"/>
            <a:ext cx="71323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6A5A"/>
                </a:solidFill>
                <a:latin typeface="Arial"/>
              </a:rPr>
              <a:t>IF NOT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9168" y="5504688"/>
            <a:ext cx="41605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0" b="1" i="0">
                <a:solidFill>
                  <a:srgbClr val="161B26"/>
                </a:solidFill>
                <a:latin typeface="Arial"/>
              </a:rPr>
              <a:t>If compaction fails, inspect model fallback eligibility, transcript size and the active session store.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compaction and session-management reference</a:t>
            </a:r>
          </a:p>
        </p:txBody>
      </p:sp>
    </p:spTree>
  </p:cSld>
  <p:clrMapOvr>
    <a:masterClrMapping/>
  </p:clrMapOvr>
  <p:transition spd="fast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MEMORY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Transcript, active context and durable notes solve different problems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35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664208"/>
          <a:ext cx="10826496" cy="4370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788920"/>
                <a:gridCol w="2331720"/>
                <a:gridCol w="4105656"/>
              </a:tblGrid>
              <a:tr h="624404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Layer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Storage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Lifetime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Retrieval / mutation rule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Session row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SQLite key -&gt; SessionEntry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Until cleanup/reset policy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Gateway updates counters, toggles and current sessionId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Transcript tree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SQLite id + parentId events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Persistent audit/history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Append events; compaction writes summary events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Active model context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Ephemeral assembled request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One model turn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Budgeted selection; pruning is in-memory only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Compaction summary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Transcript event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Persistent until session cleanup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Replaces older model-visible turns, not raw history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Daily memory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memory/YYYY-MM-DD.md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Durable workspace state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Write selected facts before reset/compaction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Curated memory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MEMORY.md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Operator/agent maintained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Retrieve only when relevant; never assume magical recall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memory, compaction and session-management reference</a:t>
            </a:r>
          </a:p>
        </p:txBody>
      </p:sp>
    </p:spTree>
  </p:cSld>
  <p:clrMapOvr>
    <a:masterClrMapping/>
  </p:clrMapOvr>
  <p:transition spd="fast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MEMORY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Recall is a provenance-preserving query, not implicit model memory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36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664208"/>
          <a:ext cx="10826496" cy="4370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3794760"/>
                <a:gridCol w="2880360"/>
                <a:gridCol w="2734056"/>
              </a:tblGrid>
              <a:tr h="624404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Stage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Input / operation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Output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Failure control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Need detection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current task requires prior decision/fact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explicit retrieval intent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Do not retrieve unrelated user state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Query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literal terms + semantic intent + agent/workspace scope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bounded search request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Log query class, not sensitive raw text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Candidate search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MEMORY.md, daily notes and configured index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ranked passage IDs + source versions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Apply agent/corpus ACL before ranking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Selection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top_k, score threshold, recency and conflict check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small evidence set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Return unknown when evidence is weak/conflicting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Injection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passages labelled as retrieved data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model context with provenance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Retrieved text cannot override runtime instructions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Citation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file/path + passage/line + version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answer linked to durable evidence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Separate fact, inference and unresolved conflict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memory and memory-search documentation</a:t>
            </a:r>
          </a:p>
        </p:txBody>
      </p:sp>
    </p:spTree>
  </p:cSld>
  <p:clrMapOvr>
    <a:masterClrMapping/>
  </p:clrMapOvr>
  <p:transition spd="fast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CAPABILITY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Tools, skills and plugins are not interchangeable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37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664208"/>
          <a:ext cx="10826495" cy="4370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971800"/>
                <a:gridCol w="2377440"/>
                <a:gridCol w="4014215"/>
              </a:tblGrid>
              <a:tr h="728472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Surface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What it contributes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Loaded where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Primary risk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72847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Tool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Typed action such as exec, browser, message or API call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Visible function definition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Real side effects and broad access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72847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Skill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Reusable instructions, rubric or command sequence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Agent prompt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Malicious or misleading operational guidance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72847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Plugin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Runtime code for tools, channels, providers, hooks or skills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In-process with Gateway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Trusted-code and supply-chain compromise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72847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Credential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Authority to an external service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Runtime / secret scope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Privilege escalation and data exposure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72847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Policy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Allow, deny, profile and provider restrictions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Gateway and agent config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Misconfiguration or unexpected inheritance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capabilities overview and security documentation</a:t>
            </a:r>
          </a:p>
        </p:txBody>
      </p:sp>
    </p:spTree>
  </p:cSld>
  <p:clrMapOvr>
    <a:masterClrMapping/>
  </p:clrMapOvr>
  <p:transition spd="fast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TOOL POLICY PRECEDENCE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A tool is callable only if every applicable gate agrees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38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664208"/>
          <a:ext cx="10826496" cy="4370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926080"/>
                <a:gridCol w="3200400"/>
                <a:gridCol w="3191256"/>
              </a:tblGrid>
              <a:tr h="624404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Gate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Configuration surface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Decision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Diagnostic evidence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Registration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built-in, plugin or MCP provider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Tool schema exists in runtime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plugin/tool discovery output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Global policy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tools.allow / tools.deny / profile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Coarse capability set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effective tool list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Agent policy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agents.entries[].tools.*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Role-specific narrowing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agent-scoped config resolution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Sandbox policy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tools.sandbox.tools.*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Second allow gate for sandboxed turns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openclaw sandbox explain --json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Argument security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exec allowlist, target and approval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Permits exact command/destination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approval and policy-match event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Elevated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tools.elevated.*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Exec-only escape from sandbox; does not restore denied tools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authorized sender + session directive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sandbox vs tool policy vs elevated reference</a:t>
            </a:r>
          </a:p>
        </p:txBody>
      </p:sp>
    </p:spTree>
  </p:cSld>
  <p:clrMapOvr>
    <a:masterClrMapping/>
  </p:clrMapOvr>
  <p:transition spd="fast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EXECUTION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Sandbox, tool policy and elevated answer different questions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39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664208"/>
          <a:ext cx="10826496" cy="4370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788920"/>
                <a:gridCol w="2834640"/>
                <a:gridCol w="3602736"/>
              </a:tblGrid>
              <a:tr h="874166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Control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Question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Example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Common mistake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87416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Sandbox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Where does the tool run?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Container, agent workspace or host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Assuming sandboxing automatically hides tools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87416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Tool policy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Which tools can the model call?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deny exec; allow browser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Allowing a tool because the sandbox is present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87416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Elevated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Can exec escape the sandbox?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Approved host command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Treating elevated as a general permission mode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87416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Exec approval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Must a human confirm this command?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Prompt before a risky host action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Approving a pattern broader than intended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sandbox vs tool policy vs elevated</a:t>
            </a:r>
          </a:p>
        </p:txBody>
      </p:sp>
    </p:spTree>
  </p:cSld>
  <p:clrMapOvr>
    <a:masterClrMapping/>
  </p:clrMapOvr>
  <p:transition spd="fast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SANDBOX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Isolate non-main work by default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40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627632"/>
            <a:ext cx="6565392" cy="3621024"/>
          </a:xfrm>
          <a:prstGeom prst="roundRect">
            <a:avLst>
              <a:gd name="adj" fmla="val 12000"/>
            </a:avLst>
          </a:prstGeom>
          <a:solidFill>
            <a:srgbClr val="101826"/>
          </a:solidFill>
          <a:ln>
            <a:solidFill>
              <a:srgbClr val="101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65376"/>
            <a:ext cx="6089904" cy="31272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D8E3F0"/>
                </a:solidFill>
                <a:latin typeface="Consolas"/>
              </a:rPr>
              <a:t>{
  agents: {
    defaults: {
      sandbox: {
        mode: "non-main",  // off | non-main | all
        scope: "agent"     // session | agent | shared
      }
    }
  }
}
openclaw sandbox explain --agent 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79792" y="1627632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62672" y="1792224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737360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mode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011680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Choose which sessions enter the sandbox.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79792" y="2523744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662672" y="268833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633472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907791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Choose how isolated workspaces are shared.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79792" y="3419856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62672" y="3584448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529584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803904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Inspect the effective runtime decision.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79792" y="4315968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62672" y="4480559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425696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mounts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700016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Review any host path exposed to the container.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431536"/>
            <a:ext cx="5285232" cy="548640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5559552"/>
            <a:ext cx="89611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B981"/>
                </a:solidFill>
                <a:latin typeface="Arial"/>
              </a:rPr>
              <a:t>EXPECTED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00784" y="5504688"/>
            <a:ext cx="4023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61B26"/>
                </a:solidFill>
                <a:latin typeface="Arial"/>
              </a:rPr>
              <a:t>The diagnostic states the effective sandbox, workspace and tool policy.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2" y="5431536"/>
            <a:ext cx="5285232" cy="548640"/>
          </a:xfrm>
          <a:prstGeom prst="roundRect">
            <a:avLst>
              <a:gd name="adj" fmla="val 12000"/>
            </a:avLst>
          </a:prstGeom>
          <a:solidFill>
            <a:srgbClr val="FFF0EE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5559552"/>
            <a:ext cx="71323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6A5A"/>
                </a:solidFill>
                <a:latin typeface="Arial"/>
              </a:rPr>
              <a:t>IF NOT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9168" y="5504688"/>
            <a:ext cx="41605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0" b="1" i="0">
                <a:solidFill>
                  <a:srgbClr val="161B26"/>
                </a:solidFill>
                <a:latin typeface="Arial"/>
              </a:rPr>
              <a:t>If a tool is missing, inspect policy and sandbox gates separately.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sandbox documentation</a:t>
            </a:r>
          </a:p>
        </p:txBody>
      </p:sp>
    </p:spTree>
  </p:cSld>
  <p:clrMapOvr>
    <a:masterClrMapping/>
  </p:clrMapOvr>
  <p:transition spd="fast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SKILL LOADING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Skill precedence is deterministic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41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53004" y="3273552"/>
            <a:ext cx="310896" cy="0"/>
          </a:xfrm>
          <a:prstGeom prst="line">
            <a:avLst/>
          </a:prstGeom>
          <a:ln w="2032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795113" y="3273552"/>
            <a:ext cx="310896" cy="0"/>
          </a:xfrm>
          <a:prstGeom prst="line">
            <a:avLst/>
          </a:prstGeom>
          <a:ln w="2032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37222" y="3273552"/>
            <a:ext cx="310896" cy="0"/>
          </a:xfrm>
          <a:prstGeom prst="line">
            <a:avLst/>
          </a:prstGeom>
          <a:ln w="2032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279331" y="3273552"/>
            <a:ext cx="310896" cy="0"/>
          </a:xfrm>
          <a:prstGeom prst="line">
            <a:avLst/>
          </a:prstGeom>
          <a:ln w="2032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58368" y="2139696"/>
            <a:ext cx="1858060" cy="23591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139696"/>
            <a:ext cx="1858060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59" y="2395728"/>
            <a:ext cx="393192" cy="39319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2395728"/>
            <a:ext cx="1144828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61B26"/>
                </a:solidFill>
                <a:latin typeface="Arial"/>
              </a:rPr>
              <a:t>Workspace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3090672"/>
            <a:ext cx="1528876" cy="10241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372"/>
                </a:solidFill>
                <a:latin typeface="Arial"/>
              </a:rPr>
              <a:t>&lt;workspace&gt;/skills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00476" y="2139696"/>
            <a:ext cx="1858060" cy="23591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00476" y="2139696"/>
            <a:ext cx="1858060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065068" y="2395728"/>
            <a:ext cx="393192" cy="39319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03980" y="2395728"/>
            <a:ext cx="1144828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61B26"/>
                </a:solidFill>
                <a:latin typeface="Arial"/>
              </a:rPr>
              <a:t>Project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5068" y="3090672"/>
            <a:ext cx="1528876" cy="10241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372"/>
                </a:solidFill>
                <a:latin typeface="Arial"/>
              </a:rPr>
              <a:t>&lt;workspace&gt;/.agents/skills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42585" y="2139696"/>
            <a:ext cx="1858060" cy="23591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42585" y="2139696"/>
            <a:ext cx="1858060" cy="9144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07177" y="2395728"/>
            <a:ext cx="393192" cy="39319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46089" y="2395728"/>
            <a:ext cx="1144828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61B26"/>
                </a:solidFill>
                <a:latin typeface="Arial"/>
              </a:rPr>
              <a:t>Personal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7177" y="3090672"/>
            <a:ext cx="1528876" cy="10241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372"/>
                </a:solidFill>
                <a:latin typeface="Arial"/>
              </a:rPr>
              <a:t>~/.agents/skills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84694" y="2139696"/>
            <a:ext cx="1858060" cy="23591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84694" y="2139696"/>
            <a:ext cx="1858060" cy="914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549286" y="2395728"/>
            <a:ext cx="393192" cy="39319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88198" y="2395728"/>
            <a:ext cx="1144828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61B26"/>
                </a:solidFill>
                <a:latin typeface="Arial"/>
              </a:rPr>
              <a:t>Managed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9286" y="3090672"/>
            <a:ext cx="1528876" cy="10241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372"/>
                </a:solidFill>
                <a:latin typeface="Arial"/>
              </a:rPr>
              <a:t>~/.openclaw/skills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26803" y="2139696"/>
            <a:ext cx="1858060" cy="23591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626803" y="2139696"/>
            <a:ext cx="1858060" cy="91440"/>
          </a:xfrm>
          <a:prstGeom prst="rect">
            <a:avLst/>
          </a:prstGeom>
          <a:solidFill>
            <a:srgbClr val="F46A5A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791395" y="2395728"/>
            <a:ext cx="393192" cy="393192"/>
          </a:xfrm>
          <a:prstGeom prst="ellipse">
            <a:avLst/>
          </a:prstGeom>
          <a:solidFill>
            <a:srgbClr val="F46A5A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30307" y="2395728"/>
            <a:ext cx="1144828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61B26"/>
                </a:solidFill>
                <a:latin typeface="Arial"/>
              </a:rPr>
              <a:t>Bundled / extra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91395" y="3090672"/>
            <a:ext cx="1528876" cy="10241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372"/>
                </a:solidFill>
                <a:latin typeface="Arial"/>
              </a:rPr>
              <a:t>built-in + configured extra directories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4901184"/>
            <a:ext cx="10826496" cy="82296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5084064"/>
            <a:ext cx="11430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6FEB"/>
                </a:solidFill>
                <a:latin typeface="Arial"/>
              </a:rPr>
              <a:t>SYSTEM PATH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11680" y="5029200"/>
            <a:ext cx="909828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Workspace -&gt; Project -&gt; Personal -&gt; Managed -&gt; Bundled / extra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skills documentation</a:t>
            </a:r>
          </a:p>
        </p:txBody>
      </p:sp>
    </p:spTree>
  </p:cSld>
  <p:clrMapOvr>
    <a:masterClrMapping/>
  </p:clrMapOvr>
  <p:transition spd="fast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SKILL SUPPLY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Treat SKILL.md and referenced scripts as privileged dependencies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42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664208"/>
          <a:ext cx="10826496" cy="4370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3703320"/>
                <a:gridCol w="3154680"/>
                <a:gridCol w="2551176"/>
              </a:tblGrid>
              <a:tr h="624404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Control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Technical check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Failure blocked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Evidence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Identity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Canonical realpath, package origin and unique skill name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Path spoofing / unintended precedence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resolved discovery path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Manifest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Parse frontmatter; validate declared purpose and requirements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Hidden trigger or missing dependency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reviewed SKILL.md hash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References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Traverse every directly required script/resource before use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Instruction imports unreviewed behavior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dependency inventory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Authority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Compare requested tools/data/network with agent policy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Skill expands effective privilege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sandbox explain + tool list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Execution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Run in bounded workspace with test fixtures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Host mutation or secret exfiltration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sandbox log and output diff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Promotion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Pin reviewed version/hash and record approver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Upstream change silently alters behavior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approval record + checksum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skills trust guidance and security documentation</a:t>
            </a:r>
          </a:p>
        </p:txBody>
      </p:sp>
    </p:spTree>
  </p:cSld>
  <p:clrMapOvr>
    <a:masterClrMapping/>
  </p:clrMapOvr>
  <p:transition spd="fast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PLUGIN RUNTIME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Plugins alter the Gateway process, schema and attack surface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43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664208"/>
          <a:ext cx="10826496" cy="4370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3200400"/>
                <a:gridCol w="3063240"/>
                <a:gridCol w="2962656"/>
              </a:tblGrid>
              <a:tr h="624404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Extension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Runtime effect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Configuration / route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Control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Tool provider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Registers typed functions visible after policy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plugin manifest + tool namespace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allowlist plugin and tool group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Channel plugin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Owns provider connection and inbound event parsing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channels.&lt;plugin&gt; + account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pairing, sender policy, account isolation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HTTP route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Adds Gateway-hosted API or admin surface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plugin route under main port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same trusted auth boundary; default off for admin RPC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MCP bundle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Loads external tool servers under provider-safe prefixes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mcp.servers / bundle-mcp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sandbox alsoAllow plus restart/reload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Compaction provider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Replaces built-in summarization pipeline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agents.defaults.compaction.provider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fallback to built-in on empty/failure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Diagnostics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Consumes trusted internal events and exports telemetry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Prometheus/OTel plugin config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operator-only endpoint and redaction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plugin, MCP, compaction and diagnostics documentation</a:t>
            </a:r>
          </a:p>
        </p:txBody>
      </p:sp>
    </p:spTree>
  </p:cSld>
  <p:clrMapOvr>
    <a:masterClrMapping/>
  </p:clrMapOvr>
  <p:transition spd="fast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MODEL 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Choose models by workload and failure cost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44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664208"/>
          <a:ext cx="10826496" cy="4370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743200"/>
                <a:gridCol w="3063240"/>
                <a:gridCol w="3282696"/>
              </a:tblGrid>
              <a:tr h="728472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Model characteristic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Good fit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Watch for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72847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Orchestrator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Reliable planning and tool use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Ambiguous multi-step tasks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Higher cost and latency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72847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Routine worker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Fast, lower-cost, predictable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Classification and transforms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Weak recovery from tool errors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72847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Local model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Private and infrastructure-bound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Sensitive bounded tasks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Hardware, context and tool limits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72847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Fallback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Different provider or auth profile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Provider outage or quota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Behavioural differences after failover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72847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Memory flush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Exact housekeeping model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Pre-compaction note saving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Does not inherit the active fallback chain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configuration and compaction</a:t>
            </a:r>
          </a:p>
        </p:txBody>
      </p:sp>
    </p:spTree>
  </p:cSld>
  <p:clrMapOvr>
    <a:masterClrMapping/>
  </p:clrMapOvr>
  <p:transition spd="fast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CHANNEL 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A route is a tuple of account, peer, room and policy state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45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664208"/>
          <a:ext cx="10826496" cy="4370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788920"/>
                <a:gridCol w="3429000"/>
                <a:gridCol w="3282696"/>
              </a:tblGrid>
              <a:tr h="624404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Field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Example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Used for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Security failure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telegram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Select provider adapter and event schema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Wrong parser or delivery surface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account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support-bot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Choose credential and agent binding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Cross-account authority leakage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peer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user:12345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DM allowlist/pairing and dmScope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Unknown sender gains a session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room/thread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group:4711/topic:9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Mention gate, groupScope and thread binding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Ambient chat becomes an instruction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agentId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support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Workspace, tools, model, state and transcript owner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Message reaches over-privileged agent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sessionKey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agent:support:telegram:direct:12345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Continuity, queue and transcript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Two users share context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channel routing, session management and multi-agent bindings</a:t>
            </a:r>
          </a:p>
        </p:txBody>
      </p:sp>
    </p:spTree>
  </p:cSld>
  <p:clrMapOvr>
    <a:masterClrMapping/>
  </p:clrMapOvr>
  <p:transition spd="fast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CHANNEL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Pair first; open access only by explicit decision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46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627632"/>
            <a:ext cx="6565392" cy="3621024"/>
          </a:xfrm>
          <a:prstGeom prst="roundRect">
            <a:avLst>
              <a:gd name="adj" fmla="val 12000"/>
            </a:avLst>
          </a:prstGeom>
          <a:solidFill>
            <a:srgbClr val="101826"/>
          </a:solidFill>
          <a:ln>
            <a:solidFill>
              <a:srgbClr val="101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65376"/>
            <a:ext cx="6089904" cy="31272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D8E3F0"/>
                </a:solidFill>
                <a:latin typeface="Consolas"/>
              </a:rPr>
              <a:t>{
  channels: {
    telegram: {
      enabled: true,
      botToken: "${TELEGRAM_BOT_TOKEN}",
      dmPolicy: "pairing",
      allowFrom: ["tg:123"],
      groups: { "*": { requireMention: true } }
    }
  }
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79792" y="1627632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62672" y="1792224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737360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pairing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011680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Unknown senders must be approved once.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79792" y="2523744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662672" y="268833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633472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allowFrom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907791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Restrict known identities when required.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79792" y="3419856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62672" y="3584448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529584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mention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803904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Avoid responding to every group message.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79792" y="4315968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62672" y="4480559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425696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secret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700016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Keep the bot token out of committed config.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431536"/>
            <a:ext cx="5285232" cy="548640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5559552"/>
            <a:ext cx="89611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B981"/>
                </a:solidFill>
                <a:latin typeface="Arial"/>
              </a:rPr>
              <a:t>EXPECTED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00784" y="5504688"/>
            <a:ext cx="4023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61B26"/>
                </a:solidFill>
                <a:latin typeface="Arial"/>
              </a:rPr>
              <a:t>An approved sender reaches the intended isolated session.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2" y="5431536"/>
            <a:ext cx="5285232" cy="548640"/>
          </a:xfrm>
          <a:prstGeom prst="roundRect">
            <a:avLst>
              <a:gd name="adj" fmla="val 12000"/>
            </a:avLst>
          </a:prstGeom>
          <a:solidFill>
            <a:srgbClr val="FFF0EE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5559552"/>
            <a:ext cx="71323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6A5A"/>
                </a:solidFill>
                <a:latin typeface="Arial"/>
              </a:rPr>
              <a:t>IF NOT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9168" y="5504688"/>
            <a:ext cx="41605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0" b="1" i="0">
                <a:solidFill>
                  <a:srgbClr val="161B26"/>
                </a:solidFill>
                <a:latin typeface="Arial"/>
              </a:rPr>
              <a:t>If messages are silent, inspect DM policy, allowlist and mention gating.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Gateway configuration</a:t>
            </a:r>
          </a:p>
        </p:txBody>
      </p:sp>
    </p:spTree>
  </p:cSld>
  <p:clrMapOvr>
    <a:masterClrMapping/>
  </p:clrMapOvr>
  <p:transition spd="fast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NODE 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Device capabilities are declared and cryptographically bound at handshake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47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627632"/>
            <a:ext cx="6565392" cy="3621024"/>
          </a:xfrm>
          <a:prstGeom prst="roundRect">
            <a:avLst>
              <a:gd name="adj" fmla="val 12000"/>
            </a:avLst>
          </a:prstGeom>
          <a:solidFill>
            <a:srgbClr val="101826"/>
          </a:solidFill>
          <a:ln>
            <a:solidFill>
              <a:srgbClr val="101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65376"/>
            <a:ext cx="6089904" cy="31272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D8E3F0"/>
                </a:solidFill>
                <a:latin typeface="Consolas"/>
              </a:rPr>
              <a:t>{
  "role":"node",
  "client":{"id":"ios-node","version":"1.2.3",
            "platform":"ios","mode":"node"},
  "caps":["camera","screen","location","voice"],
  "commands":["camera.snap","screen.record","location.get"],
  "permissions":{"camera.capture":true,"screen.record":false},
  "device":{"id":"device_fingerprint","publicKey":"...",
            "signature":"...","signedAt":1737264000000,
            "nonce":"..."},
  "auth":{"token":"..."}
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79792" y="1627632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62672" y="1792224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737360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Role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011680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node selects the device command path, not operator RPC authority.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79792" y="2523744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662672" y="268833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633472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Capabilities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907791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caps and commands advertise what the node can execute.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79792" y="3419856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62672" y="3584448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529584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Permissions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803904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OS permission state remains distinct from Gateway policy.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79792" y="4315968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62672" y="4480559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425696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Pairing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700016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hello-ok can return a device token scoped to role and approved grant.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431536"/>
            <a:ext cx="5285232" cy="548640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5559552"/>
            <a:ext cx="89611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B981"/>
                </a:solidFill>
                <a:latin typeface="Arial"/>
              </a:rPr>
              <a:t>EXPECTED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00784" y="5504688"/>
            <a:ext cx="4023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61B26"/>
                </a:solidFill>
                <a:latin typeface="Arial"/>
              </a:rPr>
              <a:t>Gateway approves the device identity and returns only the live scopes granted to this socket.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2" y="5431536"/>
            <a:ext cx="5285232" cy="548640"/>
          </a:xfrm>
          <a:prstGeom prst="roundRect">
            <a:avLst>
              <a:gd name="adj" fmla="val 12000"/>
            </a:avLst>
          </a:prstGeom>
          <a:solidFill>
            <a:srgbClr val="FFF0EE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5559552"/>
            <a:ext cx="71323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6A5A"/>
                </a:solidFill>
                <a:latin typeface="Arial"/>
              </a:rPr>
              <a:t>IF NOT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9168" y="5504688"/>
            <a:ext cx="41605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0" b="1" i="0">
                <a:solidFill>
                  <a:srgbClr val="161B26"/>
                </a:solidFill>
                <a:latin typeface="Arial"/>
              </a:rPr>
              <a:t>Revoke the paired device/token if identity, public key or physical custody is lost.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Gateway protocol and node pairing reference</a:t>
            </a:r>
          </a:p>
        </p:txBody>
      </p:sp>
    </p:spTree>
  </p:cSld>
  <p:clrMapOvr>
    <a:masterClrMapping/>
  </p:clrMapOvr>
  <p:transition spd="fast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AUTOMATION RUNTIME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Trigger type determines session identity, retention and authority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48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664208"/>
          <a:ext cx="10826496" cy="4370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880360"/>
                <a:gridCol w="3429000"/>
                <a:gridCol w="3099816"/>
              </a:tblGrid>
              <a:tr h="624404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Trigger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Session identity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Durable scheduler state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Critical control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Conversation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routed agent:&lt;id&gt;:&lt;scope&gt;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none beyond channel/provider delivery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sender auth + dm/group scope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Cron main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agent main session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job, nextRun, history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avoid contaminating owner context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Cron isolated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cron:&lt;job.id&gt; fresh run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job + isolated run retention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drop stale channel/elevation/runtime bindings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Heartbeat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enabled agent's main session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one system-owned cadence row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agent returns no-op when no attention needed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Webhook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hook:&lt;uuid&gt; or explicit key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caller/event system owns retry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authenticate + idempotency before enqueue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Delegated run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child task/session identity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parent owns cancellation and synthesis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bounded tools, budget and completion predicate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automation, heartbeat and session-management documentation</a:t>
            </a:r>
          </a:p>
        </p:txBody>
      </p:sp>
    </p:spTree>
  </p:cSld>
  <p:clrMapOvr>
    <a:masterClrMapping/>
  </p:clrMapOvr>
  <p:transition spd="fast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CRON VS HEARTBEAT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Do not schedule a heartbeat as if it were a job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49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682496"/>
            <a:ext cx="5285232" cy="4187952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20240"/>
            <a:ext cx="470001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5B6372"/>
                </a:solidFill>
                <a:latin typeface="Arial"/>
              </a:rPr>
              <a:t>Cron / automation job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2651760"/>
            <a:ext cx="310896" cy="310896"/>
          </a:xfrm>
          <a:prstGeom prst="ellipse">
            <a:avLst/>
          </a:prstGeom>
          <a:solidFill>
            <a:srgbClr val="5B6372"/>
          </a:solidFill>
          <a:ln>
            <a:solidFill>
              <a:srgbClr val="5B6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633472"/>
            <a:ext cx="4160520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1B26"/>
                </a:solidFill>
                <a:latin typeface="Arial"/>
              </a:rPr>
              <a:t>Own durable schedule and run history</a:t>
            </a:r>
          </a:p>
        </p:txBody>
      </p:sp>
      <p:sp>
        <p:nvSpPr>
          <p:cNvPr id="16" name="Oval 15"/>
          <p:cNvSpPr/>
          <p:nvPr/>
        </p:nvSpPr>
        <p:spPr>
          <a:xfrm>
            <a:off x="932688" y="3218688"/>
            <a:ext cx="310896" cy="310896"/>
          </a:xfrm>
          <a:prstGeom prst="ellipse">
            <a:avLst/>
          </a:prstGeom>
          <a:solidFill>
            <a:srgbClr val="5B6372"/>
          </a:solidFill>
          <a:ln>
            <a:solidFill>
              <a:srgbClr val="5B6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3200400"/>
            <a:ext cx="4160520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1B26"/>
                </a:solidFill>
                <a:latin typeface="Arial"/>
              </a:rPr>
              <a:t>Can use isolated task sessions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3785615"/>
            <a:ext cx="310896" cy="310896"/>
          </a:xfrm>
          <a:prstGeom prst="ellipse">
            <a:avLst/>
          </a:prstGeom>
          <a:solidFill>
            <a:srgbClr val="5B6372"/>
          </a:solidFill>
          <a:ln>
            <a:solidFill>
              <a:srgbClr val="5B6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67328"/>
            <a:ext cx="4160520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1B26"/>
                </a:solidFill>
                <a:latin typeface="Arial"/>
              </a:rPr>
              <a:t>Runs even when no conversation is active</a:t>
            </a:r>
          </a:p>
        </p:txBody>
      </p:sp>
      <p:sp>
        <p:nvSpPr>
          <p:cNvPr id="20" name="Oval 19"/>
          <p:cNvSpPr/>
          <p:nvPr/>
        </p:nvSpPr>
        <p:spPr>
          <a:xfrm>
            <a:off x="932688" y="4352544"/>
            <a:ext cx="310896" cy="310896"/>
          </a:xfrm>
          <a:prstGeom prst="ellipse">
            <a:avLst/>
          </a:prstGeom>
          <a:solidFill>
            <a:srgbClr val="5B6372"/>
          </a:solidFill>
          <a:ln>
            <a:solidFill>
              <a:srgbClr val="5B6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4334256"/>
            <a:ext cx="4160520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1B26"/>
                </a:solidFill>
                <a:latin typeface="Arial"/>
              </a:rPr>
              <a:t>Suitable for exact deliveries and workflows</a:t>
            </a:r>
          </a:p>
        </p:txBody>
      </p:sp>
      <p:sp>
        <p:nvSpPr>
          <p:cNvPr id="22" name="Oval 21"/>
          <p:cNvSpPr/>
          <p:nvPr/>
        </p:nvSpPr>
        <p:spPr>
          <a:xfrm>
            <a:off x="932688" y="4919472"/>
            <a:ext cx="310896" cy="310896"/>
          </a:xfrm>
          <a:prstGeom prst="ellipse">
            <a:avLst/>
          </a:prstGeom>
          <a:solidFill>
            <a:srgbClr val="5B6372"/>
          </a:solidFill>
          <a:ln>
            <a:solidFill>
              <a:srgbClr val="5B6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4901184"/>
            <a:ext cx="4160520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1B26"/>
                </a:solidFill>
                <a:latin typeface="Arial"/>
              </a:rPr>
              <a:t>Inspect with openclaw cron list --all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54496" y="1682496"/>
            <a:ext cx="5285232" cy="4187952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28816" y="1920240"/>
            <a:ext cx="470001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0B981"/>
                </a:solidFill>
                <a:latin typeface="Arial"/>
              </a:rPr>
              <a:t>Heartbeat</a:t>
            </a:r>
          </a:p>
        </p:txBody>
      </p:sp>
      <p:sp>
        <p:nvSpPr>
          <p:cNvPr id="26" name="Oval 25"/>
          <p:cNvSpPr/>
          <p:nvPr/>
        </p:nvSpPr>
        <p:spPr>
          <a:xfrm>
            <a:off x="6547104" y="2651760"/>
            <a:ext cx="310896" cy="31089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04304" y="2633472"/>
            <a:ext cx="4160520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1B26"/>
                </a:solidFill>
                <a:latin typeface="Arial"/>
              </a:rPr>
              <a:t>Periodic turn in the main session</a:t>
            </a:r>
          </a:p>
        </p:txBody>
      </p:sp>
      <p:sp>
        <p:nvSpPr>
          <p:cNvPr id="28" name="Oval 27"/>
          <p:cNvSpPr/>
          <p:nvPr/>
        </p:nvSpPr>
        <p:spPr>
          <a:xfrm>
            <a:off x="6547104" y="3218688"/>
            <a:ext cx="310896" cy="31089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04304" y="3200400"/>
            <a:ext cx="4160520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1B26"/>
                </a:solidFill>
                <a:latin typeface="Arial"/>
              </a:rPr>
              <a:t>One system-owned automation row per enabled agent</a:t>
            </a:r>
          </a:p>
        </p:txBody>
      </p:sp>
      <p:sp>
        <p:nvSpPr>
          <p:cNvPr id="30" name="Oval 29"/>
          <p:cNvSpPr/>
          <p:nvPr/>
        </p:nvSpPr>
        <p:spPr>
          <a:xfrm>
            <a:off x="6547104" y="3785615"/>
            <a:ext cx="310896" cy="31089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04304" y="3767328"/>
            <a:ext cx="4160520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1B26"/>
                </a:solidFill>
                <a:latin typeface="Arial"/>
              </a:rPr>
              <a:t>Model decides whether anything needs attention</a:t>
            </a:r>
          </a:p>
        </p:txBody>
      </p:sp>
      <p:sp>
        <p:nvSpPr>
          <p:cNvPr id="32" name="Oval 31"/>
          <p:cNvSpPr/>
          <p:nvPr/>
        </p:nvSpPr>
        <p:spPr>
          <a:xfrm>
            <a:off x="6547104" y="4352544"/>
            <a:ext cx="310896" cy="31089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04304" y="4334256"/>
            <a:ext cx="4160520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1B26"/>
                </a:solidFill>
                <a:latin typeface="Arial"/>
              </a:rPr>
              <a:t>No detached background task record</a:t>
            </a:r>
          </a:p>
        </p:txBody>
      </p:sp>
      <p:sp>
        <p:nvSpPr>
          <p:cNvPr id="34" name="Oval 33"/>
          <p:cNvSpPr/>
          <p:nvPr/>
        </p:nvSpPr>
        <p:spPr>
          <a:xfrm>
            <a:off x="6547104" y="4919472"/>
            <a:ext cx="310896" cy="31089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04304" y="4901184"/>
            <a:ext cx="4160520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1B26"/>
                </a:solidFill>
                <a:latin typeface="Arial"/>
              </a:rPr>
              <a:t>Configure agents.*.heartbeat, not the generated row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heartbeat</a:t>
            </a:r>
          </a:p>
        </p:txBody>
      </p:sp>
    </p:spTree>
  </p:cSld>
  <p:clrMapOvr>
    <a:masterClrMapping/>
  </p:clrMapOvr>
  <p:transition spd="fast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HEARTBEAT INTERNALS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The scheduler owns cadence; the agent owns the check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50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463040"/>
            <a:ext cx="1280160" cy="50292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581912"/>
            <a:ext cx="1133856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Config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97280" y="2011680"/>
            <a:ext cx="0" cy="3520440"/>
          </a:xfrm>
          <a:prstGeom prst="line">
            <a:avLst/>
          </a:prstGeom>
          <a:ln w="1524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48939" y="1463040"/>
            <a:ext cx="1280160" cy="502920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22091" y="1581912"/>
            <a:ext cx="1133856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Scheduler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589020" y="2011680"/>
            <a:ext cx="0" cy="3520440"/>
          </a:xfrm>
          <a:prstGeom prst="line">
            <a:avLst/>
          </a:prstGeom>
          <a:ln w="1524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440680" y="1463040"/>
            <a:ext cx="1280160" cy="50292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13832" y="1581912"/>
            <a:ext cx="1133856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Main session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80760" y="2011680"/>
            <a:ext cx="0" cy="3520440"/>
          </a:xfrm>
          <a:prstGeom prst="line">
            <a:avLst/>
          </a:prstGeom>
          <a:ln w="1524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932420" y="1463040"/>
            <a:ext cx="1280160" cy="502920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5572" y="1581912"/>
            <a:ext cx="1133856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Model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572500" y="2011680"/>
            <a:ext cx="0" cy="3520440"/>
          </a:xfrm>
          <a:prstGeom prst="line">
            <a:avLst/>
          </a:prstGeom>
          <a:ln w="1524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424160" y="1463040"/>
            <a:ext cx="1280160" cy="50292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97312" y="1581912"/>
            <a:ext cx="1133856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Owner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1064240" y="2011680"/>
            <a:ext cx="0" cy="3520440"/>
          </a:xfrm>
          <a:prstGeom prst="line">
            <a:avLst/>
          </a:prstGeom>
          <a:ln w="1524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97280" y="2267712"/>
            <a:ext cx="2491740" cy="0"/>
          </a:xfrm>
          <a:prstGeom prst="line">
            <a:avLst/>
          </a:prstGeom>
          <a:ln w="20320">
            <a:solidFill>
              <a:srgbClr val="1F6FE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207007" y="2011680"/>
            <a:ext cx="2272283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6FEB"/>
                </a:solidFill>
                <a:latin typeface="Arial"/>
              </a:rPr>
              <a:t>desired every/target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589020" y="2761488"/>
            <a:ext cx="2491740" cy="0"/>
          </a:xfrm>
          <a:prstGeom prst="line">
            <a:avLst/>
          </a:prstGeom>
          <a:ln w="20320">
            <a:solidFill>
              <a:srgbClr val="10B98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698748" y="2505456"/>
            <a:ext cx="2272284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B981"/>
                </a:solidFill>
                <a:latin typeface="Arial"/>
              </a:rPr>
              <a:t>scheduled wake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80760" y="3255264"/>
            <a:ext cx="2491740" cy="0"/>
          </a:xfrm>
          <a:prstGeom prst="line">
            <a:avLst/>
          </a:prstGeom>
          <a:ln w="20320">
            <a:solidFill>
              <a:srgbClr val="7C3AE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190488" y="2999232"/>
            <a:ext cx="2272283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C3AED"/>
                </a:solidFill>
                <a:latin typeface="Arial"/>
              </a:rPr>
              <a:t>HEARTBEAT.md + state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6080760" y="3749039"/>
            <a:ext cx="2491740" cy="0"/>
          </a:xfrm>
          <a:prstGeom prst="line">
            <a:avLst/>
          </a:prstGeom>
          <a:ln w="20320">
            <a:solidFill>
              <a:srgbClr val="F59E0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190488" y="3493007"/>
            <a:ext cx="2272283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59E0B"/>
                </a:solidFill>
                <a:latin typeface="Arial"/>
              </a:rPr>
              <a:t>attention or no-op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80760" y="4242816"/>
            <a:ext cx="4983480" cy="0"/>
          </a:xfrm>
          <a:prstGeom prst="line">
            <a:avLst/>
          </a:prstGeom>
          <a:ln w="20320">
            <a:solidFill>
              <a:srgbClr val="F46A5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190488" y="3986784"/>
            <a:ext cx="4764023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46A5A"/>
                </a:solidFill>
                <a:latin typeface="Arial"/>
              </a:rPr>
              <a:t>deliver only when needed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1097280" y="4736592"/>
            <a:ext cx="2491740" cy="0"/>
          </a:xfrm>
          <a:prstGeom prst="line">
            <a:avLst/>
          </a:prstGeom>
          <a:ln w="20320">
            <a:solidFill>
              <a:srgbClr val="1F6FE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207007" y="4480559"/>
            <a:ext cx="2272283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6FEB"/>
                </a:solidFill>
                <a:latin typeface="Arial"/>
              </a:rPr>
              <a:t>cooldown and next tick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heartbeat</a:t>
            </a:r>
          </a:p>
        </p:txBody>
      </p:sp>
    </p:spTree>
  </p:cSld>
  <p:clrMapOvr>
    <a:masterClrMapping/>
  </p:clrMapOvr>
  <p:transition spd="fast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MULTI-AGENT ISOLATION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One Gateway can host agents without sharing persona state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51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664208"/>
          <a:ext cx="10826496" cy="4370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3017520"/>
                <a:gridCol w="3017520"/>
                <a:gridCol w="3282696"/>
              </a:tblGrid>
              <a:tr h="624404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Boundary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Agent A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Agent B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Must never be implicit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Workspace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~/agents/research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~/agents/ops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Bootstrap files and durable notes are not shared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agentDir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~/.openclaw/agents/research/agent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~/.openclaw/agents/ops/agent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Auth profiles and model registry are per-agent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Session DB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research/openclaw-agent.sqlite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ops/openclaw-agent.sqlite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Transcripts and routing state remain separate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Binding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telegram/account=research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slack/account=ops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Inbound tuple selects exactly one agent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Tools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web read only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approved runtime controls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Global registration does not mean equal permission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Memory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research corpus/vault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operations corpus/vault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Cross-agent recall requires an explicit designed bridge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multi-agent routing</a:t>
            </a:r>
          </a:p>
        </p:txBody>
      </p:sp>
    </p:spTree>
  </p:cSld>
  <p:clrMapOvr>
    <a:masterClrMapping/>
  </p:clrMapOvr>
  <p:transition spd="fast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DELEGATION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A delegated run is a typed boundary, not a vague prompt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52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664208"/>
          <a:ext cx="10826496" cy="4370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3429000"/>
                <a:gridCol w="3154680"/>
                <a:gridCol w="2734056"/>
              </a:tblGrid>
              <a:tr h="624404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Field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Required value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Runtime check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Returned evidence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objective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single bounded deliverable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reject ambiguous multi-owner work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result or blocked reason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authority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explicit tools, data roots and network scope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effective policy + sandbox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tool calls and denials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session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new task/session identity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no ambient parent transcript inheritance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sessionKey/runId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budget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time, tokens, attempts and spend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cancel/timeout at threshold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usage and terminal state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completion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machine-testable acceptance predicate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verify before reporting success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test log / artifact hash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handoff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result, uncertainty, conflicts and next authority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parent synthesizes before side effect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structured final report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delegated-agent lifecycle and run event model</a:t>
            </a:r>
          </a:p>
        </p:txBody>
      </p:sp>
    </p:spTree>
  </p:cSld>
  <p:clrMapOvr>
    <a:masterClrMapping/>
  </p:clrMapOvr>
  <p:transition spd="fast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DELEGATE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Three patterns for specialist execution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53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664208"/>
          <a:ext cx="10826496" cy="4370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880360"/>
                <a:gridCol w="3108960"/>
                <a:gridCol w="2916936"/>
              </a:tblGrid>
              <a:tr h="874166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Pattern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Boundary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Strength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Trade-off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87416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Sub-agent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OpenClaw-owned delegated task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Integrated tools, events and return path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Shares OpenClaw runtime semantics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87416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ACP / external harness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Separate agent process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Independent specialist environment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Different state and tool contracts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87416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Swarm / code mode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Programmatic concurrent calls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High parallel throughput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Requires explicit aggregation and limits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87416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Agent send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Message to another configured agent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Durable role separation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Needs routing, ownership and loop controls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capabilities overview</a:t>
            </a:r>
          </a:p>
        </p:txBody>
      </p:sp>
    </p:spTree>
  </p:cSld>
  <p:clrMapOvr>
    <a:masterClrMapping/>
  </p:clrMapOvr>
  <p:transition spd="fast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ARCHITECTURE FAILURES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Diagnose the boundary that failed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54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627632"/>
            <a:ext cx="10826496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1865376"/>
            <a:ext cx="420624" cy="420624"/>
          </a:xfrm>
          <a:prstGeom prst="ellipse">
            <a:avLst/>
          </a:prstGeom>
          <a:solidFill>
            <a:srgbClr val="F46A5A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773936"/>
            <a:ext cx="2212848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SYMPTOM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020824"/>
            <a:ext cx="221284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Message never arrives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7" y="1773936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LIKELY CAUSE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7" y="2020824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Channel policy or account health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0448" y="1773936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0448" y="2020824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Channel logs; pairing; allowFrom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5008" y="1773936"/>
            <a:ext cx="31546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8" y="2020824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61B26"/>
                </a:solidFill>
                <a:latin typeface="Arial"/>
              </a:rPr>
              <a:t>Repair the channel boundary before touching the model.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706624"/>
            <a:ext cx="10826496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1248" y="2944368"/>
            <a:ext cx="420624" cy="420624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2852928"/>
            <a:ext cx="2212848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SYMPTOM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3099816"/>
            <a:ext cx="221284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Wrong conversation context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75887" y="2852928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LIKELY CAUSE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75887" y="3099816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Session scope or thread binding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70448" y="2852928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70448" y="3099816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Effective sessionKey and dmScope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5008" y="2852928"/>
            <a:ext cx="31546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RECOVERY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5008" y="3099816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61B26"/>
                </a:solidFill>
                <a:latin typeface="Arial"/>
              </a:rPr>
              <a:t>Correct routing; do not delete all transcripts.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3785615"/>
            <a:ext cx="10826496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1248" y="4023359"/>
            <a:ext cx="420624" cy="420624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3931920"/>
            <a:ext cx="2212848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SYMPTOM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4178807"/>
            <a:ext cx="221284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Tool is invisible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75887" y="3931920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LIKELY CAUSE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75887" y="4178807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Profile, deny policy, sandbox or plugin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70448" y="3931920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70448" y="4178807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openclaw sandbox explain; tool list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65008" y="3931920"/>
            <a:ext cx="31546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RECOVERY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65008" y="4178807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61B26"/>
                </a:solidFill>
                <a:latin typeface="Arial"/>
              </a:rPr>
              <a:t>Fix the narrowest gate that should allow it.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4864607"/>
            <a:ext cx="10826496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41248" y="5102351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5010912"/>
            <a:ext cx="2212848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SYMPTOM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17320" y="5257799"/>
            <a:ext cx="221284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Context overflows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75887" y="5010912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LIKELY CAUSE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75887" y="5257799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Large history or tool results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70448" y="5010912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CHECK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70448" y="5257799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/status; compaction logs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65008" y="5010912"/>
            <a:ext cx="31546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RECOVERY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65008" y="5257799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61B26"/>
                </a:solidFill>
                <a:latin typeface="Arial"/>
              </a:rPr>
              <a:t>Compact, prune or start a clean task session.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troubleshooting, agent loop and sandbox guidance</a:t>
            </a:r>
          </a:p>
        </p:txBody>
      </p:sp>
    </p:spTree>
  </p:cSld>
  <p:clrMapOvr>
    <a:masterClrMapping/>
  </p:clrMapOvr>
  <p:transition spd="fast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Choose the failure boundary before the hardware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55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682496"/>
            <a:ext cx="5285232" cy="4187952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20240"/>
            <a:ext cx="470001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5B6372"/>
                </a:solidFill>
                <a:latin typeface="Arial"/>
              </a:rPr>
              <a:t>Local / container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2651760"/>
            <a:ext cx="310896" cy="310896"/>
          </a:xfrm>
          <a:prstGeom prst="ellipse">
            <a:avLst/>
          </a:prstGeom>
          <a:solidFill>
            <a:srgbClr val="5B6372"/>
          </a:solidFill>
          <a:ln>
            <a:solidFill>
              <a:srgbClr val="5B6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633472"/>
            <a:ext cx="4160520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1B26"/>
                </a:solidFill>
                <a:latin typeface="Arial"/>
              </a:rPr>
              <a:t>Fast learner feedback and simple rollback</a:t>
            </a:r>
          </a:p>
        </p:txBody>
      </p:sp>
      <p:sp>
        <p:nvSpPr>
          <p:cNvPr id="16" name="Oval 15"/>
          <p:cNvSpPr/>
          <p:nvPr/>
        </p:nvSpPr>
        <p:spPr>
          <a:xfrm>
            <a:off x="932688" y="3218688"/>
            <a:ext cx="310896" cy="310896"/>
          </a:xfrm>
          <a:prstGeom prst="ellipse">
            <a:avLst/>
          </a:prstGeom>
          <a:solidFill>
            <a:srgbClr val="5B6372"/>
          </a:solidFill>
          <a:ln>
            <a:solidFill>
              <a:srgbClr val="5B6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3200400"/>
            <a:ext cx="4160520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1B26"/>
                </a:solidFill>
                <a:latin typeface="Arial"/>
              </a:rPr>
              <a:t>Direct access to selected local files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3785615"/>
            <a:ext cx="310896" cy="310896"/>
          </a:xfrm>
          <a:prstGeom prst="ellipse">
            <a:avLst/>
          </a:prstGeom>
          <a:solidFill>
            <a:srgbClr val="5B6372"/>
          </a:solidFill>
          <a:ln>
            <a:solidFill>
              <a:srgbClr val="5B6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67328"/>
            <a:ext cx="4160520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1B26"/>
                </a:solidFill>
                <a:latin typeface="Arial"/>
              </a:rPr>
              <a:t>Stops when the device sleeps or disconnects</a:t>
            </a:r>
          </a:p>
        </p:txBody>
      </p:sp>
      <p:sp>
        <p:nvSpPr>
          <p:cNvPr id="20" name="Oval 19"/>
          <p:cNvSpPr/>
          <p:nvPr/>
        </p:nvSpPr>
        <p:spPr>
          <a:xfrm>
            <a:off x="932688" y="4352544"/>
            <a:ext cx="310896" cy="310896"/>
          </a:xfrm>
          <a:prstGeom prst="ellipse">
            <a:avLst/>
          </a:prstGeom>
          <a:solidFill>
            <a:srgbClr val="5B6372"/>
          </a:solidFill>
          <a:ln>
            <a:solidFill>
              <a:srgbClr val="5B6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4334256"/>
            <a:ext cx="4160520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1B26"/>
                </a:solidFill>
                <a:latin typeface="Arial"/>
              </a:rPr>
              <a:t>Daily-use device may enlarge the blast radius</a:t>
            </a:r>
          </a:p>
        </p:txBody>
      </p:sp>
      <p:sp>
        <p:nvSpPr>
          <p:cNvPr id="22" name="Oval 21"/>
          <p:cNvSpPr/>
          <p:nvPr/>
        </p:nvSpPr>
        <p:spPr>
          <a:xfrm>
            <a:off x="932688" y="4919472"/>
            <a:ext cx="310896" cy="310896"/>
          </a:xfrm>
          <a:prstGeom prst="ellipse">
            <a:avLst/>
          </a:prstGeom>
          <a:solidFill>
            <a:srgbClr val="5B6372"/>
          </a:solidFill>
          <a:ln>
            <a:solidFill>
              <a:srgbClr val="5B6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4901184"/>
            <a:ext cx="4160520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1B26"/>
                </a:solidFill>
                <a:latin typeface="Arial"/>
              </a:rPr>
              <a:t>Best for controlled labs and pilots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54496" y="1682496"/>
            <a:ext cx="5285232" cy="4187952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28816" y="1920240"/>
            <a:ext cx="470001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0B981"/>
                </a:solidFill>
                <a:latin typeface="Arial"/>
              </a:rPr>
              <a:t>Dedicated VPS / host</a:t>
            </a:r>
          </a:p>
        </p:txBody>
      </p:sp>
      <p:sp>
        <p:nvSpPr>
          <p:cNvPr id="26" name="Oval 25"/>
          <p:cNvSpPr/>
          <p:nvPr/>
        </p:nvSpPr>
        <p:spPr>
          <a:xfrm>
            <a:off x="6547104" y="2651760"/>
            <a:ext cx="310896" cy="31089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04304" y="2633472"/>
            <a:ext cx="4160520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1B26"/>
                </a:solidFill>
                <a:latin typeface="Arial"/>
              </a:rPr>
              <a:t>Always-on channels, cron and heartbeat</a:t>
            </a:r>
          </a:p>
        </p:txBody>
      </p:sp>
      <p:sp>
        <p:nvSpPr>
          <p:cNvPr id="28" name="Oval 27"/>
          <p:cNvSpPr/>
          <p:nvPr/>
        </p:nvSpPr>
        <p:spPr>
          <a:xfrm>
            <a:off x="6547104" y="3218688"/>
            <a:ext cx="310896" cy="31089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04304" y="3200400"/>
            <a:ext cx="4160520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1B26"/>
                </a:solidFill>
                <a:latin typeface="Arial"/>
              </a:rPr>
              <a:t>Cleaner service identity and network boundary</a:t>
            </a:r>
          </a:p>
        </p:txBody>
      </p:sp>
      <p:sp>
        <p:nvSpPr>
          <p:cNvPr id="30" name="Oval 29"/>
          <p:cNvSpPr/>
          <p:nvPr/>
        </p:nvSpPr>
        <p:spPr>
          <a:xfrm>
            <a:off x="6547104" y="3785615"/>
            <a:ext cx="310896" cy="31089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04304" y="3767328"/>
            <a:ext cx="4160520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1B26"/>
                </a:solidFill>
                <a:latin typeface="Arial"/>
              </a:rPr>
              <a:t>Requires patching, backup and monitoring</a:t>
            </a:r>
          </a:p>
        </p:txBody>
      </p:sp>
      <p:sp>
        <p:nvSpPr>
          <p:cNvPr id="32" name="Oval 31"/>
          <p:cNvSpPr/>
          <p:nvPr/>
        </p:nvSpPr>
        <p:spPr>
          <a:xfrm>
            <a:off x="6547104" y="4352544"/>
            <a:ext cx="310896" cy="31089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04304" y="4334256"/>
            <a:ext cx="4160520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1B26"/>
                </a:solidFill>
                <a:latin typeface="Arial"/>
              </a:rPr>
              <a:t>Remote access must be authenticated</a:t>
            </a:r>
          </a:p>
        </p:txBody>
      </p:sp>
      <p:sp>
        <p:nvSpPr>
          <p:cNvPr id="34" name="Oval 33"/>
          <p:cNvSpPr/>
          <p:nvPr/>
        </p:nvSpPr>
        <p:spPr>
          <a:xfrm>
            <a:off x="6547104" y="4919472"/>
            <a:ext cx="310896" cy="31089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04304" y="4901184"/>
            <a:ext cx="4160520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1B26"/>
                </a:solidFill>
                <a:latin typeface="Arial"/>
              </a:rPr>
              <a:t>Best for persistent governed workflows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install docs and supplied hosting guides</a:t>
            </a:r>
          </a:p>
        </p:txBody>
      </p:sp>
    </p:spTree>
  </p:cSld>
  <p:clrMapOvr>
    <a:masterClrMapping/>
  </p:clrMapOvr>
  <p:transition spd="fast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GATEWAY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Know the minimum operator commands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56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627632"/>
            <a:ext cx="6565392" cy="3621024"/>
          </a:xfrm>
          <a:prstGeom prst="roundRect">
            <a:avLst>
              <a:gd name="adj" fmla="val 12000"/>
            </a:avLst>
          </a:prstGeom>
          <a:solidFill>
            <a:srgbClr val="101826"/>
          </a:solidFill>
          <a:ln>
            <a:solidFill>
              <a:srgbClr val="101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65376"/>
            <a:ext cx="6089904" cy="31272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D8E3F0"/>
                </a:solidFill>
                <a:latin typeface="Consolas"/>
              </a:rPr>
              <a:t>openclaw gateway status
openclaw status
openclaw health
openclaw logs
openclaw doctor
openclaw doctor --fix
openclaw gateway restart
openclaw dashboard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79792" y="1627632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62672" y="1792224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737360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011680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Confirm the service and configured surfaces.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79792" y="2523744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662672" y="268833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633472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health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907791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Check operational readiness, not only the process.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79792" y="3419856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62672" y="3584448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529584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logs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803904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Find the first failing boundary and timestamp.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79792" y="4315968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62672" y="4480559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425696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doctor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700016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Validate config and apply supported repairs.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431536"/>
            <a:ext cx="5285232" cy="548640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5559552"/>
            <a:ext cx="89611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B981"/>
                </a:solidFill>
                <a:latin typeface="Arial"/>
              </a:rPr>
              <a:t>EXPECTED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00784" y="5504688"/>
            <a:ext cx="4023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61B26"/>
                </a:solidFill>
                <a:latin typeface="Arial"/>
              </a:rPr>
              <a:t>Gateway listens on 127.0.0.1:18789 and the dashboard opens.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2" y="5431536"/>
            <a:ext cx="5285232" cy="548640"/>
          </a:xfrm>
          <a:prstGeom prst="roundRect">
            <a:avLst>
              <a:gd name="adj" fmla="val 12000"/>
            </a:avLst>
          </a:prstGeom>
          <a:solidFill>
            <a:srgbClr val="FFF0EE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5559552"/>
            <a:ext cx="71323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6A5A"/>
                </a:solidFill>
                <a:latin typeface="Arial"/>
              </a:rPr>
              <a:t>IF NOT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9168" y="5504688"/>
            <a:ext cx="41605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0" b="1" i="0">
                <a:solidFill>
                  <a:srgbClr val="161B26"/>
                </a:solidFill>
                <a:latin typeface="Arial"/>
              </a:rPr>
              <a:t>If config is invalid, only diagnostics work; repair before restart loops.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getting started and Gateway configuration</a:t>
            </a:r>
          </a:p>
        </p:txBody>
      </p:sp>
    </p:spTree>
  </p:cSld>
  <p:clrMapOvr>
    <a:masterClrMapping/>
  </p:clrMapOvr>
  <p:transition spd="fast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TELEMETRY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Correlate RPC, session, model, tool and delivery data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57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664208"/>
          <a:ext cx="10826496" cy="4370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3429000"/>
                <a:gridCol w="3337560"/>
                <a:gridCol w="2642616"/>
              </a:tblGrid>
              <a:tr h="624404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Signal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Required attributes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Purpose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Redaction rule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Trace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traceparent, request id, runId, sessionKey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Follow one request across Gateway and tools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Never include tokens or message bodies in trace attributes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Protocol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method/event, seq, stateVersion, payload bytes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Detect gaps, stale snapshots and large frames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Record safe reason codes only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provider/model, input/output tokens, latency, fallback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Cost and reliability by route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No prompt/response content by default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Tool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toolCallId, tool name, args/result hashes, duration, status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Prove exact external action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Hash or classify sensitive arguments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Queue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acceptedAt, startedAt, endedAt, timeout/retry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Separate wait time from execution time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Session identifier may require pseudonymisation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Delivery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channel, destination class, message id, deliveredAt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Close end-to-end success SLO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Do not log full recipient secrets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Gateway protocol, logging, OpenTelemetry and Prometheus guidance</a:t>
            </a:r>
          </a:p>
        </p:txBody>
      </p:sp>
    </p:spTree>
  </p:cSld>
  <p:clrMapOvr>
    <a:masterClrMapping/>
  </p:clrMapOvr>
  <p:transition spd="fast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END-TO-END RUN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Correlate one request across every persisted boundary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58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664208"/>
          <a:ext cx="10826496" cy="4370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3154680"/>
                <a:gridCol w="3063240"/>
                <a:gridCol w="3191256"/>
              </a:tblGrid>
              <a:tr h="624404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Boundary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Example identifier / record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What it proves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Failure signal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Ingress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channel=telegram; peer=4721; event=evt_884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Authenticated event entered once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Duplicate or rejected event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Routing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agent=ops; sessionKey=telegram:4721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Correct identity and isolation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Wrong agent or shared context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Run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runId=run_01J; queue=main; attempt=1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Serialized lifecycle and retry count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Timeout or concurrent overlap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provider/model; input/output tokens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Effective route and usage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Auth, quota or fallback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Tool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toolCallId=call_77; argsHash; resultHash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Exact action and returned evidence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Denied, malformed or unsafe call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Delivery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destination; messageId; deliveredAt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Result reached the intended owner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No receipt or duplicate send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agent-loop lifecycle and Gateway event model</a:t>
            </a:r>
          </a:p>
        </p:txBody>
      </p:sp>
    </p:spTree>
  </p:cSld>
  <p:clrMapOvr>
    <a:masterClrMapping/>
  </p:clrMapOvr>
  <p:transition spd="fast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LAB REFERENCE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Every lab changes one boundary and verifies the whole path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59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627632"/>
            <a:ext cx="10826496" cy="932688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1627632"/>
            <a:ext cx="1737360" cy="932688"/>
          </a:xfrm>
          <a:prstGeom prst="roundRect">
            <a:avLst>
              <a:gd name="adj" fmla="val 12000"/>
            </a:avLst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1810512"/>
            <a:ext cx="1353312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Arial"/>
              </a:rPr>
              <a:t>Learner host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33472" y="1792224"/>
            <a:ext cx="1417319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06624" y="1938528"/>
            <a:ext cx="127101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Node.js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97096" y="1792224"/>
            <a:ext cx="1417319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0248" y="1938528"/>
            <a:ext cx="127101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OpenClaw CLI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19" y="1792224"/>
            <a:ext cx="1417319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33871" y="1938528"/>
            <a:ext cx="127101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24343" y="1792224"/>
            <a:ext cx="1417319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97495" y="1938528"/>
            <a:ext cx="127101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SSH tunnel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1801368"/>
            <a:ext cx="2231136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B6372"/>
                </a:solidFill>
                <a:latin typeface="Arial"/>
              </a:rPr>
              <a:t>Owns the Gateway process and local evidence.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2724912"/>
            <a:ext cx="10826496" cy="932688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2724912"/>
            <a:ext cx="1737360" cy="932688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2907792"/>
            <a:ext cx="1353312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Arial"/>
              </a:rPr>
              <a:t>Gateway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33472" y="2889504"/>
            <a:ext cx="1417319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06624" y="3035808"/>
            <a:ext cx="127101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127.0.0.1:18789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97096" y="2889504"/>
            <a:ext cx="1417319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70248" y="3035808"/>
            <a:ext cx="127101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Config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0719" y="2889504"/>
            <a:ext cx="1417319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33871" y="3035808"/>
            <a:ext cx="127101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Sessions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24343" y="2889504"/>
            <a:ext cx="1417319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97495" y="3035808"/>
            <a:ext cx="127101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Scheduler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79408" y="2898648"/>
            <a:ext cx="2231136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B6372"/>
                </a:solidFill>
                <a:latin typeface="Arial"/>
              </a:rPr>
              <a:t>Must remain healthy before each lab change.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3822191"/>
            <a:ext cx="10826496" cy="932688"/>
          </a:xfrm>
          <a:prstGeom prst="roundRect">
            <a:avLst>
              <a:gd name="adj" fmla="val 12000"/>
            </a:avLst>
          </a:prstGeom>
          <a:solidFill>
            <a:srgbClr val="F2EC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822191"/>
            <a:ext cx="1737360" cy="932688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" y="4005072"/>
            <a:ext cx="1353312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Arial"/>
              </a:rPr>
              <a:t>Providers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633472" y="3986783"/>
            <a:ext cx="1417319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06624" y="4133087"/>
            <a:ext cx="127101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Model API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97096" y="3986783"/>
            <a:ext cx="1417319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70248" y="4133087"/>
            <a:ext cx="127101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Telegram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760719" y="3986783"/>
            <a:ext cx="1417319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33871" y="4133087"/>
            <a:ext cx="127101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WhatsApp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24343" y="3986783"/>
            <a:ext cx="1417319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97495" y="4133087"/>
            <a:ext cx="127101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Tool API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79408" y="3995928"/>
            <a:ext cx="2231136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B6372"/>
                </a:solidFill>
                <a:latin typeface="Arial"/>
              </a:rPr>
              <a:t>Each credential and sender policy is scoped.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8368" y="4919472"/>
            <a:ext cx="10826496" cy="932688"/>
          </a:xfrm>
          <a:prstGeom prst="roundRect">
            <a:avLst>
              <a:gd name="adj" fmla="val 12000"/>
            </a:avLst>
          </a:prstGeom>
          <a:solidFill>
            <a:srgbClr val="FFF6E6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58368" y="4919472"/>
            <a:ext cx="1737360" cy="932688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1248" y="5102352"/>
            <a:ext cx="1353312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Arial"/>
              </a:rPr>
              <a:t>Acceptance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633472" y="5084064"/>
            <a:ext cx="1417319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06624" y="5230368"/>
            <a:ext cx="127101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Command output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197096" y="5084064"/>
            <a:ext cx="1417319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70248" y="5230368"/>
            <a:ext cx="127101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Log event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760719" y="5084064"/>
            <a:ext cx="1417319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833871" y="5230368"/>
            <a:ext cx="127101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Expected result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24343" y="5084064"/>
            <a:ext cx="1417319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97495" y="5230368"/>
            <a:ext cx="127101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Recovery test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79408" y="5093208"/>
            <a:ext cx="2231136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B6372"/>
                </a:solidFill>
                <a:latin typeface="Arial"/>
              </a:rPr>
              <a:t>A lab passes only when all four agree.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installation, channels, tools and troubleshooting documentation</a:t>
            </a:r>
          </a:p>
        </p:txBody>
      </p:sp>
    </p:spTree>
  </p:cSld>
  <p:clrMapOvr>
    <a:masterClrMapping/>
  </p:clrMapOvr>
  <p:transition spd="med">
    <p:push dir="l"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INTEGRATION TEST LADDER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Each lab must preserve every lower-layer invariant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60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664208"/>
          <a:ext cx="10826496" cy="4370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3611880"/>
                <a:gridCol w="3474720"/>
                <a:gridCol w="2322576"/>
              </a:tblGrid>
              <a:tr h="624404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Layer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Command / probe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Pass condition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Evidence retained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Process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openclaw gateway status --deep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one intended supervisor and PID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status JSON / service owner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RPC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openclaw gateway status --require-rpc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authenticated read-scope RPC succeeds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hello/health snapshot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openclaw channels status --probe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live account probe and sender policy pass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account probe result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Session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openclaw sessions tail --session-key &lt;key&gt;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event reaches intended isolated key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sessionKey + transcript event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Capability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openclaw sandbox explain --agent &lt;id&gt; --json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effective tools match lab design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policy provenance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Outcome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lab-specific acceptance + controlled failure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result and recovery both observable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artifact hash + diagnostic log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Gateway, channels, sessions and sandbox diagnostics</a:t>
            </a:r>
          </a:p>
        </p:txBody>
      </p:sp>
    </p:spTree>
  </p:cSld>
  <p:clrMapOvr>
    <a:masterClrMapping/>
  </p:clrMapOvr>
  <p:transition spd="fast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LAB 1 -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OpenClaw hosting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60704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372"/>
                </a:solidFill>
                <a:latin typeface="Arial"/>
              </a:rPr>
              <a:t>Architecture decision, operating boundary and acceptance evidence</a:t>
            </a:r>
          </a:p>
        </p:txBody>
      </p:sp>
      <p:sp>
        <p:nvSpPr>
          <p:cNvPr id="6" name="Oval 5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61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" y="1755648"/>
            <a:ext cx="5381244" cy="2020824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5216" y="1755648"/>
            <a:ext cx="73152" cy="202082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1938528"/>
            <a:ext cx="49880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Runtime prerequisite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2414015"/>
            <a:ext cx="4988052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Use a supported Node.js release and a regular user with controlled administrative access.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2492" y="1755648"/>
            <a:ext cx="5381244" cy="2020824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22492" y="1755648"/>
            <a:ext cx="73152" cy="202082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1092" y="1938528"/>
            <a:ext cx="49880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Local 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1092" y="2414015"/>
            <a:ext cx="4988052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Fast for learning; the Gateway stops with the machine and may inherit local risk.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" y="4014215"/>
            <a:ext cx="5381244" cy="2020824"/>
          </a:xfrm>
          <a:prstGeom prst="roundRect">
            <a:avLst>
              <a:gd name="adj" fmla="val 12000"/>
            </a:avLst>
          </a:prstGeom>
          <a:solidFill>
            <a:srgbClr val="F2EC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5216" y="4014215"/>
            <a:ext cx="73152" cy="202082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4197096"/>
            <a:ext cx="49880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VPS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" y="4672583"/>
            <a:ext cx="4988052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Always-on service boundary; requires SSH hardening, patching, backup and private remote access.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22492" y="4014215"/>
            <a:ext cx="5381244" cy="2020824"/>
          </a:xfrm>
          <a:prstGeom prst="roundRect">
            <a:avLst>
              <a:gd name="adj" fmla="val 12000"/>
            </a:avLst>
          </a:prstGeom>
          <a:solidFill>
            <a:srgbClr val="FFF6E6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22492" y="4014215"/>
            <a:ext cx="73152" cy="202082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51092" y="4197096"/>
            <a:ext cx="49880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1092" y="4672583"/>
            <a:ext cx="4988052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Gateway process, port 18789, health, Control UI and first response all succeed.</a:t>
            </a:r>
          </a:p>
        </p:txBody>
      </p:sp>
    </p:spTree>
  </p:cSld>
  <p:clrMapOvr>
    <a:masterClrMapping/>
  </p:clrMapOvr>
  <p:transition spd="fast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LAB 1 - CONFIGURE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OpenClaw hosting: core commands and configuration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62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627632"/>
            <a:ext cx="6565392" cy="3621024"/>
          </a:xfrm>
          <a:prstGeom prst="roundRect">
            <a:avLst>
              <a:gd name="adj" fmla="val 12000"/>
            </a:avLst>
          </a:prstGeom>
          <a:solidFill>
            <a:srgbClr val="101826"/>
          </a:solidFill>
          <a:ln>
            <a:solidFill>
              <a:srgbClr val="101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65376"/>
            <a:ext cx="6089904" cy="31272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D8E3F0"/>
                </a:solidFill>
                <a:latin typeface="Consolas"/>
              </a:rPr>
              <a:t>node --version
curl -fsSL https://openclaw.ai/install.sh | bash
openclaw configure
openclaw gateway status
openclaw health
openclaw dashboard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79792" y="1627632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62672" y="1792224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737360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Runtime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011680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Confirm a supported Node.js version.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79792" y="2523744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662672" y="268833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633472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Install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907791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Use the official installer in the learner host.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79792" y="3419856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62672" y="3584448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529584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Configure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803904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Select model auth and Gateway defaults.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79792" y="4315968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62672" y="4480559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425696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Verify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700016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Status, health and dashboard must agree.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431536"/>
            <a:ext cx="5285232" cy="548640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5559552"/>
            <a:ext cx="89611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B981"/>
                </a:solidFill>
                <a:latin typeface="Arial"/>
              </a:rPr>
              <a:t>EXPECTED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00784" y="5504688"/>
            <a:ext cx="4023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61B26"/>
                </a:solidFill>
                <a:latin typeface="Arial"/>
              </a:rPr>
              <a:t>Gateway is listening on 127.0.0.1:18789 and Control UI responds.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2" y="5431536"/>
            <a:ext cx="5285232" cy="548640"/>
          </a:xfrm>
          <a:prstGeom prst="roundRect">
            <a:avLst>
              <a:gd name="adj" fmla="val 12000"/>
            </a:avLst>
          </a:prstGeom>
          <a:solidFill>
            <a:srgbClr val="FFF0EE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5559552"/>
            <a:ext cx="71323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6A5A"/>
                </a:solidFill>
                <a:latin typeface="Arial"/>
              </a:rPr>
              <a:t>IF NOT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9168" y="5504688"/>
            <a:ext cx="41605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0" b="1" i="0">
                <a:solidFill>
                  <a:srgbClr val="161B26"/>
                </a:solidFill>
                <a:latin typeface="Arial"/>
              </a:rPr>
              <a:t>Use logs and doctor before reinstalling or changing ports.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OpenClaw docs plus the aligned learner lab</a:t>
            </a:r>
          </a:p>
        </p:txBody>
      </p:sp>
    </p:spTree>
  </p:cSld>
  <p:clrMapOvr>
    <a:masterClrMapping/>
  </p:clrMapOvr>
  <p:transition spd="fast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LAB 1 -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OpenClaw hosting: diagnose before changing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63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627632"/>
            <a:ext cx="10826496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1865376"/>
            <a:ext cx="420624" cy="420624"/>
          </a:xfrm>
          <a:prstGeom prst="ellipse">
            <a:avLst/>
          </a:prstGeom>
          <a:solidFill>
            <a:srgbClr val="F46A5A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773936"/>
            <a:ext cx="2212848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SYMPTOM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020824"/>
            <a:ext cx="221284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command not found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7" y="1773936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LIKELY CAUSE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7" y="2020824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Installer path not in the shell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0448" y="1773936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0448" y="2020824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which openclaw; shell profile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5008" y="1773936"/>
            <a:ext cx="31546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8" y="2020824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61B26"/>
                </a:solidFill>
                <a:latin typeface="Arial"/>
              </a:rPr>
              <a:t>Reload the profile or use the installed absolute path.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706624"/>
            <a:ext cx="10826496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1248" y="2944368"/>
            <a:ext cx="420624" cy="420624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2852928"/>
            <a:ext cx="2212848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SYMPTOM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3099816"/>
            <a:ext cx="221284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Gateway not running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75887" y="2852928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LIKELY CAUSE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75887" y="3099816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Invalid config or service failure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70448" y="2852928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70448" y="3099816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openclaw doctor; openclaw logs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5008" y="2852928"/>
            <a:ext cx="31546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RECOVERY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5008" y="3099816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61B26"/>
                </a:solidFill>
                <a:latin typeface="Arial"/>
              </a:rPr>
              <a:t>Repair schema or service issue, then restart once.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3785615"/>
            <a:ext cx="10826496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1248" y="4023359"/>
            <a:ext cx="420624" cy="420624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3931920"/>
            <a:ext cx="2212848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SYMPTOM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4178807"/>
            <a:ext cx="221284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Dashboard unreachable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75887" y="3931920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LIKELY CAUSE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75887" y="4178807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Wrong bind, port or tunnel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70448" y="3931920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70448" y="4178807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gateway status; listening socket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65008" y="3931920"/>
            <a:ext cx="31546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RECOVERY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65008" y="4178807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61B26"/>
                </a:solidFill>
                <a:latin typeface="Arial"/>
              </a:rPr>
              <a:t>Use local URL or an authenticated SSH/Tailscale path.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aligned lab acceptance criteria</a:t>
            </a:r>
          </a:p>
        </p:txBody>
      </p:sp>
    </p:spTree>
  </p:cSld>
  <p:clrMapOvr>
    <a:masterClrMapping/>
  </p:clrMapOvr>
  <p:transition spd="fast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LAB 2 -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Model provider and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60704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372"/>
                </a:solidFill>
                <a:latin typeface="Arial"/>
              </a:rPr>
              <a:t>Architecture decision, operating boundary and acceptance evidence</a:t>
            </a:r>
          </a:p>
        </p:txBody>
      </p:sp>
      <p:sp>
        <p:nvSpPr>
          <p:cNvPr id="6" name="Oval 5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64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" y="1755648"/>
            <a:ext cx="5381244" cy="2020824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5216" y="1755648"/>
            <a:ext cx="73152" cy="202082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1938528"/>
            <a:ext cx="49880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Provider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2414015"/>
            <a:ext cx="4988052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Supplies model authentication, availability, rate limits and billing.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2492" y="1755648"/>
            <a:ext cx="5381244" cy="2020824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22492" y="1755648"/>
            <a:ext cx="73152" cy="202082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1092" y="1938528"/>
            <a:ext cx="49880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Model ref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1092" y="2414015"/>
            <a:ext cx="4988052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Use provider/model identifiers and aliases; an alias does not restrict overrides.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" y="4014215"/>
            <a:ext cx="5381244" cy="2020824"/>
          </a:xfrm>
          <a:prstGeom prst="roundRect">
            <a:avLst>
              <a:gd name="adj" fmla="val 12000"/>
            </a:avLst>
          </a:prstGeom>
          <a:solidFill>
            <a:srgbClr val="F2EC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5216" y="4014215"/>
            <a:ext cx="73152" cy="202082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4197096"/>
            <a:ext cx="49880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Fallback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" y="4672583"/>
            <a:ext cx="4988052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Choose a second route for outage or quota, then test behavioural differences.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22492" y="4014215"/>
            <a:ext cx="5381244" cy="2020824"/>
          </a:xfrm>
          <a:prstGeom prst="roundRect">
            <a:avLst>
              <a:gd name="adj" fmla="val 12000"/>
            </a:avLst>
          </a:prstGeom>
          <a:solidFill>
            <a:srgbClr val="FFF6E6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22492" y="4014215"/>
            <a:ext cx="73152" cy="202082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51092" y="4197096"/>
            <a:ext cx="49880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1092" y="4672583"/>
            <a:ext cx="4988052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The intended model answers, tool calling works and usage metadata identifies the route.</a:t>
            </a:r>
          </a:p>
        </p:txBody>
      </p:sp>
    </p:spTree>
  </p:cSld>
  <p:clrMapOvr>
    <a:masterClrMapping/>
  </p:clrMapOvr>
  <p:transition spd="fast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LAB 2 - CONFIGURE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Model provider and routing: core commands and configuration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65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627632"/>
            <a:ext cx="6565392" cy="3621024"/>
          </a:xfrm>
          <a:prstGeom prst="roundRect">
            <a:avLst>
              <a:gd name="adj" fmla="val 12000"/>
            </a:avLst>
          </a:prstGeom>
          <a:solidFill>
            <a:srgbClr val="101826"/>
          </a:solidFill>
          <a:ln>
            <a:solidFill>
              <a:srgbClr val="101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65376"/>
            <a:ext cx="6089904" cy="31272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D8E3F0"/>
                </a:solidFill>
                <a:latin typeface="Consolas"/>
              </a:rPr>
              <a:t>{
  agents: {
    defaults: {
      model: {
        primary: "openai/gpt-5.4",
        fallbacks: ["anthropic/claude-sonnet-4-6"]
      },
      models: {
        "openai/gpt-5.4": { alias: "GPT" }
      }
    }
  }
}
openclaw status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79792" y="1627632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62672" y="1792224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737360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Primary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011680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Default route for the main agent.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79792" y="2523744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662672" y="268833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633472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907791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Alternate provider/model when needed.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79792" y="3419856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62672" y="3584448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529584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Alias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803904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Human-friendly selector, not an allowlist.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79792" y="4315968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62672" y="4480559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425696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Status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700016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Confirm the effective model and auth profile.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431536"/>
            <a:ext cx="5285232" cy="548640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5559552"/>
            <a:ext cx="89611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B981"/>
                </a:solidFill>
                <a:latin typeface="Arial"/>
              </a:rPr>
              <a:t>EXPECTED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00784" y="5504688"/>
            <a:ext cx="4023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61B26"/>
                </a:solidFill>
                <a:latin typeface="Arial"/>
              </a:rPr>
              <a:t>A controlled prompt returns through the configured primary route.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2" y="5431536"/>
            <a:ext cx="5285232" cy="548640"/>
          </a:xfrm>
          <a:prstGeom prst="roundRect">
            <a:avLst>
              <a:gd name="adj" fmla="val 12000"/>
            </a:avLst>
          </a:prstGeom>
          <a:solidFill>
            <a:srgbClr val="FFF0EE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5559552"/>
            <a:ext cx="71323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6A5A"/>
                </a:solidFill>
                <a:latin typeface="Arial"/>
              </a:rPr>
              <a:t>IF NOT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9168" y="5504688"/>
            <a:ext cx="41605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0" b="1" i="0">
                <a:solidFill>
                  <a:srgbClr val="161B26"/>
                </a:solidFill>
                <a:latin typeface="Arial"/>
              </a:rPr>
              <a:t>Separate auth failure, model name error, quota and provider outage.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OpenClaw docs plus the aligned learner lab</a:t>
            </a:r>
          </a:p>
        </p:txBody>
      </p:sp>
    </p:spTree>
  </p:cSld>
  <p:clrMapOvr>
    <a:masterClrMapping/>
  </p:clrMapOvr>
  <p:transition spd="fast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LAB 2 -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Model provider and routing: diagnose before changing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66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627632"/>
            <a:ext cx="10826496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1865376"/>
            <a:ext cx="420624" cy="420624"/>
          </a:xfrm>
          <a:prstGeom prst="ellipse">
            <a:avLst/>
          </a:prstGeom>
          <a:solidFill>
            <a:srgbClr val="F46A5A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773936"/>
            <a:ext cx="2212848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SYMPTOM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020824"/>
            <a:ext cx="221284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401 / auth error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7" y="1773936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LIKELY CAUSE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7" y="2020824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Missing or invalid provider credential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0448" y="1773936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0448" y="2020824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auth profile and secret 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5008" y="1773936"/>
            <a:ext cx="31546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8" y="2020824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61B26"/>
                </a:solidFill>
                <a:latin typeface="Arial"/>
              </a:rPr>
              <a:t>Re-authenticate without placing the key in chat or Git.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706624"/>
            <a:ext cx="10826496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1248" y="2944368"/>
            <a:ext cx="420624" cy="420624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2852928"/>
            <a:ext cx="2212848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SYMPTOM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3099816"/>
            <a:ext cx="221284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model not found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75887" y="2852928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LIKELY CAUSE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75887" y="3099816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Invalid provider/model reference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70448" y="2852928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70448" y="3099816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models list and config schema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5008" y="2852928"/>
            <a:ext cx="31546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RECOVERY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5008" y="3099816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61B26"/>
                </a:solidFill>
                <a:latin typeface="Arial"/>
              </a:rPr>
              <a:t>Use the canonical model ref and restart only if required.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3785615"/>
            <a:ext cx="10826496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1248" y="4023359"/>
            <a:ext cx="420624" cy="420624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3931920"/>
            <a:ext cx="2212848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SYMPTOM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4178807"/>
            <a:ext cx="221284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weak tool use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75887" y="3931920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LIKELY CAUSE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75887" y="4178807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Model/task mismatch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70448" y="3931920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70448" y="4178807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trace the tool call and retry pattern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65008" y="3931920"/>
            <a:ext cx="31546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RECOVERY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65008" y="4178807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61B26"/>
                </a:solidFill>
                <a:latin typeface="Arial"/>
              </a:rPr>
              <a:t>Route this role to a more reliable tool-using model.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aligned lab acceptance criteria</a:t>
            </a:r>
          </a:p>
        </p:txBody>
      </p:sp>
    </p:spTree>
  </p:cSld>
  <p:clrMapOvr>
    <a:masterClrMapping/>
  </p:clrMapOvr>
  <p:transition spd="fast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LAB 3 -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Telegram and WhatsApp channels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60704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372"/>
                </a:solidFill>
                <a:latin typeface="Arial"/>
              </a:rPr>
              <a:t>Architecture decision, operating boundary and acceptance evidence</a:t>
            </a:r>
          </a:p>
        </p:txBody>
      </p:sp>
      <p:sp>
        <p:nvSpPr>
          <p:cNvPr id="6" name="Oval 5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67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" y="1755648"/>
            <a:ext cx="5381244" cy="2020824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5216" y="1755648"/>
            <a:ext cx="73152" cy="202082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1938528"/>
            <a:ext cx="49880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Connection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2414015"/>
            <a:ext cx="4988052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Telegram uses a bot token; WhatsApp maintains one Gateway-owned session per host.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2492" y="1755648"/>
            <a:ext cx="5381244" cy="2020824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22492" y="1755648"/>
            <a:ext cx="73152" cy="202082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1092" y="1938528"/>
            <a:ext cx="49880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Sender policy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1092" y="2414015"/>
            <a:ext cx="4988052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Pairing or allowlists prevent unknown users from gaining agent access.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" y="4014215"/>
            <a:ext cx="5381244" cy="2020824"/>
          </a:xfrm>
          <a:prstGeom prst="roundRect">
            <a:avLst>
              <a:gd name="adj" fmla="val 12000"/>
            </a:avLst>
          </a:prstGeom>
          <a:solidFill>
            <a:srgbClr val="F2EC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5216" y="4014215"/>
            <a:ext cx="73152" cy="202082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4197096"/>
            <a:ext cx="49880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Group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" y="4672583"/>
            <a:ext cx="4988052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Require mentions and define allowed groups so ambient conversation is not a trigger.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22492" y="4014215"/>
            <a:ext cx="5381244" cy="2020824"/>
          </a:xfrm>
          <a:prstGeom prst="roundRect">
            <a:avLst>
              <a:gd name="adj" fmla="val 12000"/>
            </a:avLst>
          </a:prstGeom>
          <a:solidFill>
            <a:srgbClr val="FFF6E6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22492" y="4014215"/>
            <a:ext cx="73152" cy="202082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51092" y="4197096"/>
            <a:ext cx="49880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1092" y="4672583"/>
            <a:ext cx="4988052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An approved sender reaches the intended session and receives one correctly routed reply.</a:t>
            </a:r>
          </a:p>
        </p:txBody>
      </p:sp>
    </p:spTree>
  </p:cSld>
  <p:clrMapOvr>
    <a:masterClrMapping/>
  </p:clrMapOvr>
  <p:transition spd="fast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LAB 3 - CONFIGURE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Telegram and WhatsApp channels: core commands and configuration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68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627632"/>
            <a:ext cx="6565392" cy="3621024"/>
          </a:xfrm>
          <a:prstGeom prst="roundRect">
            <a:avLst>
              <a:gd name="adj" fmla="val 12000"/>
            </a:avLst>
          </a:prstGeom>
          <a:solidFill>
            <a:srgbClr val="101826"/>
          </a:solidFill>
          <a:ln>
            <a:solidFill>
              <a:srgbClr val="101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65376"/>
            <a:ext cx="6089904" cy="31272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D8E3F0"/>
                </a:solidFill>
                <a:latin typeface="Consolas"/>
              </a:rPr>
              <a:t>{
  channels: {
    telegram: {
      enabled: true,
      botToken: "${TELEGRAM_BOT_TOKEN}",
      dmPolicy: "pairing",
      groups: { "*": { requireMention: true } }
    },
    whatsapp: { dmPolicy: "allowlist" }
  },
  session: { dmScope: "per-channel-peer" }
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79792" y="1627632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62672" y="1792224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737360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Token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011680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Inject from a protected environment.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79792" y="2523744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662672" y="268833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633472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Pairing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907791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Approve unknown Telegram users once.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79792" y="3419856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62672" y="3584448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529584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Mention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803904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Limit noisy group triggers.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79792" y="4315968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62672" y="4480559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425696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700016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Isolate each channel-peer conversation.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431536"/>
            <a:ext cx="5285232" cy="548640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5559552"/>
            <a:ext cx="89611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B981"/>
                </a:solidFill>
                <a:latin typeface="Arial"/>
              </a:rPr>
              <a:t>EXPECTED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00784" y="5504688"/>
            <a:ext cx="4023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61B26"/>
                </a:solidFill>
                <a:latin typeface="Arial"/>
              </a:rPr>
              <a:t>Approved DM and mentioned group messages route to separate sessions.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2" y="5431536"/>
            <a:ext cx="5285232" cy="548640"/>
          </a:xfrm>
          <a:prstGeom prst="roundRect">
            <a:avLst>
              <a:gd name="adj" fmla="val 12000"/>
            </a:avLst>
          </a:prstGeom>
          <a:solidFill>
            <a:srgbClr val="FFF0EE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5559552"/>
            <a:ext cx="71323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6A5A"/>
                </a:solidFill>
                <a:latin typeface="Arial"/>
              </a:rPr>
              <a:t>IF NOT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9168" y="5504688"/>
            <a:ext cx="41605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0" b="1" i="0">
                <a:solidFill>
                  <a:srgbClr val="161B26"/>
                </a:solidFill>
                <a:latin typeface="Arial"/>
              </a:rPr>
              <a:t>Check account health, sender policy, mention gate and session key.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OpenClaw docs plus the aligned learner lab</a:t>
            </a:r>
          </a:p>
        </p:txBody>
      </p:sp>
    </p:spTree>
  </p:cSld>
  <p:clrMapOvr>
    <a:masterClrMapping/>
  </p:clrMapOvr>
  <p:transition spd="fast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LAB 3 -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Telegram and WhatsApp channels: diagnose before changing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69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627632"/>
            <a:ext cx="10826496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1865376"/>
            <a:ext cx="420624" cy="420624"/>
          </a:xfrm>
          <a:prstGeom prst="ellipse">
            <a:avLst/>
          </a:prstGeom>
          <a:solidFill>
            <a:srgbClr val="F46A5A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773936"/>
            <a:ext cx="2212848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SYMPTOM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020824"/>
            <a:ext cx="221284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no 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7" y="1773936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LIKELY CAUSE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7" y="2020824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Sender is unpaired or blocked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0448" y="1773936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0448" y="2020824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channel log and pairing 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5008" y="1773936"/>
            <a:ext cx="31546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8" y="2020824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61B26"/>
                </a:solidFill>
                <a:latin typeface="Arial"/>
              </a:rPr>
              <a:t>Approve the correct identity or update the allowlist.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706624"/>
            <a:ext cx="10826496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1248" y="2944368"/>
            <a:ext cx="420624" cy="420624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2852928"/>
            <a:ext cx="2212848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SYMPTOM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3099816"/>
            <a:ext cx="221284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group is silent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75887" y="2852928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LIKELY CAUSE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75887" y="3099816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Mention required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70448" y="2852928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70448" y="3099816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message metadata and mentionPatterns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5008" y="2852928"/>
            <a:ext cx="31546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RECOVERY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5008" y="3099816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61B26"/>
                </a:solidFill>
                <a:latin typeface="Arial"/>
              </a:rPr>
              <a:t>Mention the agent or change policy deliberately.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3785615"/>
            <a:ext cx="10826496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1248" y="4023359"/>
            <a:ext cx="420624" cy="420624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3931920"/>
            <a:ext cx="2212848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SYMPTOM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4178807"/>
            <a:ext cx="221284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users share context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75887" y="3931920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LIKELY CAUSE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75887" y="4178807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dmScope too broad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70448" y="3931920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70448" y="4178807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effective session keys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65008" y="3931920"/>
            <a:ext cx="31546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RECOVERY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65008" y="4178807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61B26"/>
                </a:solidFill>
                <a:latin typeface="Arial"/>
              </a:rPr>
              <a:t>Use per-channel-peer or stricter scope.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aligned lab acceptance criteria</a:t>
            </a:r>
          </a:p>
        </p:txBody>
      </p:sp>
    </p:spTree>
  </p:cSld>
  <p:clrMapOvr>
    <a:masterClrMapping/>
  </p:clrMapOvr>
  <p:transition spd="fast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LAB 4 -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Tools and external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60704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372"/>
                </a:solidFill>
                <a:latin typeface="Arial"/>
              </a:rPr>
              <a:t>Architecture decision, operating boundary and acceptance evidence</a:t>
            </a:r>
          </a:p>
        </p:txBody>
      </p:sp>
      <p:sp>
        <p:nvSpPr>
          <p:cNvPr id="6" name="Oval 5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70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" y="1755648"/>
            <a:ext cx="5381244" cy="2020824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5216" y="1755648"/>
            <a:ext cx="73152" cy="202082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1938528"/>
            <a:ext cx="49880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Typed contract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2414015"/>
            <a:ext cx="4988052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A tool exposes a structured name, arguments and result to the model.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2492" y="1755648"/>
            <a:ext cx="5381244" cy="2020824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22492" y="1755648"/>
            <a:ext cx="73152" cy="202082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1092" y="1938528"/>
            <a:ext cx="49880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Visibility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1092" y="2414015"/>
            <a:ext cx="4988052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Profiles, allow/deny policy, provider rules, sandbox and plugins determine what is seen.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" y="4014215"/>
            <a:ext cx="5381244" cy="2020824"/>
          </a:xfrm>
          <a:prstGeom prst="roundRect">
            <a:avLst>
              <a:gd name="adj" fmla="val 12000"/>
            </a:avLst>
          </a:prstGeom>
          <a:solidFill>
            <a:srgbClr val="F2EC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5216" y="4014215"/>
            <a:ext cx="73152" cy="202082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4197096"/>
            <a:ext cx="49880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Side effect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" y="4672583"/>
            <a:ext cx="4988052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Read and write tools require different authority, approvals and rollback plans.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22492" y="4014215"/>
            <a:ext cx="5381244" cy="2020824"/>
          </a:xfrm>
          <a:prstGeom prst="roundRect">
            <a:avLst>
              <a:gd name="adj" fmla="val 12000"/>
            </a:avLst>
          </a:prstGeom>
          <a:solidFill>
            <a:srgbClr val="FFF6E6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22492" y="4014215"/>
            <a:ext cx="73152" cy="202082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51092" y="4197096"/>
            <a:ext cx="49880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1092" y="4672583"/>
            <a:ext cx="4988052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The selected read-only tool returns structured evidence and no unapproved mutation occurs.</a:t>
            </a:r>
          </a:p>
        </p:txBody>
      </p:sp>
    </p:spTree>
  </p:cSld>
  <p:clrMapOvr>
    <a:masterClrMapping/>
  </p:clrMapOvr>
  <p:transition spd="fast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LAB 4 - CONFIGURE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Tools and external actions: core commands and configuration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71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627632"/>
            <a:ext cx="6565392" cy="3621024"/>
          </a:xfrm>
          <a:prstGeom prst="roundRect">
            <a:avLst>
              <a:gd name="adj" fmla="val 12000"/>
            </a:avLst>
          </a:prstGeom>
          <a:solidFill>
            <a:srgbClr val="101826"/>
          </a:solidFill>
          <a:ln>
            <a:solidFill>
              <a:srgbClr val="101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65376"/>
            <a:ext cx="6089904" cy="31272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D8E3F0"/>
                </a:solidFill>
                <a:latin typeface="Consolas"/>
              </a:rPr>
              <a:t>{
  tools: {
    deny: ["gateway", "cron", "sessions_spawn"],
    exec: { ask: "on-miss", security: "allowlist" }
  },
  agents: {
    entries: {
      researcher: {
        tools: { allow: ["web_search", "web_fetch"] }
      }
    }
  }
}
openclaw sandbox explain --agent researcher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79792" y="1627632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62672" y="1792224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737360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deny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011680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Remove high-impact runtime controls.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79792" y="2523744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662672" y="268833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633472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ask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907791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Prompt before unapproved commands.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79792" y="3419856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62672" y="3584448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529584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agent allow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803904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Give the specialist only research tools.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79792" y="4315968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62672" y="4480559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425696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700016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Inspect the effective decision.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431536"/>
            <a:ext cx="5285232" cy="548640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5559552"/>
            <a:ext cx="89611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B981"/>
                </a:solidFill>
                <a:latin typeface="Arial"/>
              </a:rPr>
              <a:t>EXPECTED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00784" y="5504688"/>
            <a:ext cx="4023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61B26"/>
                </a:solidFill>
                <a:latin typeface="Arial"/>
              </a:rPr>
              <a:t>The researcher can retrieve approved web data but cannot mutate Gateway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2" y="5431536"/>
            <a:ext cx="5285232" cy="548640"/>
          </a:xfrm>
          <a:prstGeom prst="roundRect">
            <a:avLst>
              <a:gd name="adj" fmla="val 12000"/>
            </a:avLst>
          </a:prstGeom>
          <a:solidFill>
            <a:srgbClr val="FFF0EE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5559552"/>
            <a:ext cx="71323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6A5A"/>
                </a:solidFill>
                <a:latin typeface="Arial"/>
              </a:rPr>
              <a:t>IF NOT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9168" y="5504688"/>
            <a:ext cx="41605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0" b="1" i="0">
                <a:solidFill>
                  <a:srgbClr val="161B26"/>
                </a:solidFill>
                <a:latin typeface="Arial"/>
              </a:rPr>
              <a:t>Identify which visibility or execution gate removed the tool.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OpenClaw docs plus the aligned learner lab</a:t>
            </a:r>
          </a:p>
        </p:txBody>
      </p:sp>
    </p:spTree>
  </p:cSld>
  <p:clrMapOvr>
    <a:masterClrMapping/>
  </p:clrMapOvr>
  <p:transition spd="fast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LAB 4 -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Tools and external actions: diagnose before changing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72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627632"/>
            <a:ext cx="10826496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1865376"/>
            <a:ext cx="420624" cy="420624"/>
          </a:xfrm>
          <a:prstGeom prst="ellipse">
            <a:avLst/>
          </a:prstGeom>
          <a:solidFill>
            <a:srgbClr val="F46A5A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773936"/>
            <a:ext cx="2212848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SYMPTOM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020824"/>
            <a:ext cx="221284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tool missing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7" y="1773936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LIKELY CAUSE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7" y="2020824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Denied by profile, policy or sandbox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0448" y="1773936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0448" y="2020824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effective tool list and sandbox explain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5008" y="1773936"/>
            <a:ext cx="31546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8" y="2020824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61B26"/>
                </a:solidFill>
                <a:latin typeface="Arial"/>
              </a:rPr>
              <a:t>Fix the narrowest intended policy layer.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706624"/>
            <a:ext cx="10826496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1248" y="2944368"/>
            <a:ext cx="420624" cy="420624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2852928"/>
            <a:ext cx="2212848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SYMPTOM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3099816"/>
            <a:ext cx="221284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tool denied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75887" y="2852928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LIKELY CAUSE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75887" y="3099816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Command or destination outside allowlist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70448" y="2852928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70448" y="3099816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approval event and policy match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5008" y="2852928"/>
            <a:ext cx="31546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RECOVERY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5008" y="3099816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61B26"/>
                </a:solidFill>
                <a:latin typeface="Arial"/>
              </a:rPr>
              <a:t>Approve one bounded action or change the allowlist.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3785615"/>
            <a:ext cx="10826496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1248" y="4023359"/>
            <a:ext cx="420624" cy="420624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3931920"/>
            <a:ext cx="2212848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SYMPTOM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4178807"/>
            <a:ext cx="221284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wrong result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75887" y="3931920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LIKELY CAUSE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75887" y="4178807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Poor schema arguments or untrusted 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70448" y="3931920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70448" y="4178807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tool call arguments and raw result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65008" y="3931920"/>
            <a:ext cx="31546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RECOVERY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65008" y="4178807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61B26"/>
                </a:solidFill>
                <a:latin typeface="Arial"/>
              </a:rPr>
              <a:t>Validate inputs and return structured errors.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aligned lab acceptance criteria</a:t>
            </a:r>
          </a:p>
        </p:txBody>
      </p:sp>
    </p:spTree>
  </p:cSld>
  <p:clrMapOvr>
    <a:masterClrMapping/>
  </p:clrMapOvr>
  <p:transition spd="fast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LAB 5 -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Skills and ClawHub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60704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372"/>
                </a:solidFill>
                <a:latin typeface="Arial"/>
              </a:rPr>
              <a:t>Architecture decision, operating boundary and acceptance evidence</a:t>
            </a:r>
          </a:p>
        </p:txBody>
      </p:sp>
      <p:sp>
        <p:nvSpPr>
          <p:cNvPr id="6" name="Oval 5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73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" y="1755648"/>
            <a:ext cx="5381244" cy="2020824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5216" y="1755648"/>
            <a:ext cx="73152" cy="202082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1938528"/>
            <a:ext cx="49880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Instruction pack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2414015"/>
            <a:ext cx="4988052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SKILL.md teaches a repeatable workflow when the necessary tools already exist.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2492" y="1755648"/>
            <a:ext cx="5381244" cy="2020824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22492" y="1755648"/>
            <a:ext cx="73152" cy="202082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1092" y="1938528"/>
            <a:ext cx="49880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Eligibility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1092" y="2414015"/>
            <a:ext cx="4988052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Frontmatter, allowlists and requirements decide whether the skill is loaded.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" y="4014215"/>
            <a:ext cx="5381244" cy="2020824"/>
          </a:xfrm>
          <a:prstGeom prst="roundRect">
            <a:avLst>
              <a:gd name="adj" fmla="val 12000"/>
            </a:avLst>
          </a:prstGeom>
          <a:solidFill>
            <a:srgbClr val="F2EC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5216" y="4014215"/>
            <a:ext cx="73152" cy="202082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4197096"/>
            <a:ext cx="49880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Precedence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" y="4672583"/>
            <a:ext cx="4988052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Workspace and project skills override personal, managed, bundled and extra directories.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22492" y="4014215"/>
            <a:ext cx="5381244" cy="2020824"/>
          </a:xfrm>
          <a:prstGeom prst="roundRect">
            <a:avLst>
              <a:gd name="adj" fmla="val 12000"/>
            </a:avLst>
          </a:prstGeom>
          <a:solidFill>
            <a:srgbClr val="FFF6E6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22492" y="4014215"/>
            <a:ext cx="73152" cy="202082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51092" y="4197096"/>
            <a:ext cx="49880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1092" y="4672583"/>
            <a:ext cx="4988052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The skill is reviewed, loaded from the expected path and produces a reproducible sandbox result.</a:t>
            </a:r>
          </a:p>
        </p:txBody>
      </p:sp>
    </p:spTree>
  </p:cSld>
  <p:clrMapOvr>
    <a:masterClrMapping/>
  </p:clrMapOvr>
  <p:transition spd="fast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LAB 5 - CONFIGURE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Skills and ClawHub: core commands and configuration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74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627632"/>
            <a:ext cx="6565392" cy="3621024"/>
          </a:xfrm>
          <a:prstGeom prst="roundRect">
            <a:avLst>
              <a:gd name="adj" fmla="val 12000"/>
            </a:avLst>
          </a:prstGeom>
          <a:solidFill>
            <a:srgbClr val="101826"/>
          </a:solidFill>
          <a:ln>
            <a:solidFill>
              <a:srgbClr val="101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65376"/>
            <a:ext cx="6089904" cy="31272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D8E3F0"/>
                </a:solidFill>
                <a:latin typeface="Consolas"/>
              </a:rPr>
              <a:t>---
name: research-brief
description: Build a source-linked competitor brief.
---
1. Read only approved public sources.
2. Record each source URL and observation time.
3. Separate fact, inference and unknown.
4. Draft the brief; do not publish.
5. Return evidence and unresolved questions.
openclaw skills workshop list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79792" y="1627632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62672" y="1792224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737360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Metadata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011680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Clear name and trigger description.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79792" y="2523744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662672" y="268833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633472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Procedure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907791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Repeatable decision and evidence rules.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79792" y="3419856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62672" y="3584448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529584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803904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Draft only; no publish authority.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79792" y="4315968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62672" y="4480559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425696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Workshop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700016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Review proposals before changing active skills.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431536"/>
            <a:ext cx="5285232" cy="548640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5559552"/>
            <a:ext cx="89611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B981"/>
                </a:solidFill>
                <a:latin typeface="Arial"/>
              </a:rPr>
              <a:t>EXPECTED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00784" y="5504688"/>
            <a:ext cx="4023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61B26"/>
                </a:solidFill>
                <a:latin typeface="Arial"/>
              </a:rPr>
              <a:t>A new session loads the reviewed skill and follows its evidence contract.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2" y="5431536"/>
            <a:ext cx="5285232" cy="548640"/>
          </a:xfrm>
          <a:prstGeom prst="roundRect">
            <a:avLst>
              <a:gd name="adj" fmla="val 12000"/>
            </a:avLst>
          </a:prstGeom>
          <a:solidFill>
            <a:srgbClr val="FFF0EE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5559552"/>
            <a:ext cx="71323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6A5A"/>
                </a:solidFill>
                <a:latin typeface="Arial"/>
              </a:rPr>
              <a:t>IF NOT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9168" y="5504688"/>
            <a:ext cx="41605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0" b="1" i="0">
                <a:solidFill>
                  <a:srgbClr val="161B26"/>
                </a:solidFill>
                <a:latin typeface="Arial"/>
              </a:rPr>
              <a:t>Check discovery path, name collision, gating and required tools.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OpenClaw docs plus the aligned learner lab</a:t>
            </a:r>
          </a:p>
        </p:txBody>
      </p:sp>
    </p:spTree>
  </p:cSld>
  <p:clrMapOvr>
    <a:masterClrMapping/>
  </p:clrMapOvr>
  <p:transition spd="fast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LAB 5 -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Skills and ClawHub: diagnose before changing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75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627632"/>
            <a:ext cx="10826496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1865376"/>
            <a:ext cx="420624" cy="420624"/>
          </a:xfrm>
          <a:prstGeom prst="ellipse">
            <a:avLst/>
          </a:prstGeom>
          <a:solidFill>
            <a:srgbClr val="F46A5A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773936"/>
            <a:ext cx="2212848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SYMPTOM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020824"/>
            <a:ext cx="221284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skill not listed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7" y="1773936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LIKELY CAUSE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7" y="2020824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Wrong path or failed gating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0448" y="1773936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0448" y="2020824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resolved realpath and frontmatter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5008" y="1773936"/>
            <a:ext cx="31546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8" y="2020824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61B26"/>
                </a:solidFill>
                <a:latin typeface="Arial"/>
              </a:rPr>
              <a:t>Move it into a trusted root and fix metadata.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706624"/>
            <a:ext cx="10826496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1248" y="2944368"/>
            <a:ext cx="420624" cy="420624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2852928"/>
            <a:ext cx="2212848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SYMPTOM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3099816"/>
            <a:ext cx="221284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wrong skill wins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75887" y="2852928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LIKELY CAUSE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75887" y="3099816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Higher-precedence name collision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70448" y="2852928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70448" y="3099816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all matching skill roots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5008" y="2852928"/>
            <a:ext cx="31546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RECOVERY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5008" y="3099816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61B26"/>
                </a:solidFill>
                <a:latin typeface="Arial"/>
              </a:rPr>
              <a:t>Rename or remove the unintended override.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3785615"/>
            <a:ext cx="10826496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1248" y="4023359"/>
            <a:ext cx="420624" cy="420624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3931920"/>
            <a:ext cx="2212848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SYMPTOM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4178807"/>
            <a:ext cx="221284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unsafe behaviour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75887" y="3931920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LIKELY CAUSE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75887" y="4178807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Unreviewed instructions or scripts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70448" y="3931920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70448" y="4178807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source, dependencies and requested tools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65008" y="3931920"/>
            <a:ext cx="31546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RECOVERY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65008" y="4178807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61B26"/>
                </a:solidFill>
                <a:latin typeface="Arial"/>
              </a:rPr>
              <a:t>Disable, quarantine and review before reuse.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aligned lab acceptance criteria</a:t>
            </a:r>
          </a:p>
        </p:txBody>
      </p:sp>
    </p:spTree>
  </p:cSld>
  <p:clrMapOvr>
    <a:masterClrMapping/>
  </p:clrMapOvr>
  <p:transition spd="fast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LAB 6 -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Cron jobs and heartbeat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60704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372"/>
                </a:solidFill>
                <a:latin typeface="Arial"/>
              </a:rPr>
              <a:t>Architecture decision, operating boundary and acceptance evidence</a:t>
            </a:r>
          </a:p>
        </p:txBody>
      </p:sp>
      <p:sp>
        <p:nvSpPr>
          <p:cNvPr id="6" name="Oval 5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76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" y="1755648"/>
            <a:ext cx="5381244" cy="2020824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5216" y="1755648"/>
            <a:ext cx="73152" cy="202082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1938528"/>
            <a:ext cx="49880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Cron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2414015"/>
            <a:ext cx="4988052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Use a durable schedule and run history for exact recurring delivery or one-time work.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2492" y="1755648"/>
            <a:ext cx="5381244" cy="2020824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22492" y="1755648"/>
            <a:ext cx="73152" cy="202082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1092" y="1938528"/>
            <a:ext cx="49880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Heartbeat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1092" y="2414015"/>
            <a:ext cx="4988052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Use a periodic main-session turn to decide whether anything needs attention.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" y="4014215"/>
            <a:ext cx="5381244" cy="2020824"/>
          </a:xfrm>
          <a:prstGeom prst="roundRect">
            <a:avLst>
              <a:gd name="adj" fmla="val 12000"/>
            </a:avLst>
          </a:prstGeom>
          <a:solidFill>
            <a:srgbClr val="F2EC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5216" y="4014215"/>
            <a:ext cx="73152" cy="202082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4197096"/>
            <a:ext cx="49880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Timezone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" y="4672583"/>
            <a:ext cx="4988052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Schedule in an explicit business timezone and test daylight-saving behaviour where relevant.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22492" y="4014215"/>
            <a:ext cx="5381244" cy="2020824"/>
          </a:xfrm>
          <a:prstGeom prst="roundRect">
            <a:avLst>
              <a:gd name="adj" fmla="val 12000"/>
            </a:avLst>
          </a:prstGeom>
          <a:solidFill>
            <a:srgbClr val="FFF6E6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22492" y="4014215"/>
            <a:ext cx="73152" cy="202082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51092" y="4197096"/>
            <a:ext cx="49880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1092" y="4672583"/>
            <a:ext cx="4988052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The trigger fires once, uses the intended session, records the run and delivers only to the target.</a:t>
            </a:r>
          </a:p>
        </p:txBody>
      </p:sp>
    </p:spTree>
  </p:cSld>
  <p:clrMapOvr>
    <a:masterClrMapping/>
  </p:clrMapOvr>
  <p:transition spd="fast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LAB 6 - CONFIGURE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Cron jobs and heartbeat: core commands and configuration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77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627632"/>
            <a:ext cx="6565392" cy="3621024"/>
          </a:xfrm>
          <a:prstGeom prst="roundRect">
            <a:avLst>
              <a:gd name="adj" fmla="val 12000"/>
            </a:avLst>
          </a:prstGeom>
          <a:solidFill>
            <a:srgbClr val="101826"/>
          </a:solidFill>
          <a:ln>
            <a:solidFill>
              <a:srgbClr val="101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65376"/>
            <a:ext cx="6089904" cy="31272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D8E3F0"/>
                </a:solidFill>
                <a:latin typeface="Consolas"/>
              </a:rPr>
              <a:t>{
  cron: { enabled: true, sessionRetention: "24h" },
  agents: {
    defaults: {
      heartbeat: { every: "30m", target: "owner" }
    }
  }
}
openclaw cron list --all
openclaw config get agents.defaults.heartbeat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79792" y="1627632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62672" y="1792224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737360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cron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011680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Enables the durable automation scheduler.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79792" y="2523744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662672" y="268833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633472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retention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907791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Controls completed isolated sessions.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79792" y="3419856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62672" y="3584448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529584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heartbeat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803904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Desired cadence for the main session.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79792" y="4315968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62672" y="4480559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425696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inspect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700016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See generated monitor rows and jobs.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431536"/>
            <a:ext cx="5285232" cy="548640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5559552"/>
            <a:ext cx="89611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B981"/>
                </a:solidFill>
                <a:latin typeface="Arial"/>
              </a:rPr>
              <a:t>EXPECTED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00784" y="5504688"/>
            <a:ext cx="4023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61B26"/>
                </a:solidFill>
                <a:latin typeface="Arial"/>
              </a:rPr>
              <a:t>Cron shows the job; heartbeat has one system-owned schedule for the agent.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2" y="5431536"/>
            <a:ext cx="5285232" cy="548640"/>
          </a:xfrm>
          <a:prstGeom prst="roundRect">
            <a:avLst>
              <a:gd name="adj" fmla="val 12000"/>
            </a:avLst>
          </a:prstGeom>
          <a:solidFill>
            <a:srgbClr val="FFF0EE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5559552"/>
            <a:ext cx="71323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6A5A"/>
                </a:solidFill>
                <a:latin typeface="Arial"/>
              </a:rPr>
              <a:t>IF NOT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9168" y="5504688"/>
            <a:ext cx="41605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0" b="1" i="0">
                <a:solidFill>
                  <a:srgbClr val="161B26"/>
                </a:solidFill>
                <a:latin typeface="Arial"/>
              </a:rPr>
              <a:t>Do not edit the generated heartbeat job; fix agents.*.heartbeat.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OpenClaw docs plus the aligned learner lab</a:t>
            </a:r>
          </a:p>
        </p:txBody>
      </p:sp>
    </p:spTree>
  </p:cSld>
  <p:clrMapOvr>
    <a:masterClrMapping/>
  </p:clrMapOvr>
  <p:transition spd="fast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LAB 6 -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Cron jobs and heartbeat: diagnose before changing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78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627632"/>
            <a:ext cx="10826496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1865376"/>
            <a:ext cx="420624" cy="420624"/>
          </a:xfrm>
          <a:prstGeom prst="ellipse">
            <a:avLst/>
          </a:prstGeom>
          <a:solidFill>
            <a:srgbClr val="F46A5A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773936"/>
            <a:ext cx="2212848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SYMPTOM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020824"/>
            <a:ext cx="221284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job never runs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7" y="1773936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LIKELY CAUSE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7" y="2020824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Scheduler disabled or invalid schedule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0448" y="1773936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0448" y="2020824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cron.enabled and next run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5008" y="1773936"/>
            <a:ext cx="31546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8" y="2020824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61B26"/>
                </a:solidFill>
                <a:latin typeface="Arial"/>
              </a:rPr>
              <a:t>Enable scheduler, correct schedule and test on demand.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706624"/>
            <a:ext cx="10826496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1248" y="2944368"/>
            <a:ext cx="420624" cy="420624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2852928"/>
            <a:ext cx="2212848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SYMPTOM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3099816"/>
            <a:ext cx="221284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duplicate delivery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75887" y="2852928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LIKELY CAUSE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75887" y="3099816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Non-idempotent action or repeated trigger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70448" y="2852928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70448" y="3099816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run IDs and destination receipts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5008" y="2852928"/>
            <a:ext cx="31546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RECOVERY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5008" y="3099816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61B26"/>
                </a:solidFill>
                <a:latin typeface="Arial"/>
              </a:rPr>
              <a:t>Add idempotency and a run-key check.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3785615"/>
            <a:ext cx="10826496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1248" y="4023359"/>
            <a:ext cx="420624" cy="420624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3931920"/>
            <a:ext cx="2212848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SYMPTOM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4178807"/>
            <a:ext cx="221284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heartbeat is noisy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75887" y="3931920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LIKELY CAUSE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75887" y="4178807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Prompt or target reports every tick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70448" y="3931920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70448" y="4178807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HEARTBEAT.md and delivery target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65008" y="3931920"/>
            <a:ext cx="31546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RECOVERY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65008" y="4178807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61B26"/>
                </a:solidFill>
                <a:latin typeface="Arial"/>
              </a:rPr>
              <a:t>Require a condition and return no-op when healthy.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aligned lab acceptance criteria</a:t>
            </a:r>
          </a:p>
        </p:txBody>
      </p:sp>
    </p:spTree>
  </p:cSld>
  <p:clrMapOvr>
    <a:masterClrMapping/>
  </p:clrMapOvr>
  <p:transition spd="fast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LAB 7 -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Security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60704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372"/>
                </a:solidFill>
                <a:latin typeface="Arial"/>
              </a:rPr>
              <a:t>Architecture decision, operating boundary and acceptance evidence</a:t>
            </a:r>
          </a:p>
        </p:txBody>
      </p:sp>
      <p:sp>
        <p:nvSpPr>
          <p:cNvPr id="6" name="Oval 5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79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" y="1755648"/>
            <a:ext cx="5381244" cy="2020824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5216" y="1755648"/>
            <a:ext cx="73152" cy="202082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1938528"/>
            <a:ext cx="49880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Identity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2414015"/>
            <a:ext cx="4988052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Use pairing, allowlists, separate agent accounts and scoped service credentials.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2492" y="1755648"/>
            <a:ext cx="5381244" cy="2020824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22492" y="1755648"/>
            <a:ext cx="73152" cy="202082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1092" y="1938528"/>
            <a:ext cx="49880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Capability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1092" y="2414015"/>
            <a:ext cx="4988052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Deny unnecessary runtime controls; separate read, draft and mutate tools.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" y="4014215"/>
            <a:ext cx="5381244" cy="2020824"/>
          </a:xfrm>
          <a:prstGeom prst="roundRect">
            <a:avLst>
              <a:gd name="adj" fmla="val 12000"/>
            </a:avLst>
          </a:prstGeom>
          <a:solidFill>
            <a:srgbClr val="F2EC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5216" y="4014215"/>
            <a:ext cx="73152" cy="202082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4197096"/>
            <a:ext cx="49880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Isolation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" y="4672583"/>
            <a:ext cx="4988052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Sandbox untrusted inputs and test third-party skills without production access.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22492" y="4014215"/>
            <a:ext cx="5381244" cy="2020824"/>
          </a:xfrm>
          <a:prstGeom prst="roundRect">
            <a:avLst>
              <a:gd name="adj" fmla="val 12000"/>
            </a:avLst>
          </a:prstGeom>
          <a:solidFill>
            <a:srgbClr val="FFF6E6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22492" y="4014215"/>
            <a:ext cx="73152" cy="202082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51092" y="4197096"/>
            <a:ext cx="49880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1092" y="4672583"/>
            <a:ext cx="4988052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Know how to stop schedules, revoke keys, preserve logs and restore trusted config.</a:t>
            </a:r>
          </a:p>
        </p:txBody>
      </p:sp>
    </p:spTree>
  </p:cSld>
  <p:clrMapOvr>
    <a:masterClrMapping/>
  </p:clrMapOvr>
  <p:transition spd="fast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LAB 7 - CONFIGURE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Security hardening: core commands and configuration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80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627632"/>
            <a:ext cx="6565392" cy="3621024"/>
          </a:xfrm>
          <a:prstGeom prst="roundRect">
            <a:avLst>
              <a:gd name="adj" fmla="val 12000"/>
            </a:avLst>
          </a:prstGeom>
          <a:solidFill>
            <a:srgbClr val="101826"/>
          </a:solidFill>
          <a:ln>
            <a:solidFill>
              <a:srgbClr val="101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65376"/>
            <a:ext cx="6089904" cy="31272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D8E3F0"/>
                </a:solidFill>
                <a:latin typeface="Consolas"/>
              </a:rPr>
              <a:t>{
  plugins: { allow: ["approved-plugin"] },
  tools: {
    deny: ["gateway", "cron", "sessions_spawn", "sessions_send"]
  },
  agents: {
    defaults: {
      sandbox: { mode: "non-main", scope: "agent" }
    }
  }
}
openclaw doctor
openclaw sandbox explain --json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79792" y="1627632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62672" y="1792224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737360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plugins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011680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Allow only reviewed in-process code.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79792" y="2523744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662672" y="268833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633472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deny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907791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Remove escalation surfaces from untrusted agents.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79792" y="3419856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62672" y="3584448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529584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sandbox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803904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Isolate non-main sessions.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79792" y="4315968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62672" y="4480559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425696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diagnose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700016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Capture effective controls as evidence.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431536"/>
            <a:ext cx="5285232" cy="548640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5559552"/>
            <a:ext cx="89611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B981"/>
                </a:solidFill>
                <a:latin typeface="Arial"/>
              </a:rPr>
              <a:t>EXPECTED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00784" y="5504688"/>
            <a:ext cx="4023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61B26"/>
                </a:solidFill>
                <a:latin typeface="Arial"/>
              </a:rPr>
              <a:t>Security checklist, sandbox explanation and channel policies match the design.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2" y="5431536"/>
            <a:ext cx="5285232" cy="548640"/>
          </a:xfrm>
          <a:prstGeom prst="roundRect">
            <a:avLst>
              <a:gd name="adj" fmla="val 12000"/>
            </a:avLst>
          </a:prstGeom>
          <a:solidFill>
            <a:srgbClr val="FFF0EE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5559552"/>
            <a:ext cx="71323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6A5A"/>
                </a:solidFill>
                <a:latin typeface="Arial"/>
              </a:rPr>
              <a:t>IF NOT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9168" y="5504688"/>
            <a:ext cx="41605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0" b="1" i="0">
                <a:solidFill>
                  <a:srgbClr val="161B26"/>
                </a:solidFill>
                <a:latin typeface="Arial"/>
              </a:rPr>
              <a:t>Treat any broad exception as a documented risk decision, not a quick fix.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OpenClaw docs plus the aligned learner lab</a:t>
            </a:r>
          </a:p>
        </p:txBody>
      </p:sp>
    </p:spTree>
  </p:cSld>
  <p:clrMapOvr>
    <a:masterClrMapping/>
  </p:clrMapOvr>
  <p:transition spd="fast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LAB 7 -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Security hardening: diagnose before changing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81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627632"/>
            <a:ext cx="10826496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1865376"/>
            <a:ext cx="420624" cy="420624"/>
          </a:xfrm>
          <a:prstGeom prst="ellipse">
            <a:avLst/>
          </a:prstGeom>
          <a:solidFill>
            <a:srgbClr val="F46A5A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773936"/>
            <a:ext cx="2212848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SYMPTOM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020824"/>
            <a:ext cx="221284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unexpected tool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7" y="1773936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LIKELY CAUSE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7" y="2020824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Policy inheritance or plugin surface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0448" y="1773936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0448" y="2020824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effective tool list and plugin allowlist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5008" y="1773936"/>
            <a:ext cx="31546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8" y="2020824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61B26"/>
                </a:solidFill>
                <a:latin typeface="Arial"/>
              </a:rPr>
              <a:t>Deny or unload the capability at the correct scope.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706624"/>
            <a:ext cx="10826496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1248" y="2944368"/>
            <a:ext cx="420624" cy="420624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2852928"/>
            <a:ext cx="2212848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SYMPTOM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3099816"/>
            <a:ext cx="221284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secret in 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75887" y="2852928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LIKELY CAUSE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75887" y="3099816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Prompt/log leakage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70448" y="2852928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70448" y="3099816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transcript, logs and environment scope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5008" y="2852928"/>
            <a:ext cx="31546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RECOVERY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5008" y="3099816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61B26"/>
                </a:solidFill>
                <a:latin typeface="Arial"/>
              </a:rPr>
              <a:t>Revoke key, redact evidence and redesign injection.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3785615"/>
            <a:ext cx="10826496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1248" y="4023359"/>
            <a:ext cx="420624" cy="420624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3931920"/>
            <a:ext cx="2212848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SYMPTOM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4178807"/>
            <a:ext cx="221284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prompt injection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75887" y="3931920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LIKELY CAUSE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75887" y="4178807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Untrusted content treated as instruction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70448" y="3931920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70448" y="4178807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source, tool call and approval trace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65008" y="3931920"/>
            <a:ext cx="31546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RECOVERY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65008" y="4178807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61B26"/>
                </a:solidFill>
                <a:latin typeface="Arial"/>
              </a:rPr>
              <a:t>Separate data, constrain tools and require approval.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aligned lab acceptance criteria</a:t>
            </a:r>
          </a:p>
        </p:txBody>
      </p:sp>
    </p:spTree>
  </p:cSld>
  <p:clrMapOvr>
    <a:masterClrMapping/>
  </p:clrMapOvr>
  <p:transition spd="fast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LAB 8 -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Dashboard and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60704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372"/>
                </a:solidFill>
                <a:latin typeface="Arial"/>
              </a:rPr>
              <a:t>Architecture decision, operating boundary and acceptance evidence</a:t>
            </a:r>
          </a:p>
        </p:txBody>
      </p:sp>
      <p:sp>
        <p:nvSpPr>
          <p:cNvPr id="6" name="Oval 5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82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" y="1755648"/>
            <a:ext cx="5381244" cy="2020824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5216" y="1755648"/>
            <a:ext cx="73152" cy="202082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1938528"/>
            <a:ext cx="49880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Control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2414015"/>
            <a:ext cx="4988052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Inspect configuration, sessions and operator surfaces on the Gateway port.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2492" y="1755648"/>
            <a:ext cx="5381244" cy="2020824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22492" y="1755648"/>
            <a:ext cx="73152" cy="202082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1092" y="1938528"/>
            <a:ext cx="49880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Health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1092" y="2414015"/>
            <a:ext cx="4988052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Differentiate process alive, provider reachable, channel healthy and workflow correct.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" y="4014215"/>
            <a:ext cx="5381244" cy="2020824"/>
          </a:xfrm>
          <a:prstGeom prst="roundRect">
            <a:avLst>
              <a:gd name="adj" fmla="val 12000"/>
            </a:avLst>
          </a:prstGeom>
          <a:solidFill>
            <a:srgbClr val="F2EC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5216" y="4014215"/>
            <a:ext cx="73152" cy="202082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4197096"/>
            <a:ext cx="49880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Logs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" y="4672583"/>
            <a:ext cx="4988052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Correlate run ID, session key, tool calls, errors and delivery state.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22492" y="4014215"/>
            <a:ext cx="5381244" cy="2020824"/>
          </a:xfrm>
          <a:prstGeom prst="roundRect">
            <a:avLst>
              <a:gd name="adj" fmla="val 12000"/>
            </a:avLst>
          </a:prstGeom>
          <a:solidFill>
            <a:srgbClr val="FFF6E6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22492" y="4014215"/>
            <a:ext cx="73152" cy="202082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51092" y="4197096"/>
            <a:ext cx="49880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1092" y="4672583"/>
            <a:ext cx="4988052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Explain one successful run and one failure from dashboard plus logs.</a:t>
            </a:r>
          </a:p>
        </p:txBody>
      </p:sp>
    </p:spTree>
  </p:cSld>
  <p:clrMapOvr>
    <a:masterClrMapping/>
  </p:clrMapOvr>
  <p:transition spd="fast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LAB 8 - CONFIGURE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Dashboard and observability: core commands and configuration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83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627632"/>
            <a:ext cx="6565392" cy="3621024"/>
          </a:xfrm>
          <a:prstGeom prst="roundRect">
            <a:avLst>
              <a:gd name="adj" fmla="val 12000"/>
            </a:avLst>
          </a:prstGeom>
          <a:solidFill>
            <a:srgbClr val="101826"/>
          </a:solidFill>
          <a:ln>
            <a:solidFill>
              <a:srgbClr val="101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65376"/>
            <a:ext cx="6089904" cy="31272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D8E3F0"/>
                </a:solidFill>
                <a:latin typeface="Consolas"/>
              </a:rPr>
              <a:t>openclaw gateway status
openclaw health
openclaw logs
openclaw dashboard
# VPS: authenticated tunnel from local machine
ssh -L 18789:127.0.0.1:18789 user@server
# then open locally
http://127.0.0.1:18789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79792" y="1627632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62672" y="1792224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737360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011680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Confirm service and bind details.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79792" y="2523744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662672" y="268833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633472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health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907791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Check operational dependencies.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79792" y="3419856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62672" y="3584448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529584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logs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803904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Follow the failing run boundary.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79792" y="4315968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62672" y="4480559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425696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tunnel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700016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Keep the UI private while accessing a VPS.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431536"/>
            <a:ext cx="5285232" cy="548640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5559552"/>
            <a:ext cx="89611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B981"/>
                </a:solidFill>
                <a:latin typeface="Arial"/>
              </a:rPr>
              <a:t>EXPECTED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00784" y="5504688"/>
            <a:ext cx="4023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61B26"/>
                </a:solidFill>
                <a:latin typeface="Arial"/>
              </a:rPr>
              <a:t>Local browser reaches the remote loopback UI through the SSH tunnel.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2" y="5431536"/>
            <a:ext cx="5285232" cy="548640"/>
          </a:xfrm>
          <a:prstGeom prst="roundRect">
            <a:avLst>
              <a:gd name="adj" fmla="val 12000"/>
            </a:avLst>
          </a:prstGeom>
          <a:solidFill>
            <a:srgbClr val="FFF0EE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5559552"/>
            <a:ext cx="71323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6A5A"/>
                </a:solidFill>
                <a:latin typeface="Arial"/>
              </a:rPr>
              <a:t>IF NOT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9168" y="5504688"/>
            <a:ext cx="41605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0" b="1" i="0">
                <a:solidFill>
                  <a:srgbClr val="161B26"/>
                </a:solidFill>
                <a:latin typeface="Arial"/>
              </a:rPr>
              <a:t>Check the local port, SSH session and remote loopback bind separately.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OpenClaw docs plus the aligned learner lab</a:t>
            </a:r>
          </a:p>
        </p:txBody>
      </p:sp>
    </p:spTree>
  </p:cSld>
  <p:clrMapOvr>
    <a:masterClrMapping/>
  </p:clrMapOvr>
  <p:transition spd="fast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LAB 8 -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Dashboard and observability: diagnose before changing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84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627632"/>
            <a:ext cx="10826496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1865376"/>
            <a:ext cx="420624" cy="420624"/>
          </a:xfrm>
          <a:prstGeom prst="ellipse">
            <a:avLst/>
          </a:prstGeom>
          <a:solidFill>
            <a:srgbClr val="F46A5A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773936"/>
            <a:ext cx="2212848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SYMPTOM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020824"/>
            <a:ext cx="221284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port in 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7" y="1773936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LIKELY CAUSE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7" y="2020824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Local 18789 already occupied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0448" y="1773936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0448" y="2020824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lsof or alternate local 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5008" y="1773936"/>
            <a:ext cx="31546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8" y="2020824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61B26"/>
                </a:solidFill>
                <a:latin typeface="Arial"/>
              </a:rPr>
              <a:t>Map 18790 locally to remote 18789.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706624"/>
            <a:ext cx="10826496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1248" y="2944368"/>
            <a:ext cx="420624" cy="420624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2852928"/>
            <a:ext cx="2212848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SYMPTOM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3099816"/>
            <a:ext cx="221284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blank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75887" y="2852928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LIKELY CAUSE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75887" y="3099816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Gateway unhealthy or UI disabled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70448" y="2852928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70448" y="3099816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health, logs and controlUi config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5008" y="2852928"/>
            <a:ext cx="31546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RECOVERY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5008" y="3099816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61B26"/>
                </a:solidFill>
                <a:latin typeface="Arial"/>
              </a:rPr>
              <a:t>Repair the Gateway/UI configuration.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3785615"/>
            <a:ext cx="10826496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1248" y="4023359"/>
            <a:ext cx="420624" cy="420624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3931920"/>
            <a:ext cx="2212848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SYMPTOM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4178807"/>
            <a:ext cx="221284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missing run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75887" y="3931920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LIKELY CAUSE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75887" y="4178807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Wrong session or filtered logs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70448" y="3931920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70448" y="4178807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run ID, agent ID and time range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65008" y="3931920"/>
            <a:ext cx="31546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RECOVERY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65008" y="4178807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61B26"/>
                </a:solidFill>
                <a:latin typeface="Arial"/>
              </a:rPr>
              <a:t>Search the exact lifecycle identifiers.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aligned lab acceptance criteria</a:t>
            </a:r>
          </a:p>
        </p:txBody>
      </p:sp>
    </p:spTree>
  </p:cSld>
  <p:clrMapOvr>
    <a:masterClrMapping/>
  </p:clrMapOvr>
  <p:transition spd="fast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LAB 9 -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Cost and context efficiency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60704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372"/>
                </a:solidFill>
                <a:latin typeface="Arial"/>
              </a:rPr>
              <a:t>Architecture decision, operating boundary and acceptance evidence</a:t>
            </a:r>
          </a:p>
        </p:txBody>
      </p:sp>
      <p:sp>
        <p:nvSpPr>
          <p:cNvPr id="6" name="Oval 5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85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" y="1755648"/>
            <a:ext cx="5381244" cy="2020824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5216" y="1755648"/>
            <a:ext cx="73152" cy="202082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1938528"/>
            <a:ext cx="49880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Context size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2414015"/>
            <a:ext cx="4988052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Bootstrap files, tool definitions, history and tool results consume input tokens.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2492" y="1755648"/>
            <a:ext cx="5381244" cy="2020824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22492" y="1755648"/>
            <a:ext cx="73152" cy="202082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1092" y="1938528"/>
            <a:ext cx="49880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Frequency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1092" y="2414015"/>
            <a:ext cx="4988052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Cron, heartbeat and retries multiply recurring costs even when individual calls are cheap.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" y="4014215"/>
            <a:ext cx="5381244" cy="2020824"/>
          </a:xfrm>
          <a:prstGeom prst="roundRect">
            <a:avLst>
              <a:gd name="adj" fmla="val 12000"/>
            </a:avLst>
          </a:prstGeom>
          <a:solidFill>
            <a:srgbClr val="F2EC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5216" y="4014215"/>
            <a:ext cx="73152" cy="202082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4197096"/>
            <a:ext cx="49880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Model fit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" y="4672583"/>
            <a:ext cx="4988052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Use a strong orchestrator where tool reliability matters and cheaper workers for bounded transforms.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22492" y="4014215"/>
            <a:ext cx="5381244" cy="2020824"/>
          </a:xfrm>
          <a:prstGeom prst="roundRect">
            <a:avLst>
              <a:gd name="adj" fmla="val 12000"/>
            </a:avLst>
          </a:prstGeom>
          <a:solidFill>
            <a:srgbClr val="FFF6E6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22492" y="4014215"/>
            <a:ext cx="73152" cy="202082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51092" y="4197096"/>
            <a:ext cx="49880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1092" y="4672583"/>
            <a:ext cx="4988052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Compare cost per verified outcome before and after routing or context changes.</a:t>
            </a:r>
          </a:p>
        </p:txBody>
      </p:sp>
    </p:spTree>
  </p:cSld>
  <p:clrMapOvr>
    <a:masterClrMapping/>
  </p:clrMapOvr>
  <p:transition spd="fast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LAB 9 - CONFIGURE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Cost and context efficiency: core commands and configuration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86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627632"/>
            <a:ext cx="6565392" cy="3621024"/>
          </a:xfrm>
          <a:prstGeom prst="roundRect">
            <a:avLst>
              <a:gd name="adj" fmla="val 12000"/>
            </a:avLst>
          </a:prstGeom>
          <a:solidFill>
            <a:srgbClr val="101826"/>
          </a:solidFill>
          <a:ln>
            <a:solidFill>
              <a:srgbClr val="101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65376"/>
            <a:ext cx="6089904" cy="31272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D8E3F0"/>
                </a:solidFill>
                <a:latin typeface="Consolas"/>
              </a:rPr>
              <a:t>{
  agents: {
    defaults: {
      model: { primary: "openai/gpt-5.4" },
      compaction: {
        notifyUser: true,
        memoryFlush: { model: "ollama/qwen3:8b" }
      }
    },
    entries: {
      summarizer: { model: "provider/low-cost-model" }
    }
  }
}
/status
/compact Focus on architecture decisions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79792" y="1627632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62672" y="1792224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737360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orchestrator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011680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Keep reliability where planning is complex.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79792" y="2523744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662672" y="268833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633472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worker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907791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Route bounded summaries to lower cost.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79792" y="3419856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62672" y="3584448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529584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flush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803904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Use an exact housekeeping model.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79792" y="4315968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62672" y="4480559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425696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compact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700016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Preserve relevant decisions and recent tail.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431536"/>
            <a:ext cx="5285232" cy="548640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5559552"/>
            <a:ext cx="89611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B981"/>
                </a:solidFill>
                <a:latin typeface="Arial"/>
              </a:rPr>
              <a:t>EXPECTED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00784" y="5504688"/>
            <a:ext cx="4023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61B26"/>
                </a:solidFill>
                <a:latin typeface="Arial"/>
              </a:rPr>
              <a:t>Lower repeat cost without a failed acceptance test or missing evidence.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2" y="5431536"/>
            <a:ext cx="5285232" cy="548640"/>
          </a:xfrm>
          <a:prstGeom prst="roundRect">
            <a:avLst>
              <a:gd name="adj" fmla="val 12000"/>
            </a:avLst>
          </a:prstGeom>
          <a:solidFill>
            <a:srgbClr val="FFF0EE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5559552"/>
            <a:ext cx="71323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6A5A"/>
                </a:solidFill>
                <a:latin typeface="Arial"/>
              </a:rPr>
              <a:t>IF NOT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9168" y="5504688"/>
            <a:ext cx="41605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0" b="1" i="0">
                <a:solidFill>
                  <a:srgbClr val="161B26"/>
                </a:solidFill>
                <a:latin typeface="Arial"/>
              </a:rPr>
              <a:t>A cheaper answer that requires rework is not an efficiency gain.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OpenClaw docs plus the aligned learner lab</a:t>
            </a:r>
          </a:p>
        </p:txBody>
      </p:sp>
    </p:spTree>
  </p:cSld>
  <p:clrMapOvr>
    <a:masterClrMapping/>
  </p:clrMapOvr>
  <p:transition spd="fast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LAB 9 -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Cost and context efficiency: diagnose before changing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87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627632"/>
            <a:ext cx="10826496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1865376"/>
            <a:ext cx="420624" cy="420624"/>
          </a:xfrm>
          <a:prstGeom prst="ellipse">
            <a:avLst/>
          </a:prstGeom>
          <a:solidFill>
            <a:srgbClr val="F46A5A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773936"/>
            <a:ext cx="2212848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SYMPTOM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020824"/>
            <a:ext cx="221284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cost spikes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7" y="1773936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LIKELY CAUSE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7" y="2020824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Fan-out, schedule or retry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0448" y="1773936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0448" y="2020824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usage by agent and trigger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5008" y="1773936"/>
            <a:ext cx="31546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8" y="2020824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61B26"/>
                </a:solidFill>
                <a:latin typeface="Arial"/>
              </a:rPr>
              <a:t>Bound parallelism, frequency and retry count.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706624"/>
            <a:ext cx="10826496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1248" y="2944368"/>
            <a:ext cx="420624" cy="420624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2852928"/>
            <a:ext cx="2212848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SYMPTOM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3099816"/>
            <a:ext cx="221284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context overflows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75887" y="2852928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LIKELY CAUSE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75887" y="3099816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Large history or tool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70448" y="2852928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70448" y="3099816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/status and compaction logs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5008" y="2852928"/>
            <a:ext cx="31546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RECOVERY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5008" y="3099816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61B26"/>
                </a:solidFill>
                <a:latin typeface="Arial"/>
              </a:rPr>
              <a:t>Prune tool results, compact or start a task session.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3785615"/>
            <a:ext cx="10826496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1248" y="4023359"/>
            <a:ext cx="420624" cy="420624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3931920"/>
            <a:ext cx="2212848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SYMPTOM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4178807"/>
            <a:ext cx="221284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quality drops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75887" y="3931920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LIKELY CAUSE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75887" y="4178807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Worker model below task requirement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70448" y="3931920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70448" y="4178807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acceptance failures and human corrections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65008" y="3931920"/>
            <a:ext cx="31546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RECOVERY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65008" y="4178807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61B26"/>
                </a:solidFill>
                <a:latin typeface="Arial"/>
              </a:rPr>
              <a:t>Raise the route only for that role or condition.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aligned lab acceptance criteria</a:t>
            </a:r>
          </a:p>
        </p:txBody>
      </p:sp>
    </p:spTree>
  </p:cSld>
  <p:clrMapOvr>
    <a:masterClrMapping/>
  </p:clrMapOvr>
  <p:transition spd="fast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LAB 10 -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Blockchain invoice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60704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372"/>
                </a:solidFill>
                <a:latin typeface="Arial"/>
              </a:rPr>
              <a:t>Architecture decision, operating boundary and acceptance evidence</a:t>
            </a:r>
          </a:p>
        </p:txBody>
      </p:sp>
      <p:sp>
        <p:nvSpPr>
          <p:cNvPr id="6" name="Oval 5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88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" y="1755648"/>
            <a:ext cx="5381244" cy="2020824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5216" y="1755648"/>
            <a:ext cx="73152" cy="202082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1938528"/>
            <a:ext cx="49880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External 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2414015"/>
            <a:ext cx="4988052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A small API registers and verifies invoice data against a trusted record.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2492" y="1755648"/>
            <a:ext cx="5381244" cy="2020824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22492" y="1755648"/>
            <a:ext cx="73152" cy="202082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1092" y="1938528"/>
            <a:ext cx="49880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Agent role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1092" y="2414015"/>
            <a:ext cx="4988052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Collect approved fields, call the API, interpret status and report evidence.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" y="4014215"/>
            <a:ext cx="5381244" cy="2020824"/>
          </a:xfrm>
          <a:prstGeom prst="roundRect">
            <a:avLst>
              <a:gd name="adj" fmla="val 12000"/>
            </a:avLst>
          </a:prstGeom>
          <a:solidFill>
            <a:srgbClr val="F2EC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5216" y="4014215"/>
            <a:ext cx="73152" cy="202082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4197096"/>
            <a:ext cx="49880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Trust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" y="4672583"/>
            <a:ext cx="4988052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The agent does not own signing authority or silently correct mismatched data.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22492" y="4014215"/>
            <a:ext cx="5381244" cy="2020824"/>
          </a:xfrm>
          <a:prstGeom prst="roundRect">
            <a:avLst>
              <a:gd name="adj" fmla="val 12000"/>
            </a:avLst>
          </a:prstGeom>
          <a:solidFill>
            <a:srgbClr val="FFF6E6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22492" y="4014215"/>
            <a:ext cx="73152" cy="202082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51092" y="4197096"/>
            <a:ext cx="49880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1092" y="4672583"/>
            <a:ext cx="4988052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Original invoice verifies; tampered amount or reference fails with an auditable response.</a:t>
            </a:r>
          </a:p>
        </p:txBody>
      </p:sp>
    </p:spTree>
  </p:cSld>
  <p:clrMapOvr>
    <a:masterClrMapping/>
  </p:clrMapOvr>
  <p:transition spd="fast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LAB 10 - CONFIGURE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Blockchain invoice verification: core commands and configuration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89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627632"/>
            <a:ext cx="6565392" cy="3621024"/>
          </a:xfrm>
          <a:prstGeom prst="roundRect">
            <a:avLst>
              <a:gd name="adj" fmla="val 12000"/>
            </a:avLst>
          </a:prstGeom>
          <a:solidFill>
            <a:srgbClr val="101826"/>
          </a:solidFill>
          <a:ln>
            <a:solidFill>
              <a:srgbClr val="101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65376"/>
            <a:ext cx="6089904" cy="31272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D8E3F0"/>
                </a:solidFill>
                <a:latin typeface="Consolas"/>
              </a:rPr>
              <a:t># start the learner API
docker build -t invoice-verify labs/lab-10-blockchain-invoice
docker run --rm -p 5000:5000 invoice-verify
# register a trusted invoice
curl -X POST http://127.0.0.1:5000/register \
  -H "Content-Type: application/json" \
  -d '{"invoice_id":"INV-2026-001","amount":1200}'
# verify the same payload
curl -X POST http://127.0.0.1:5000/verify \
  -H "Content-Type: application/json" \
  -d '{"invoice_id":"INV-2026-001","amount":1200}'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79792" y="1627632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62672" y="1792224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737360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container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011680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Isolate the learner verification service.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79792" y="2523744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662672" y="268833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633472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register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907791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Create the trusted reference record.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79792" y="3419856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62672" y="3584448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529584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803904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Compare the submitted payload.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79792" y="4315968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62672" y="4480559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425696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tamper 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700016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Change amount and require a failed result.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431536"/>
            <a:ext cx="5285232" cy="548640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5559552"/>
            <a:ext cx="89611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B981"/>
                </a:solidFill>
                <a:latin typeface="Arial"/>
              </a:rPr>
              <a:t>EXPECTED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00784" y="5504688"/>
            <a:ext cx="4023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61B26"/>
                </a:solidFill>
                <a:latin typeface="Arial"/>
              </a:rPr>
              <a:t>Original payload verifies; altered invoice produces a negative result.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2" y="5431536"/>
            <a:ext cx="5285232" cy="548640"/>
          </a:xfrm>
          <a:prstGeom prst="roundRect">
            <a:avLst>
              <a:gd name="adj" fmla="val 12000"/>
            </a:avLst>
          </a:prstGeom>
          <a:solidFill>
            <a:srgbClr val="FFF0EE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5559552"/>
            <a:ext cx="71323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6A5A"/>
                </a:solidFill>
                <a:latin typeface="Arial"/>
              </a:rPr>
              <a:t>IF NOT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9168" y="5504688"/>
            <a:ext cx="41605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0" b="1" i="0">
                <a:solidFill>
                  <a:srgbClr val="161B26"/>
                </a:solidFill>
                <a:latin typeface="Arial"/>
              </a:rPr>
              <a:t>Distinguish API unavailable, invalid JSON, unknown invoice and mismatch.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OpenClaw docs plus the aligned learner lab</a:t>
            </a:r>
          </a:p>
        </p:txBody>
      </p:sp>
    </p:spTree>
  </p:cSld>
  <p:clrMapOvr>
    <a:masterClrMapping/>
  </p:clrMapOvr>
  <p:transition spd="fast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LAB 10 -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Blockchain invoice verification: diagnose before changing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90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627632"/>
            <a:ext cx="10826496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1865376"/>
            <a:ext cx="420624" cy="420624"/>
          </a:xfrm>
          <a:prstGeom prst="ellipse">
            <a:avLst/>
          </a:prstGeom>
          <a:solidFill>
            <a:srgbClr val="F46A5A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773936"/>
            <a:ext cx="2212848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SYMPTOM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020824"/>
            <a:ext cx="221284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connection refused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7" y="1773936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LIKELY CAUSE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7" y="2020824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Container or port is not available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0448" y="1773936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0448" y="2020824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docker ps and port mapping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5008" y="1773936"/>
            <a:ext cx="31546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8" y="2020824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61B26"/>
                </a:solidFill>
                <a:latin typeface="Arial"/>
              </a:rPr>
              <a:t>Start the service and confirm localhost:5000.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706624"/>
            <a:ext cx="10826496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1248" y="2944368"/>
            <a:ext cx="420624" cy="420624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2852928"/>
            <a:ext cx="2212848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SYMPTOM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3099816"/>
            <a:ext cx="221284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400 response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75887" y="2852928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LIKELY CAUSE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75887" y="3099816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Invalid JSON or missing field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70448" y="2852928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70448" y="3099816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response body and request payload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5008" y="2852928"/>
            <a:ext cx="31546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RECOVERY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5008" y="3099816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61B26"/>
                </a:solidFill>
                <a:latin typeface="Arial"/>
              </a:rPr>
              <a:t>Correct schema without changing the trusted record.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3785615"/>
            <a:ext cx="10826496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1248" y="4023359"/>
            <a:ext cx="420624" cy="420624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3931920"/>
            <a:ext cx="2212848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SYMPTOM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4178807"/>
            <a:ext cx="221284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verification false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75887" y="3931920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LIKELY CAUSE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75887" y="4178807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Payload differs from registered 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70448" y="3931920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70448" y="4178807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invoice ID and canonical fields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65008" y="3931920"/>
            <a:ext cx="31546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RECOVERY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65008" y="4178807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61B26"/>
                </a:solidFill>
                <a:latin typeface="Arial"/>
              </a:rPr>
              <a:t>Report the mismatch; do not overwrite it automatically.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aligned lab acceptance criteria</a:t>
            </a:r>
          </a:p>
        </p:txBody>
      </p:sp>
    </p:spTree>
  </p:cSld>
  <p:clrMapOvr>
    <a:masterClrMapping/>
  </p:clrMapOvr>
  <p:transition spd="fast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CROSS-LAB TROUBLESHOOTING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Read the system from outside in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91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627632"/>
            <a:ext cx="10826496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1865376"/>
            <a:ext cx="420624" cy="420624"/>
          </a:xfrm>
          <a:prstGeom prst="ellipse">
            <a:avLst/>
          </a:prstGeom>
          <a:solidFill>
            <a:srgbClr val="F46A5A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773936"/>
            <a:ext cx="2212848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SYMPTOM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020824"/>
            <a:ext cx="221284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No message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7" y="1773936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LIKELY CAUSE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7" y="2020824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Channel, sender or Gateway ingress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0448" y="1773936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0448" y="2020824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account health, policy, bind and 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5008" y="1773936"/>
            <a:ext cx="31546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8" y="2020824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61B26"/>
                </a:solidFill>
                <a:latin typeface="Arial"/>
              </a:rPr>
              <a:t>Restore the input path before testing the model.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706624"/>
            <a:ext cx="10826496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1248" y="2944368"/>
            <a:ext cx="420624" cy="420624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2852928"/>
            <a:ext cx="2212848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SYMPTOM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3099816"/>
            <a:ext cx="221284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No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75887" y="2852928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LIKELY CAUSE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75887" y="3099816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Tool invisible, denied or unapproved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70448" y="2852928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70448" y="3099816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effective tool set, sandbox and approval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5008" y="2852928"/>
            <a:ext cx="31546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RECOVERY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5008" y="3099816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61B26"/>
                </a:solidFill>
                <a:latin typeface="Arial"/>
              </a:rPr>
              <a:t>Correct the narrow gate; do not grant all tools.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3785615"/>
            <a:ext cx="10826496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1248" y="4023359"/>
            <a:ext cx="420624" cy="420624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3931920"/>
            <a:ext cx="2212848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SYMPTOM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4178807"/>
            <a:ext cx="221284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Wrong state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75887" y="3931920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LIKELY CAUSE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75887" y="4178807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Session route, stale context or memory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70448" y="3931920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70448" y="4178807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session key, transcript and retrieved files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65008" y="3931920"/>
            <a:ext cx="31546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RECOVERY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65008" y="4178807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61B26"/>
                </a:solidFill>
                <a:latin typeface="Arial"/>
              </a:rPr>
              <a:t>Fix isolation or start a clean task boundary.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4864607"/>
            <a:ext cx="10826496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41248" y="5102351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5010912"/>
            <a:ext cx="2212848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SYMPTOM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17320" y="5257799"/>
            <a:ext cx="221284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No delivery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75887" y="5010912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LIKELY CAUSE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75887" y="5257799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Destination, permission or channel outage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70448" y="5010912"/>
            <a:ext cx="2148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CHECK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70448" y="5257799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61B26"/>
                </a:solidFill>
                <a:latin typeface="Arial"/>
              </a:rPr>
              <a:t>delivery event and receipt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65008" y="5010912"/>
            <a:ext cx="31546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372"/>
                </a:solidFill>
                <a:latin typeface="Arial"/>
              </a:rPr>
              <a:t>RECOVERY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65008" y="5257799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61B26"/>
                </a:solidFill>
                <a:latin typeface="Arial"/>
              </a:rPr>
              <a:t>Retry idempotently after the destination is healthy.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troubleshooting and the ten lab acceptance checks</a:t>
            </a:r>
          </a:p>
        </p:txBody>
      </p:sp>
    </p:spTree>
  </p:cSld>
  <p:clrMapOvr>
    <a:masterClrMapping/>
  </p:clrMapOvr>
  <p:transition spd="fast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IMPLEMENTATION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Specify eight fields before granting autonomy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92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664208"/>
          <a:ext cx="10826496" cy="4370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4617720"/>
                <a:gridCol w="4288536"/>
              </a:tblGrid>
              <a:tr h="485648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Field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Required decision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Evidence before go-live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4856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Owner + outcome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Named accountable owner and measurable result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Acceptance statement signed off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856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Trigger + session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Event source, schedule, binding and session scope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Test event resolves the expected sessionKey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4856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Context + state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Approved sources, workspace files, memory and retention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Context manifest and state location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856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Tools + data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Exact read, draft, write and runtime-control capabilities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Effective tool list and data-scope test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4856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Approval gate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Consequential actions that must pause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Recorded approve/deny test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856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Evidence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Run ID, inputs, decisions, tool results and receipt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One complete evidence bundle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4856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Failure mode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Timeout, retry, idempotency, escalation and stop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Controlled failure demonstration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856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SLO + cost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Success, latency, intervention and spend thresholds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Pilot measurements against targets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agent-loop, security and observability guidance</a:t>
            </a:r>
          </a:p>
        </p:txBody>
      </p:sp>
    </p:spTree>
  </p:cSld>
  <p:clrMapOvr>
    <a:masterClrMapping/>
  </p:clrMapOvr>
  <p:transition spd="med">
    <p:push dir="l"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AUTOMATION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Score the workflow before choosing autonomy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93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664208"/>
          <a:ext cx="10826495" cy="4370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1417320"/>
                <a:gridCol w="1874519"/>
                <a:gridCol w="1691640"/>
                <a:gridCol w="2057400"/>
                <a:gridCol w="1636776"/>
              </a:tblGrid>
              <a:tr h="728472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Candidate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Reversibility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Data risk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Failure detectability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Decision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72847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Daily source brief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5 - frequent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5 - draft only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4 - public data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5 - citations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Automate delivery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72847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Ticket-response draft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5 - no send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3 - customer data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4 - human review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Automate draft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72847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Refund execution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1 - money moves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2 - account data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3 - audit later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Require approval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72847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Production deploy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2 - rollback cost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3 - code/secrets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2 - delayed signal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Keep human gate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72847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Rule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Value x frequency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Higher is safer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Higher is safer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Higher is safer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Autonomy only when risk is bounded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worked scoring model derived from the supplied use cases and security guidance</a:t>
            </a:r>
          </a:p>
        </p:txBody>
      </p:sp>
    </p:spTree>
  </p:cSld>
  <p:clrMapOvr>
    <a:masterClrMapping/>
  </p:clrMapOvr>
  <p:transition spd="fast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IMPLEMENTATION CASE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Daily executive research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60704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372"/>
                </a:solidFill>
                <a:latin typeface="Arial"/>
              </a:rPr>
              <a:t>A manager wants a concise, source-linked market update at 08:00 every weekday.</a:t>
            </a:r>
          </a:p>
        </p:txBody>
      </p:sp>
      <p:sp>
        <p:nvSpPr>
          <p:cNvPr id="6" name="Oval 5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94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84678" y="2212848"/>
            <a:ext cx="201168" cy="0"/>
          </a:xfrm>
          <a:prstGeom prst="line">
            <a:avLst/>
          </a:prstGeom>
          <a:ln w="1778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893868" y="2212848"/>
            <a:ext cx="201168" cy="0"/>
          </a:xfrm>
          <a:prstGeom prst="line">
            <a:avLst/>
          </a:prstGeom>
          <a:ln w="1778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03059" y="2212848"/>
            <a:ext cx="201168" cy="0"/>
          </a:xfrm>
          <a:prstGeom prst="line">
            <a:avLst/>
          </a:prstGeom>
          <a:ln w="1778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312249" y="2212848"/>
            <a:ext cx="201168" cy="0"/>
          </a:xfrm>
          <a:prstGeom prst="line">
            <a:avLst/>
          </a:prstGeom>
          <a:ln w="1778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94944" y="1746504"/>
            <a:ext cx="197144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4944" y="1746504"/>
            <a:ext cx="1971446" cy="6400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1920240"/>
            <a:ext cx="178856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6FEB"/>
                </a:solidFill>
                <a:latin typeface="Arial"/>
              </a:rPr>
              <a:t>Cron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2231136"/>
            <a:ext cx="178856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372"/>
                </a:solidFill>
                <a:latin typeface="Arial"/>
              </a:rPr>
              <a:t>Weekday 08:00 in business timezone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04134" y="1746504"/>
            <a:ext cx="197144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04134" y="1746504"/>
            <a:ext cx="1971446" cy="640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95574" y="1920240"/>
            <a:ext cx="178856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0B981"/>
                </a:solidFill>
                <a:latin typeface="Arial"/>
              </a:rPr>
              <a:t>Research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95574" y="2231136"/>
            <a:ext cx="178856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372"/>
                </a:solidFill>
                <a:latin typeface="Arial"/>
              </a:rPr>
              <a:t>Approved public sources only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13324" y="1746504"/>
            <a:ext cx="197144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13324" y="1746504"/>
            <a:ext cx="1971446" cy="6400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04764" y="1920240"/>
            <a:ext cx="178856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7C3AED"/>
                </a:solidFill>
                <a:latin typeface="Arial"/>
              </a:rPr>
              <a:t>Synthesis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04764" y="2231136"/>
            <a:ext cx="178856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372"/>
                </a:solidFill>
                <a:latin typeface="Arial"/>
              </a:rPr>
              <a:t>Facts, inference and unknowns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22515" y="1746504"/>
            <a:ext cx="197144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22515" y="1746504"/>
            <a:ext cx="1971446" cy="6400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13955" y="1920240"/>
            <a:ext cx="178856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9E0B"/>
                </a:solidFill>
                <a:latin typeface="Arial"/>
              </a:rPr>
              <a:t>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13955" y="2231136"/>
            <a:ext cx="178856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372"/>
                </a:solidFill>
                <a:latin typeface="Arial"/>
              </a:rPr>
              <a:t>No external publication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31705" y="1746504"/>
            <a:ext cx="197144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1705" y="1746504"/>
            <a:ext cx="1971446" cy="64008"/>
          </a:xfrm>
          <a:prstGeom prst="rect">
            <a:avLst/>
          </a:prstGeom>
          <a:solidFill>
            <a:srgbClr val="F46A5A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23145" y="1920240"/>
            <a:ext cx="178856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46A5A"/>
                </a:solidFill>
                <a:latin typeface="Arial"/>
              </a:rPr>
              <a:t>Deliver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23145" y="2231136"/>
            <a:ext cx="178856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372"/>
                </a:solidFill>
                <a:latin typeface="Arial"/>
              </a:rPr>
              <a:t>Private manager channel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4944" y="3054096"/>
            <a:ext cx="5312664" cy="1234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94944" y="3054096"/>
            <a:ext cx="73152" cy="1234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3200400"/>
            <a:ext cx="4791456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6FEB"/>
                </a:solidFill>
                <a:latin typeface="Arial"/>
              </a:rPr>
              <a:t>TRIGGER + SESSION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3493008"/>
            <a:ext cx="4800600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61B26"/>
                </a:solidFill>
                <a:latin typeface="Arial"/>
              </a:rPr>
              <a:t>cron 0 8 * * 1-5; tz=Asia/Singapore
isolated automation run -&gt; manager DM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0488" y="3054096"/>
            <a:ext cx="5312664" cy="1234440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90488" y="3054096"/>
            <a:ext cx="73152" cy="1234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9944" y="3200400"/>
            <a:ext cx="4791456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B981"/>
                </a:solidFill>
                <a:latin typeface="Arial"/>
              </a:rPr>
              <a:t>TOOLS + STATE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9944" y="3493008"/>
            <a:ext cx="4800600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61B26"/>
                </a:solidFill>
                <a:latin typeface="Arial"/>
              </a:rPr>
              <a:t>web_search + web_fetch; allowlisted domains; max 12 sources
State: source manifest, prior-brief hash, delivery idempotency key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94944" y="4498848"/>
            <a:ext cx="5312664" cy="1234440"/>
          </a:xfrm>
          <a:prstGeom prst="roundRect">
            <a:avLst>
              <a:gd name="adj" fmla="val 12000"/>
            </a:avLst>
          </a:prstGeom>
          <a:solidFill>
            <a:srgbClr val="F2EC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4944" y="4498848"/>
            <a:ext cx="73152" cy="123444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4645152"/>
            <a:ext cx="4791456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C3AED"/>
                </a:solidFill>
                <a:latin typeface="Arial"/>
              </a:rPr>
              <a:t>APPROVAL / POLICY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4937760"/>
            <a:ext cx="4800600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61B26"/>
                </a:solidFill>
                <a:latin typeface="Arial"/>
              </a:rPr>
              <a:t>draft-only; no login, purchase or external publication
Boundary: Allowlisted domains, no login scraping, bounded source count, draft-only output.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90488" y="4498848"/>
            <a:ext cx="5312664" cy="1234440"/>
          </a:xfrm>
          <a:prstGeom prst="roundRect">
            <a:avLst>
              <a:gd name="adj" fmla="val 12000"/>
            </a:avLst>
          </a:prstGeom>
          <a:solidFill>
            <a:srgbClr val="FFF6E6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190488" y="4498848"/>
            <a:ext cx="73152" cy="12344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9944" y="4645152"/>
            <a:ext cx="4791456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59E0B"/>
                </a:solidFill>
                <a:latin typeface="Arial"/>
              </a:rPr>
              <a:t>EVIDENCE + FAILURE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9944" y="4937760"/>
            <a:ext cx="4800600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61B26"/>
                </a:solidFill>
                <a:latin typeface="Arial"/>
              </a:rPr>
              <a:t>Run ID, source URLs, timestamps, brief and delivery receipt.
Failure: If two primary sources fail, deliver INCOMPLETE with missing-source list.</a:t>
            </a:r>
          </a:p>
        </p:txBody>
      </p:sp>
    </p:spTree>
  </p:cSld>
  <p:clrMapOvr>
    <a:masterClrMapping/>
  </p:clrMapOvr>
  <p:transition spd="fast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IMPLEMENTATION CASE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Travel check-in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60704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372"/>
                </a:solidFill>
                <a:latin typeface="Arial"/>
              </a:rPr>
              <a:t>The agent finds a booking email and prepares a browser check-in for the traveller.</a:t>
            </a:r>
          </a:p>
        </p:txBody>
      </p:sp>
      <p:sp>
        <p:nvSpPr>
          <p:cNvPr id="6" name="Oval 5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95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84678" y="2212848"/>
            <a:ext cx="201168" cy="0"/>
          </a:xfrm>
          <a:prstGeom prst="line">
            <a:avLst/>
          </a:prstGeom>
          <a:ln w="1778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893868" y="2212848"/>
            <a:ext cx="201168" cy="0"/>
          </a:xfrm>
          <a:prstGeom prst="line">
            <a:avLst/>
          </a:prstGeom>
          <a:ln w="1778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03059" y="2212848"/>
            <a:ext cx="201168" cy="0"/>
          </a:xfrm>
          <a:prstGeom prst="line">
            <a:avLst/>
          </a:prstGeom>
          <a:ln w="1778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312249" y="2212848"/>
            <a:ext cx="201168" cy="0"/>
          </a:xfrm>
          <a:prstGeom prst="line">
            <a:avLst/>
          </a:prstGeom>
          <a:ln w="1778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94944" y="1746504"/>
            <a:ext cx="197144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4944" y="1746504"/>
            <a:ext cx="1971446" cy="6400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1920240"/>
            <a:ext cx="178856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6FEB"/>
                </a:solidFill>
                <a:latin typeface="Arial"/>
              </a:rPr>
              <a:t>Email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2231136"/>
            <a:ext cx="178856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372"/>
                </a:solidFill>
                <a:latin typeface="Arial"/>
              </a:rPr>
              <a:t>Retrieve the matching booking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04134" y="1746504"/>
            <a:ext cx="197144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04134" y="1746504"/>
            <a:ext cx="1971446" cy="640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95574" y="1920240"/>
            <a:ext cx="178856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0B981"/>
                </a:solidFill>
                <a:latin typeface="Arial"/>
              </a:rPr>
              <a:t>Extract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95574" y="2231136"/>
            <a:ext cx="178856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372"/>
                </a:solidFill>
                <a:latin typeface="Arial"/>
              </a:rPr>
              <a:t>Flight, passenger and time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13324" y="1746504"/>
            <a:ext cx="197144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13324" y="1746504"/>
            <a:ext cx="1971446" cy="6400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04764" y="1920240"/>
            <a:ext cx="178856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7C3AED"/>
                </a:solidFill>
                <a:latin typeface="Arial"/>
              </a:rPr>
              <a:t>Browser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04764" y="2231136"/>
            <a:ext cx="178856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372"/>
                </a:solidFill>
                <a:latin typeface="Arial"/>
              </a:rPr>
              <a:t>Populate but do not submit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22515" y="1746504"/>
            <a:ext cx="197144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22515" y="1746504"/>
            <a:ext cx="1971446" cy="6400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13955" y="1920240"/>
            <a:ext cx="178856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9E0B"/>
                </a:solidFill>
                <a:latin typeface="Arial"/>
              </a:rPr>
              <a:t>Approve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13955" y="2231136"/>
            <a:ext cx="178856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372"/>
                </a:solidFill>
                <a:latin typeface="Arial"/>
              </a:rPr>
              <a:t>Traveller checks all fields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31705" y="1746504"/>
            <a:ext cx="197144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1705" y="1746504"/>
            <a:ext cx="1971446" cy="64008"/>
          </a:xfrm>
          <a:prstGeom prst="rect">
            <a:avLst/>
          </a:prstGeom>
          <a:solidFill>
            <a:srgbClr val="F46A5A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23145" y="1920240"/>
            <a:ext cx="178856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46A5A"/>
                </a:solidFill>
                <a:latin typeface="Arial"/>
              </a:rPr>
              <a:t>Receipt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23145" y="2231136"/>
            <a:ext cx="178856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372"/>
                </a:solidFill>
                <a:latin typeface="Arial"/>
              </a:rPr>
              <a:t>Save confirmation after submit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4944" y="3054096"/>
            <a:ext cx="5312664" cy="1234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94944" y="3054096"/>
            <a:ext cx="73152" cy="1234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3200400"/>
            <a:ext cx="4791456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6FEB"/>
                </a:solidFill>
                <a:latin typeface="Arial"/>
              </a:rPr>
              <a:t>TRIGGER + SESSION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3493008"/>
            <a:ext cx="4800600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61B26"/>
                </a:solidFill>
                <a:latin typeface="Arial"/>
              </a:rPr>
              <a:t>approved booking-email match; one run per booking ID
private per-user session; expire after travel date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0488" y="3054096"/>
            <a:ext cx="5312664" cy="1234440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90488" y="3054096"/>
            <a:ext cx="73152" cy="1234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9944" y="3200400"/>
            <a:ext cx="4791456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B981"/>
                </a:solidFill>
                <a:latin typeface="Arial"/>
              </a:rPr>
              <a:t>TOOLS + STATE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9944" y="3493008"/>
            <a:ext cx="4800600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61B26"/>
                </a:solidFill>
                <a:latin typeface="Arial"/>
              </a:rPr>
              <a:t>mail.read + browser.fill; browser.submit is approval-only
State: booking reference, extracted fields and preview screenshot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94944" y="4498848"/>
            <a:ext cx="5312664" cy="1234440"/>
          </a:xfrm>
          <a:prstGeom prst="roundRect">
            <a:avLst>
              <a:gd name="adj" fmla="val 12000"/>
            </a:avLst>
          </a:prstGeom>
          <a:solidFill>
            <a:srgbClr val="F2EC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4944" y="4498848"/>
            <a:ext cx="73152" cy="123444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4645152"/>
            <a:ext cx="4791456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C3AED"/>
                </a:solidFill>
                <a:latin typeface="Arial"/>
              </a:rPr>
              <a:t>APPROVAL / POLICY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4937760"/>
            <a:ext cx="4800600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61B26"/>
                </a:solidFill>
                <a:latin typeface="Arial"/>
              </a:rPr>
              <a:t>Traveller verifies name, flight, seats and passport fields before submit.
Boundary: Read-only email access; browser submission requires per-action approval.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90488" y="4498848"/>
            <a:ext cx="5312664" cy="1234440"/>
          </a:xfrm>
          <a:prstGeom prst="roundRect">
            <a:avLst>
              <a:gd name="adj" fmla="val 12000"/>
            </a:avLst>
          </a:prstGeom>
          <a:solidFill>
            <a:srgbClr val="FFF6E6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190488" y="4498848"/>
            <a:ext cx="73152" cy="12344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9944" y="4645152"/>
            <a:ext cx="4791456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59E0B"/>
                </a:solidFill>
                <a:latin typeface="Arial"/>
              </a:rPr>
              <a:t>EVIDENCE + FAILURE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9944" y="4937760"/>
            <a:ext cx="4800600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61B26"/>
                </a:solidFill>
                <a:latin typeface="Arial"/>
              </a:rPr>
              <a:t>Booking source, preview screenshot, approval event and confirmation ID.
Failure: Mismatch or CAPTCHA stops the run and returns the populated preview.</a:t>
            </a:r>
          </a:p>
        </p:txBody>
      </p:sp>
    </p:spTree>
  </p:cSld>
  <p:clrMapOvr>
    <a:masterClrMapping/>
  </p:clrMapOvr>
  <p:transition spd="fast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IMPLEMENTATION CASE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Personal morning command centre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60704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372"/>
                </a:solidFill>
                <a:latin typeface="Arial"/>
              </a:rPr>
              <a:t>A user asks one channel for calendar, priority, weather and outstanding follow-ups.</a:t>
            </a:r>
          </a:p>
        </p:txBody>
      </p:sp>
      <p:sp>
        <p:nvSpPr>
          <p:cNvPr id="6" name="Oval 5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96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84678" y="2212848"/>
            <a:ext cx="201168" cy="0"/>
          </a:xfrm>
          <a:prstGeom prst="line">
            <a:avLst/>
          </a:prstGeom>
          <a:ln w="1778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893868" y="2212848"/>
            <a:ext cx="201168" cy="0"/>
          </a:xfrm>
          <a:prstGeom prst="line">
            <a:avLst/>
          </a:prstGeom>
          <a:ln w="1778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03059" y="2212848"/>
            <a:ext cx="201168" cy="0"/>
          </a:xfrm>
          <a:prstGeom prst="line">
            <a:avLst/>
          </a:prstGeom>
          <a:ln w="1778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312249" y="2212848"/>
            <a:ext cx="201168" cy="0"/>
          </a:xfrm>
          <a:prstGeom prst="line">
            <a:avLst/>
          </a:prstGeom>
          <a:ln w="1778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94944" y="1746504"/>
            <a:ext cx="197144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4944" y="1746504"/>
            <a:ext cx="1971446" cy="6400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1920240"/>
            <a:ext cx="178856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6FEB"/>
                </a:solidFill>
                <a:latin typeface="Arial"/>
              </a:rPr>
              <a:t>Heartbeat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2231136"/>
            <a:ext cx="178856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372"/>
                </a:solidFill>
                <a:latin typeface="Arial"/>
              </a:rPr>
              <a:t>Wake main session periodically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04134" y="1746504"/>
            <a:ext cx="197144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04134" y="1746504"/>
            <a:ext cx="1971446" cy="640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95574" y="1920240"/>
            <a:ext cx="178856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0B981"/>
                </a:solidFill>
                <a:latin typeface="Arial"/>
              </a:rPr>
              <a:t>Retrieve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95574" y="2231136"/>
            <a:ext cx="178856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372"/>
                </a:solidFill>
                <a:latin typeface="Arial"/>
              </a:rPr>
              <a:t>Calendar and approved task list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13324" y="1746504"/>
            <a:ext cx="197144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13324" y="1746504"/>
            <a:ext cx="1971446" cy="6400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04764" y="1920240"/>
            <a:ext cx="178856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7C3AED"/>
                </a:solidFill>
                <a:latin typeface="Arial"/>
              </a:rPr>
              <a:t>Decide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04764" y="2231136"/>
            <a:ext cx="178856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372"/>
                </a:solidFill>
                <a:latin typeface="Arial"/>
              </a:rPr>
              <a:t>Only report relevant changes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22515" y="1746504"/>
            <a:ext cx="197144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22515" y="1746504"/>
            <a:ext cx="1971446" cy="6400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13955" y="1920240"/>
            <a:ext cx="178856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9E0B"/>
                </a:solidFill>
                <a:latin typeface="Arial"/>
              </a:rPr>
              <a:t>Compose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13955" y="2231136"/>
            <a:ext cx="178856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372"/>
                </a:solidFill>
                <a:latin typeface="Arial"/>
              </a:rPr>
              <a:t>Rank by time and consequence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31705" y="1746504"/>
            <a:ext cx="197144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1705" y="1746504"/>
            <a:ext cx="1971446" cy="64008"/>
          </a:xfrm>
          <a:prstGeom prst="rect">
            <a:avLst/>
          </a:prstGeom>
          <a:solidFill>
            <a:srgbClr val="F46A5A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23145" y="1920240"/>
            <a:ext cx="178856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46A5A"/>
                </a:solidFill>
                <a:latin typeface="Arial"/>
              </a:rPr>
              <a:t>Notify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23145" y="2231136"/>
            <a:ext cx="178856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372"/>
                </a:solidFill>
                <a:latin typeface="Arial"/>
              </a:rPr>
              <a:t>Owner DM or no-op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4944" y="3054096"/>
            <a:ext cx="5312664" cy="1234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94944" y="3054096"/>
            <a:ext cx="73152" cy="1234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3200400"/>
            <a:ext cx="4791456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6FEB"/>
                </a:solidFill>
                <a:latin typeface="Arial"/>
              </a:rPr>
              <a:t>TRIGGER + SESSION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3493008"/>
            <a:ext cx="4800600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61B26"/>
                </a:solidFill>
                <a:latin typeface="Arial"/>
              </a:rPr>
              <a:t>heartbeat every 30m in the owner main session
owner-only main session; no detached job transcript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0488" y="3054096"/>
            <a:ext cx="5312664" cy="1234440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90488" y="3054096"/>
            <a:ext cx="73152" cy="1234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9944" y="3200400"/>
            <a:ext cx="4791456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B981"/>
                </a:solidFill>
                <a:latin typeface="Arial"/>
              </a:rPr>
              <a:t>TOOLS + STATE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9944" y="3493008"/>
            <a:ext cx="4800600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61B26"/>
                </a:solidFill>
                <a:latin typeface="Arial"/>
              </a:rPr>
              <a:t>calendar.read, tasks.read, weather.read; no write capability
State: last-notified item hashes suppress duplicate alerts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94944" y="4498848"/>
            <a:ext cx="5312664" cy="1234440"/>
          </a:xfrm>
          <a:prstGeom prst="roundRect">
            <a:avLst>
              <a:gd name="adj" fmla="val 12000"/>
            </a:avLst>
          </a:prstGeom>
          <a:solidFill>
            <a:srgbClr val="F2EC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4944" y="4498848"/>
            <a:ext cx="73152" cy="123444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4645152"/>
            <a:ext cx="4791456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C3AED"/>
                </a:solidFill>
                <a:latin typeface="Arial"/>
              </a:rPr>
              <a:t>APPROVAL / POLICY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4937760"/>
            <a:ext cx="4800600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61B26"/>
                </a:solidFill>
                <a:latin typeface="Arial"/>
              </a:rPr>
              <a:t>Notify only for a new deadline, conflict or weather exception.
Boundary: Owner-only target; read-only sources; no notification when nothing changed.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90488" y="4498848"/>
            <a:ext cx="5312664" cy="1234440"/>
          </a:xfrm>
          <a:prstGeom prst="roundRect">
            <a:avLst>
              <a:gd name="adj" fmla="val 12000"/>
            </a:avLst>
          </a:prstGeom>
          <a:solidFill>
            <a:srgbClr val="FFF6E6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190488" y="4498848"/>
            <a:ext cx="73152" cy="12344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9944" y="4645152"/>
            <a:ext cx="4791456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59E0B"/>
                </a:solidFill>
                <a:latin typeface="Arial"/>
              </a:rPr>
              <a:t>EVIDENCE + FAILURE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9944" y="4937760"/>
            <a:ext cx="4800600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61B26"/>
                </a:solidFill>
                <a:latin typeface="Arial"/>
              </a:rPr>
              <a:t>Retrieved items, prioritisation rationale and delivered message or no-op trace.
Failure: Unavailable source is labelled stale; healthy state returns no-op.</a:t>
            </a:r>
          </a:p>
        </p:txBody>
      </p:sp>
    </p:spTree>
  </p:cSld>
  <p:clrMapOvr>
    <a:masterClrMapping/>
  </p:clrMapOvr>
  <p:transition spd="fast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IMPLEMENTATION CASE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Competitor change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60704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372"/>
                </a:solidFill>
                <a:latin typeface="Arial"/>
              </a:rPr>
              <a:t>Operations needs to know when selected competitor pages materially change.</a:t>
            </a:r>
          </a:p>
        </p:txBody>
      </p:sp>
      <p:sp>
        <p:nvSpPr>
          <p:cNvPr id="6" name="Oval 5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97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84678" y="2212848"/>
            <a:ext cx="201168" cy="0"/>
          </a:xfrm>
          <a:prstGeom prst="line">
            <a:avLst/>
          </a:prstGeom>
          <a:ln w="1778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893868" y="2212848"/>
            <a:ext cx="201168" cy="0"/>
          </a:xfrm>
          <a:prstGeom prst="line">
            <a:avLst/>
          </a:prstGeom>
          <a:ln w="1778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03059" y="2212848"/>
            <a:ext cx="201168" cy="0"/>
          </a:xfrm>
          <a:prstGeom prst="line">
            <a:avLst/>
          </a:prstGeom>
          <a:ln w="1778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312249" y="2212848"/>
            <a:ext cx="201168" cy="0"/>
          </a:xfrm>
          <a:prstGeom prst="line">
            <a:avLst/>
          </a:prstGeom>
          <a:ln w="1778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94944" y="1746504"/>
            <a:ext cx="197144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4944" y="1746504"/>
            <a:ext cx="1971446" cy="6400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1920240"/>
            <a:ext cx="178856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2231136"/>
            <a:ext cx="178856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372"/>
                </a:solidFill>
                <a:latin typeface="Arial"/>
              </a:rPr>
              <a:t>Bounded daily fetch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04134" y="1746504"/>
            <a:ext cx="197144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04134" y="1746504"/>
            <a:ext cx="1971446" cy="640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95574" y="1920240"/>
            <a:ext cx="178856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0B981"/>
                </a:solidFill>
                <a:latin typeface="Arial"/>
              </a:rPr>
              <a:t>Compare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95574" y="2231136"/>
            <a:ext cx="178856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372"/>
                </a:solidFill>
                <a:latin typeface="Arial"/>
              </a:rPr>
              <a:t>Hash and semantic difference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13324" y="1746504"/>
            <a:ext cx="197144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13324" y="1746504"/>
            <a:ext cx="1971446" cy="6400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04764" y="1920240"/>
            <a:ext cx="178856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7C3AED"/>
                </a:solidFill>
                <a:latin typeface="Arial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04764" y="2231136"/>
            <a:ext cx="178856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372"/>
                </a:solidFill>
                <a:latin typeface="Arial"/>
              </a:rPr>
              <a:t>Re-open changed source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22515" y="1746504"/>
            <a:ext cx="197144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22515" y="1746504"/>
            <a:ext cx="1971446" cy="6400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13955" y="1920240"/>
            <a:ext cx="178856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9E0B"/>
                </a:solidFill>
                <a:latin typeface="Arial"/>
              </a:rPr>
              <a:t>Classify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13955" y="2231136"/>
            <a:ext cx="178856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372"/>
                </a:solidFill>
                <a:latin typeface="Arial"/>
              </a:rPr>
              <a:t>Pricing, product or noise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31705" y="1746504"/>
            <a:ext cx="197144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1705" y="1746504"/>
            <a:ext cx="1971446" cy="64008"/>
          </a:xfrm>
          <a:prstGeom prst="rect">
            <a:avLst/>
          </a:prstGeom>
          <a:solidFill>
            <a:srgbClr val="F46A5A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23145" y="1920240"/>
            <a:ext cx="178856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46A5A"/>
                </a:solidFill>
                <a:latin typeface="Arial"/>
              </a:rPr>
              <a:t>Alert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23145" y="2231136"/>
            <a:ext cx="178856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372"/>
                </a:solidFill>
                <a:latin typeface="Arial"/>
              </a:rPr>
              <a:t>Evidence-linked exception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4944" y="3054096"/>
            <a:ext cx="5312664" cy="1234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94944" y="3054096"/>
            <a:ext cx="73152" cy="1234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3200400"/>
            <a:ext cx="4791456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6FEB"/>
                </a:solidFill>
                <a:latin typeface="Arial"/>
              </a:rPr>
              <a:t>TRIGGER + SESSION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3493008"/>
            <a:ext cx="4800600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61B26"/>
                </a:solidFill>
                <a:latin typeface="Arial"/>
              </a:rPr>
              <a:t>daily isolated cron run per monitored domain
one retained run record; retry key=date+URL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0488" y="3054096"/>
            <a:ext cx="5312664" cy="1234440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90488" y="3054096"/>
            <a:ext cx="73152" cy="1234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9944" y="3200400"/>
            <a:ext cx="4791456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B981"/>
                </a:solidFill>
                <a:latin typeface="Arial"/>
              </a:rPr>
              <a:t>TOOLS + STATE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9944" y="3493008"/>
            <a:ext cx="4800600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61B26"/>
                </a:solidFill>
                <a:latin typeface="Arial"/>
              </a:rPr>
              <a:t>web_fetch; robots/access respected; bounded request rate
State: ETag, content hash, relevant excerpt and previous classification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94944" y="4498848"/>
            <a:ext cx="5312664" cy="1234440"/>
          </a:xfrm>
          <a:prstGeom prst="roundRect">
            <a:avLst>
              <a:gd name="adj" fmla="val 12000"/>
            </a:avLst>
          </a:prstGeom>
          <a:solidFill>
            <a:srgbClr val="F2EC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4944" y="4498848"/>
            <a:ext cx="73152" cy="123444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4645152"/>
            <a:ext cx="4791456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C3AED"/>
                </a:solidFill>
                <a:latin typeface="Arial"/>
              </a:rPr>
              <a:t>APPROVAL / POLICY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4937760"/>
            <a:ext cx="4800600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61B26"/>
                </a:solidFill>
                <a:latin typeface="Arial"/>
              </a:rPr>
              <a:t>Alert only after re-fetch confirms a material semantic change.
Boundary: Approved public pages, rate limits, no bypass of access controls.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90488" y="4498848"/>
            <a:ext cx="5312664" cy="1234440"/>
          </a:xfrm>
          <a:prstGeom prst="roundRect">
            <a:avLst>
              <a:gd name="adj" fmla="val 12000"/>
            </a:avLst>
          </a:prstGeom>
          <a:solidFill>
            <a:srgbClr val="FFF6E6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190488" y="4498848"/>
            <a:ext cx="73152" cy="12344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9944" y="4645152"/>
            <a:ext cx="4791456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59E0B"/>
                </a:solidFill>
                <a:latin typeface="Arial"/>
              </a:rPr>
              <a:t>EVIDENCE + FAILURE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9944" y="4937760"/>
            <a:ext cx="4800600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61B26"/>
                </a:solidFill>
                <a:latin typeface="Arial"/>
              </a:rPr>
              <a:t>Before/after excerpts, change time, classification and source link.
Failure: 429/5xx uses backoff; access denial is reported, never bypassed.</a:t>
            </a:r>
          </a:p>
        </p:txBody>
      </p:sp>
    </p:spTree>
  </p:cSld>
  <p:clrMapOvr>
    <a:masterClrMapping/>
  </p:clrMapOvr>
  <p:transition spd="fast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IMPLEMENTATION CASE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Repository issue-to-fix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60704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372"/>
                </a:solidFill>
                <a:latin typeface="Arial"/>
              </a:rPr>
              <a:t>A development team wants an agent to investigate a labelled issue and prepare a reviewed patch.</a:t>
            </a:r>
          </a:p>
        </p:txBody>
      </p:sp>
      <p:sp>
        <p:nvSpPr>
          <p:cNvPr id="6" name="Oval 5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98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84678" y="2212848"/>
            <a:ext cx="201168" cy="0"/>
          </a:xfrm>
          <a:prstGeom prst="line">
            <a:avLst/>
          </a:prstGeom>
          <a:ln w="1778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893868" y="2212848"/>
            <a:ext cx="201168" cy="0"/>
          </a:xfrm>
          <a:prstGeom prst="line">
            <a:avLst/>
          </a:prstGeom>
          <a:ln w="1778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03059" y="2212848"/>
            <a:ext cx="201168" cy="0"/>
          </a:xfrm>
          <a:prstGeom prst="line">
            <a:avLst/>
          </a:prstGeom>
          <a:ln w="1778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312249" y="2212848"/>
            <a:ext cx="201168" cy="0"/>
          </a:xfrm>
          <a:prstGeom prst="line">
            <a:avLst/>
          </a:prstGeom>
          <a:ln w="1778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94944" y="1746504"/>
            <a:ext cx="197144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4944" y="1746504"/>
            <a:ext cx="1971446" cy="6400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1920240"/>
            <a:ext cx="178856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6FEB"/>
                </a:solidFill>
                <a:latin typeface="Arial"/>
              </a:rPr>
              <a:t>Trigger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2231136"/>
            <a:ext cx="178856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372"/>
                </a:solidFill>
                <a:latin typeface="Arial"/>
              </a:rPr>
              <a:t>Approved issue label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04134" y="1746504"/>
            <a:ext cx="197144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04134" y="1746504"/>
            <a:ext cx="1971446" cy="640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95574" y="1920240"/>
            <a:ext cx="178856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0B981"/>
                </a:solidFill>
                <a:latin typeface="Arial"/>
              </a:rPr>
              <a:t>Worktree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95574" y="2231136"/>
            <a:ext cx="178856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372"/>
                </a:solidFill>
                <a:latin typeface="Arial"/>
              </a:rPr>
              <a:t>Isolated branch and files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13324" y="1746504"/>
            <a:ext cx="197144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13324" y="1746504"/>
            <a:ext cx="1971446" cy="6400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04764" y="1920240"/>
            <a:ext cx="178856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7C3AED"/>
                </a:solidFill>
                <a:latin typeface="Arial"/>
              </a:rPr>
              <a:t>Build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04764" y="2231136"/>
            <a:ext cx="178856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372"/>
                </a:solidFill>
                <a:latin typeface="Arial"/>
              </a:rPr>
              <a:t>Implement bounded change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22515" y="1746504"/>
            <a:ext cx="197144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22515" y="1746504"/>
            <a:ext cx="1971446" cy="6400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13955" y="1920240"/>
            <a:ext cx="178856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9E0B"/>
                </a:solidFill>
                <a:latin typeface="Arial"/>
              </a:rPr>
              <a:t>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13955" y="2231136"/>
            <a:ext cx="178856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372"/>
                </a:solidFill>
                <a:latin typeface="Arial"/>
              </a:rPr>
              <a:t>Run specified acceptance suite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31705" y="1746504"/>
            <a:ext cx="197144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1705" y="1746504"/>
            <a:ext cx="1971446" cy="64008"/>
          </a:xfrm>
          <a:prstGeom prst="rect">
            <a:avLst/>
          </a:prstGeom>
          <a:solidFill>
            <a:srgbClr val="F46A5A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23145" y="1920240"/>
            <a:ext cx="178856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46A5A"/>
                </a:solidFill>
                <a:latin typeface="Arial"/>
              </a:rPr>
              <a:t>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23145" y="2231136"/>
            <a:ext cx="178856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372"/>
                </a:solidFill>
                <a:latin typeface="Arial"/>
              </a:rPr>
              <a:t>Human merges after diff review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4944" y="3054096"/>
            <a:ext cx="5312664" cy="1234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94944" y="3054096"/>
            <a:ext cx="73152" cy="1234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3200400"/>
            <a:ext cx="4791456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6FEB"/>
                </a:solidFill>
                <a:latin typeface="Arial"/>
              </a:rPr>
              <a:t>TRIGGER + SESSION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3493008"/>
            <a:ext cx="4800600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61B26"/>
                </a:solidFill>
                <a:latin typeface="Arial"/>
              </a:rPr>
              <a:t>repository issue receives the approved agent-ready label
isolated run + dedicated worktree/branch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0488" y="3054096"/>
            <a:ext cx="5312664" cy="1234440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90488" y="3054096"/>
            <a:ext cx="73152" cy="1234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9944" y="3200400"/>
            <a:ext cx="4791456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B981"/>
                </a:solidFill>
                <a:latin typeface="Arial"/>
              </a:rPr>
              <a:t>TOOLS + STATE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9944" y="3493008"/>
            <a:ext cx="4800600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61B26"/>
                </a:solidFill>
                <a:latin typeface="Arial"/>
              </a:rPr>
              <a:t>repo read/write and named test commands; no deploy or main push
State: issue ID, branch SHA, diff, test log and reviewer comments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94944" y="4498848"/>
            <a:ext cx="5312664" cy="1234440"/>
          </a:xfrm>
          <a:prstGeom prst="roundRect">
            <a:avLst>
              <a:gd name="adj" fmla="val 12000"/>
            </a:avLst>
          </a:prstGeom>
          <a:solidFill>
            <a:srgbClr val="F2EC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4944" y="4498848"/>
            <a:ext cx="73152" cy="123444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4645152"/>
            <a:ext cx="4791456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C3AED"/>
                </a:solidFill>
                <a:latin typeface="Arial"/>
              </a:rPr>
              <a:t>APPROVAL / POLICY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4937760"/>
            <a:ext cx="4800600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61B26"/>
                </a:solidFill>
                <a:latin typeface="Arial"/>
              </a:rPr>
              <a:t>Human reviews diff and tests before merge authority is exercised.
Boundary: No direct main-branch write, no secret access, no deployment authority.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90488" y="4498848"/>
            <a:ext cx="5312664" cy="1234440"/>
          </a:xfrm>
          <a:prstGeom prst="roundRect">
            <a:avLst>
              <a:gd name="adj" fmla="val 12000"/>
            </a:avLst>
          </a:prstGeom>
          <a:solidFill>
            <a:srgbClr val="FFF6E6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190488" y="4498848"/>
            <a:ext cx="73152" cy="12344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9944" y="4645152"/>
            <a:ext cx="4791456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59E0B"/>
                </a:solidFill>
                <a:latin typeface="Arial"/>
              </a:rPr>
              <a:t>EVIDENCE + FAILURE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9944" y="4937760"/>
            <a:ext cx="4800600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61B26"/>
                </a:solidFill>
                <a:latin typeface="Arial"/>
              </a:rPr>
              <a:t>Issue ID, branch, diff, tests, reviewer decision and final commit.
Failure: Failing tests return the branch, diff and first failing assertion.</a:t>
            </a:r>
          </a:p>
        </p:txBody>
      </p:sp>
    </p:spTree>
  </p:cSld>
  <p:clrMapOvr>
    <a:masterClrMapping/>
  </p:clrMapOvr>
  <p:transition spd="fast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IMPLEMENTATION CASE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Supplier invoice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60704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372"/>
                </a:solidFill>
                <a:latin typeface="Arial"/>
              </a:rPr>
              <a:t>Finance needs a repeatable check against a trusted invoice registry before approval.</a:t>
            </a:r>
          </a:p>
        </p:txBody>
      </p:sp>
      <p:sp>
        <p:nvSpPr>
          <p:cNvPr id="6" name="Oval 5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99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84678" y="2212848"/>
            <a:ext cx="201168" cy="0"/>
          </a:xfrm>
          <a:prstGeom prst="line">
            <a:avLst/>
          </a:prstGeom>
          <a:ln w="1778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893868" y="2212848"/>
            <a:ext cx="201168" cy="0"/>
          </a:xfrm>
          <a:prstGeom prst="line">
            <a:avLst/>
          </a:prstGeom>
          <a:ln w="1778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03059" y="2212848"/>
            <a:ext cx="201168" cy="0"/>
          </a:xfrm>
          <a:prstGeom prst="line">
            <a:avLst/>
          </a:prstGeom>
          <a:ln w="1778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312249" y="2212848"/>
            <a:ext cx="201168" cy="0"/>
          </a:xfrm>
          <a:prstGeom prst="line">
            <a:avLst/>
          </a:prstGeom>
          <a:ln w="1778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94944" y="1746504"/>
            <a:ext cx="197144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4944" y="1746504"/>
            <a:ext cx="1971446" cy="6400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1920240"/>
            <a:ext cx="178856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6FEB"/>
                </a:solidFill>
                <a:latin typeface="Arial"/>
              </a:rPr>
              <a:t>Intake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2231136"/>
            <a:ext cx="178856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372"/>
                </a:solidFill>
                <a:latin typeface="Arial"/>
              </a:rPr>
              <a:t>Validate required invoice fields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04134" y="1746504"/>
            <a:ext cx="197144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04134" y="1746504"/>
            <a:ext cx="1971446" cy="640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95574" y="1920240"/>
            <a:ext cx="178856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0B981"/>
                </a:solidFill>
                <a:latin typeface="Arial"/>
              </a:rPr>
              <a:t>Lookup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95574" y="2231136"/>
            <a:ext cx="178856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372"/>
                </a:solidFill>
                <a:latin typeface="Arial"/>
              </a:rPr>
              <a:t>Query the trusted registry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13324" y="1746504"/>
            <a:ext cx="197144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13324" y="1746504"/>
            <a:ext cx="1971446" cy="6400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04764" y="1920240"/>
            <a:ext cx="178856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7C3AED"/>
                </a:solidFill>
                <a:latin typeface="Arial"/>
              </a:rPr>
              <a:t>Compare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04764" y="2231136"/>
            <a:ext cx="178856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372"/>
                </a:solidFill>
                <a:latin typeface="Arial"/>
              </a:rPr>
              <a:t>Canonical amount and identity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22515" y="1746504"/>
            <a:ext cx="197144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22515" y="1746504"/>
            <a:ext cx="1971446" cy="6400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13955" y="1920240"/>
            <a:ext cx="178856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9E0B"/>
                </a:solidFill>
                <a:latin typeface="Arial"/>
              </a:rPr>
              <a:t>Decide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13955" y="2231136"/>
            <a:ext cx="178856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372"/>
                </a:solidFill>
                <a:latin typeface="Arial"/>
              </a:rPr>
              <a:t>Verified, mismatch or unknown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31705" y="1746504"/>
            <a:ext cx="197144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1705" y="1746504"/>
            <a:ext cx="1971446" cy="64008"/>
          </a:xfrm>
          <a:prstGeom prst="rect">
            <a:avLst/>
          </a:prstGeom>
          <a:solidFill>
            <a:srgbClr val="F46A5A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23145" y="1920240"/>
            <a:ext cx="178856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46A5A"/>
                </a:solidFill>
                <a:latin typeface="Arial"/>
              </a:rPr>
              <a:t>Route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23145" y="2231136"/>
            <a:ext cx="178856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372"/>
                </a:solidFill>
                <a:latin typeface="Arial"/>
              </a:rPr>
              <a:t>Finance owner reviews exception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4944" y="3054096"/>
            <a:ext cx="5312664" cy="1234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94944" y="3054096"/>
            <a:ext cx="73152" cy="1234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3200400"/>
            <a:ext cx="4791456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6FEB"/>
                </a:solidFill>
                <a:latin typeface="Arial"/>
              </a:rPr>
              <a:t>TRIGGER + SESSION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3493008"/>
            <a:ext cx="4800600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61B26"/>
                </a:solidFill>
                <a:latin typeface="Arial"/>
              </a:rPr>
              <a:t>validated invoice payload with immutable request ID
one case session keyed by supplier+invoice ID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0488" y="3054096"/>
            <a:ext cx="5312664" cy="1234440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90488" y="3054096"/>
            <a:ext cx="73152" cy="1234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9944" y="3200400"/>
            <a:ext cx="4791456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B981"/>
                </a:solidFill>
                <a:latin typeface="Arial"/>
              </a:rPr>
              <a:t>TOOLS + STATE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9944" y="3493008"/>
            <a:ext cx="4800600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61B26"/>
                </a:solidFill>
                <a:latin typeface="Arial"/>
              </a:rPr>
              <a:t>HTTP POST /verify; registry is read-only to the agent
State: canonical payload hash, registry response and finance decision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94944" y="4498848"/>
            <a:ext cx="5312664" cy="1234440"/>
          </a:xfrm>
          <a:prstGeom prst="roundRect">
            <a:avLst>
              <a:gd name="adj" fmla="val 12000"/>
            </a:avLst>
          </a:prstGeom>
          <a:solidFill>
            <a:srgbClr val="F2EC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4944" y="4498848"/>
            <a:ext cx="73152" cy="123444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4645152"/>
            <a:ext cx="4791456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C3AED"/>
                </a:solidFill>
                <a:latin typeface="Arial"/>
              </a:rPr>
              <a:t>APPROVAL / POLICY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4937760"/>
            <a:ext cx="4800600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61B26"/>
                </a:solidFill>
                <a:latin typeface="Arial"/>
              </a:rPr>
              <a:t>Agent cannot modify registry, approve payment or hide mismatch.
Boundary: The agent cannot change the registry, approve payment or suppress a mismatch.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90488" y="4498848"/>
            <a:ext cx="5312664" cy="1234440"/>
          </a:xfrm>
          <a:prstGeom prst="roundRect">
            <a:avLst>
              <a:gd name="adj" fmla="val 12000"/>
            </a:avLst>
          </a:prstGeom>
          <a:solidFill>
            <a:srgbClr val="FFF6E6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190488" y="4498848"/>
            <a:ext cx="73152" cy="12344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9944" y="4645152"/>
            <a:ext cx="4791456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59E0B"/>
                </a:solidFill>
                <a:latin typeface="Arial"/>
              </a:rPr>
              <a:t>EVIDENCE + FAILURE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9944" y="4937760"/>
            <a:ext cx="4800600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61B26"/>
                </a:solidFill>
                <a:latin typeface="Arial"/>
              </a:rPr>
              <a:t>Request payload, registry response, decision reason and finance hand-off.
Failure: Unknown or mismatched invoice routes to finance with raw evidence.</a:t>
            </a:r>
          </a:p>
        </p:txBody>
      </p:sp>
    </p:spTree>
  </p:cSld>
  <p:clrMapOvr>
    <a:masterClrMapping/>
  </p:clrMapOvr>
  <p:transition spd="fast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IMPLEMENTATION CASE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Customer-service triage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60704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372"/>
                </a:solidFill>
                <a:latin typeface="Arial"/>
              </a:rPr>
              <a:t>A shared inbox needs urgency, intent and knowledge-backed draft responses.</a:t>
            </a:r>
          </a:p>
        </p:txBody>
      </p:sp>
      <p:sp>
        <p:nvSpPr>
          <p:cNvPr id="6" name="Oval 5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100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84678" y="2212848"/>
            <a:ext cx="201168" cy="0"/>
          </a:xfrm>
          <a:prstGeom prst="line">
            <a:avLst/>
          </a:prstGeom>
          <a:ln w="1778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893868" y="2212848"/>
            <a:ext cx="201168" cy="0"/>
          </a:xfrm>
          <a:prstGeom prst="line">
            <a:avLst/>
          </a:prstGeom>
          <a:ln w="1778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03059" y="2212848"/>
            <a:ext cx="201168" cy="0"/>
          </a:xfrm>
          <a:prstGeom prst="line">
            <a:avLst/>
          </a:prstGeom>
          <a:ln w="1778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312249" y="2212848"/>
            <a:ext cx="201168" cy="0"/>
          </a:xfrm>
          <a:prstGeom prst="line">
            <a:avLst/>
          </a:prstGeom>
          <a:ln w="1778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94944" y="1746504"/>
            <a:ext cx="197144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4944" y="1746504"/>
            <a:ext cx="1971446" cy="6400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1920240"/>
            <a:ext cx="178856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6FEB"/>
                </a:solidFill>
                <a:latin typeface="Arial"/>
              </a:rPr>
              <a:t>Ingest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2231136"/>
            <a:ext cx="178856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372"/>
                </a:solidFill>
                <a:latin typeface="Arial"/>
              </a:rPr>
              <a:t>New ticket with channel metadata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04134" y="1746504"/>
            <a:ext cx="197144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04134" y="1746504"/>
            <a:ext cx="1971446" cy="640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95574" y="1920240"/>
            <a:ext cx="178856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0B981"/>
                </a:solidFill>
                <a:latin typeface="Arial"/>
              </a:rPr>
              <a:t>Classify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95574" y="2231136"/>
            <a:ext cx="178856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372"/>
                </a:solidFill>
                <a:latin typeface="Arial"/>
              </a:rPr>
              <a:t>Intent, urgency and confidence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13324" y="1746504"/>
            <a:ext cx="197144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13324" y="1746504"/>
            <a:ext cx="1971446" cy="6400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04764" y="1920240"/>
            <a:ext cx="178856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7C3AED"/>
                </a:solidFill>
                <a:latin typeface="Arial"/>
              </a:rPr>
              <a:t>Retrieve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04764" y="2231136"/>
            <a:ext cx="178856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372"/>
                </a:solidFill>
                <a:latin typeface="Arial"/>
              </a:rPr>
              <a:t>Approved knowledge article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22515" y="1746504"/>
            <a:ext cx="197144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22515" y="1746504"/>
            <a:ext cx="1971446" cy="6400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13955" y="1920240"/>
            <a:ext cx="178856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9E0B"/>
                </a:solidFill>
                <a:latin typeface="Arial"/>
              </a:rPr>
              <a:t>Draft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13955" y="2231136"/>
            <a:ext cx="178856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372"/>
                </a:solidFill>
                <a:latin typeface="Arial"/>
              </a:rPr>
              <a:t>Response with cited basis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31705" y="1746504"/>
            <a:ext cx="197144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1705" y="1746504"/>
            <a:ext cx="1971446" cy="64008"/>
          </a:xfrm>
          <a:prstGeom prst="rect">
            <a:avLst/>
          </a:prstGeom>
          <a:solidFill>
            <a:srgbClr val="F46A5A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23145" y="1920240"/>
            <a:ext cx="178856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46A5A"/>
                </a:solidFill>
                <a:latin typeface="Arial"/>
              </a:rPr>
              <a:t>Escalate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23145" y="2231136"/>
            <a:ext cx="178856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372"/>
                </a:solidFill>
                <a:latin typeface="Arial"/>
              </a:rPr>
              <a:t>Human handles risk or low confidence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4944" y="3054096"/>
            <a:ext cx="5312664" cy="1234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94944" y="3054096"/>
            <a:ext cx="73152" cy="1234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3200400"/>
            <a:ext cx="4791456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6FEB"/>
                </a:solidFill>
                <a:latin typeface="Arial"/>
              </a:rPr>
              <a:t>TRIGGER + SESSION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3493008"/>
            <a:ext cx="4800600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61B26"/>
                </a:solidFill>
                <a:latin typeface="Arial"/>
              </a:rPr>
              <a:t>new shared-inbox ticket; bind session to ticket thread
per-thread session; customer identity never crosses tickets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0488" y="3054096"/>
            <a:ext cx="5312664" cy="1234440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90488" y="3054096"/>
            <a:ext cx="73152" cy="1234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9944" y="3200400"/>
            <a:ext cx="4791456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B981"/>
                </a:solidFill>
                <a:latin typeface="Arial"/>
              </a:rPr>
              <a:t>TOOLS + STATE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9944" y="3493008"/>
            <a:ext cx="4800600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61B26"/>
                </a:solidFill>
                <a:latin typeface="Arial"/>
              </a:rPr>
              <a:t>mail.read, KB.retrieve and draft.create; refunds are denied
State: ticket ID, intent, confidence, article IDs and draft revision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94944" y="4498848"/>
            <a:ext cx="5312664" cy="1234440"/>
          </a:xfrm>
          <a:prstGeom prst="roundRect">
            <a:avLst>
              <a:gd name="adj" fmla="val 12000"/>
            </a:avLst>
          </a:prstGeom>
          <a:solidFill>
            <a:srgbClr val="F2EC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4944" y="4498848"/>
            <a:ext cx="73152" cy="123444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4645152"/>
            <a:ext cx="4791456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C3AED"/>
                </a:solidFill>
                <a:latin typeface="Arial"/>
              </a:rPr>
              <a:t>APPROVAL / POLICY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4937760"/>
            <a:ext cx="4800600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61B26"/>
                </a:solidFill>
                <a:latin typeface="Arial"/>
              </a:rPr>
              <a:t>Confidence &lt;0.80, safety, refund or account change escalates.
Boundary: No autonomous refunds, account changes or policy exceptions.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90488" y="4498848"/>
            <a:ext cx="5312664" cy="1234440"/>
          </a:xfrm>
          <a:prstGeom prst="roundRect">
            <a:avLst>
              <a:gd name="adj" fmla="val 12000"/>
            </a:avLst>
          </a:prstGeom>
          <a:solidFill>
            <a:srgbClr val="FFF6E6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190488" y="4498848"/>
            <a:ext cx="73152" cy="12344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9944" y="4645152"/>
            <a:ext cx="4791456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59E0B"/>
                </a:solidFill>
                <a:latin typeface="Arial"/>
              </a:rPr>
              <a:t>EVIDENCE + FAILURE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9944" y="4937760"/>
            <a:ext cx="4800600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61B26"/>
                </a:solidFill>
                <a:latin typeface="Arial"/>
              </a:rPr>
              <a:t>Ticket ID, classification, cited article, draft and escalation owner.
Failure: No grounded article produces a clarification, not an invented answer.</a:t>
            </a:r>
          </a:p>
        </p:txBody>
      </p:sp>
    </p:spTree>
  </p:cSld>
  <p:clrMapOvr>
    <a:masterClrMapping/>
  </p:clrMapOvr>
  <p:transition spd="fast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IMPLEMENTATION CASE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Meeting-to-action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60704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372"/>
                </a:solidFill>
                <a:latin typeface="Arial"/>
              </a:rPr>
              <a:t>A project team wants decisions and assigned actions captured after each meeting.</a:t>
            </a:r>
          </a:p>
        </p:txBody>
      </p:sp>
      <p:sp>
        <p:nvSpPr>
          <p:cNvPr id="6" name="Oval 5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101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84678" y="2212848"/>
            <a:ext cx="201168" cy="0"/>
          </a:xfrm>
          <a:prstGeom prst="line">
            <a:avLst/>
          </a:prstGeom>
          <a:ln w="1778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893868" y="2212848"/>
            <a:ext cx="201168" cy="0"/>
          </a:xfrm>
          <a:prstGeom prst="line">
            <a:avLst/>
          </a:prstGeom>
          <a:ln w="1778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03059" y="2212848"/>
            <a:ext cx="201168" cy="0"/>
          </a:xfrm>
          <a:prstGeom prst="line">
            <a:avLst/>
          </a:prstGeom>
          <a:ln w="1778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312249" y="2212848"/>
            <a:ext cx="201168" cy="0"/>
          </a:xfrm>
          <a:prstGeom prst="line">
            <a:avLst/>
          </a:prstGeom>
          <a:ln w="1778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94944" y="1746504"/>
            <a:ext cx="197144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4944" y="1746504"/>
            <a:ext cx="1971446" cy="6400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1920240"/>
            <a:ext cx="178856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6FEB"/>
                </a:solidFill>
                <a:latin typeface="Arial"/>
              </a:rPr>
              <a:t>Transcript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2231136"/>
            <a:ext cx="178856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372"/>
                </a:solidFill>
                <a:latin typeface="Arial"/>
              </a:rPr>
              <a:t>Approved meeting record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04134" y="1746504"/>
            <a:ext cx="197144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04134" y="1746504"/>
            <a:ext cx="1971446" cy="640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95574" y="1920240"/>
            <a:ext cx="178856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0B981"/>
                </a:solidFill>
                <a:latin typeface="Arial"/>
              </a:rPr>
              <a:t>Extract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95574" y="2231136"/>
            <a:ext cx="178856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372"/>
                </a:solidFill>
                <a:latin typeface="Arial"/>
              </a:rPr>
              <a:t>Decision, owner and due date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13324" y="1746504"/>
            <a:ext cx="197144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13324" y="1746504"/>
            <a:ext cx="1971446" cy="6400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04764" y="1920240"/>
            <a:ext cx="178856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7C3AED"/>
                </a:solidFill>
                <a:latin typeface="Arial"/>
              </a:rPr>
              <a:t>Validate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04764" y="2231136"/>
            <a:ext cx="178856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372"/>
                </a:solidFill>
                <a:latin typeface="Arial"/>
              </a:rPr>
              <a:t>Resolve ambiguous ownership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22515" y="1746504"/>
            <a:ext cx="197144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22515" y="1746504"/>
            <a:ext cx="1971446" cy="6400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13955" y="1920240"/>
            <a:ext cx="178856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9E0B"/>
                </a:solidFill>
                <a:latin typeface="Arial"/>
              </a:rPr>
              <a:t>Prepare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13955" y="2231136"/>
            <a:ext cx="178856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372"/>
                </a:solidFill>
                <a:latin typeface="Arial"/>
              </a:rPr>
              <a:t>Draft tasks and status update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31705" y="1746504"/>
            <a:ext cx="197144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1705" y="1746504"/>
            <a:ext cx="1971446" cy="64008"/>
          </a:xfrm>
          <a:prstGeom prst="rect">
            <a:avLst/>
          </a:prstGeom>
          <a:solidFill>
            <a:srgbClr val="F46A5A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23145" y="1920240"/>
            <a:ext cx="178856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46A5A"/>
                </a:solidFill>
                <a:latin typeface="Arial"/>
              </a:rPr>
              <a:t>Approve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23145" y="2231136"/>
            <a:ext cx="178856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372"/>
                </a:solidFill>
                <a:latin typeface="Arial"/>
              </a:rPr>
              <a:t>Owner confirms before system write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4944" y="3054096"/>
            <a:ext cx="5312664" cy="1234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94944" y="3054096"/>
            <a:ext cx="73152" cy="1234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3200400"/>
            <a:ext cx="4791456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6FEB"/>
                </a:solidFill>
                <a:latin typeface="Arial"/>
              </a:rPr>
              <a:t>TRIGGER + SESSION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3493008"/>
            <a:ext cx="4800600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61B26"/>
                </a:solidFill>
                <a:latin typeface="Arial"/>
              </a:rPr>
              <a:t>approved transcript-available webhook after meeting end
one session per meeting ID; retention follows meeting policy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0488" y="3054096"/>
            <a:ext cx="5312664" cy="1234440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90488" y="3054096"/>
            <a:ext cx="73152" cy="1234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9944" y="3200400"/>
            <a:ext cx="4791456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B981"/>
                </a:solidFill>
                <a:latin typeface="Arial"/>
              </a:rPr>
              <a:t>TOOLS + STATE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9944" y="3493008"/>
            <a:ext cx="4800600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61B26"/>
                </a:solidFill>
                <a:latin typeface="Arial"/>
              </a:rPr>
              <a:t>transcript.read + task.draft; task.create requires approval
State: decision table, owners, dates, corrections and created task IDs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94944" y="4498848"/>
            <a:ext cx="5312664" cy="1234440"/>
          </a:xfrm>
          <a:prstGeom prst="roundRect">
            <a:avLst>
              <a:gd name="adj" fmla="val 12000"/>
            </a:avLst>
          </a:prstGeom>
          <a:solidFill>
            <a:srgbClr val="F2EC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4944" y="4498848"/>
            <a:ext cx="73152" cy="123444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4645152"/>
            <a:ext cx="4791456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C3AED"/>
                </a:solidFill>
                <a:latin typeface="Arial"/>
              </a:rPr>
              <a:t>APPROVAL / POLICY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4937760"/>
            <a:ext cx="4800600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61B26"/>
                </a:solidFill>
                <a:latin typeface="Arial"/>
              </a:rPr>
              <a:t>Ambiguous owner/date pauses task creation for participant review.
Boundary: Participants know the recording policy; task creation waits for owner approval.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90488" y="4498848"/>
            <a:ext cx="5312664" cy="1234440"/>
          </a:xfrm>
          <a:prstGeom prst="roundRect">
            <a:avLst>
              <a:gd name="adj" fmla="val 12000"/>
            </a:avLst>
          </a:prstGeom>
          <a:solidFill>
            <a:srgbClr val="FFF6E6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190488" y="4498848"/>
            <a:ext cx="73152" cy="12344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9944" y="4645152"/>
            <a:ext cx="4791456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59E0B"/>
                </a:solidFill>
                <a:latin typeface="Arial"/>
              </a:rPr>
              <a:t>EVIDENCE + FAILURE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9944" y="4937760"/>
            <a:ext cx="4800600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61B26"/>
                </a:solidFill>
                <a:latin typeface="Arial"/>
              </a:rPr>
              <a:t>Transcript reference, extracted table, corrections and created task IDs.
Failure: Missing consent or incomplete transcript stops processing.</a:t>
            </a:r>
          </a:p>
        </p:txBody>
      </p:sp>
    </p:spTree>
  </p:cSld>
  <p:clrMapOvr>
    <a:masterClrMapping/>
  </p:clrMapOvr>
  <p:transition spd="fast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IMPLEMENTATION CASE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Local knowledge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60704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372"/>
                </a:solidFill>
                <a:latin typeface="Arial"/>
              </a:rPr>
              <a:t>A technical team asks questions over controlled procedures and project notes.</a:t>
            </a:r>
          </a:p>
        </p:txBody>
      </p:sp>
      <p:sp>
        <p:nvSpPr>
          <p:cNvPr id="6" name="Oval 5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102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84678" y="2212848"/>
            <a:ext cx="201168" cy="0"/>
          </a:xfrm>
          <a:prstGeom prst="line">
            <a:avLst/>
          </a:prstGeom>
          <a:ln w="1778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893868" y="2212848"/>
            <a:ext cx="201168" cy="0"/>
          </a:xfrm>
          <a:prstGeom prst="line">
            <a:avLst/>
          </a:prstGeom>
          <a:ln w="1778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03059" y="2212848"/>
            <a:ext cx="201168" cy="0"/>
          </a:xfrm>
          <a:prstGeom prst="line">
            <a:avLst/>
          </a:prstGeom>
          <a:ln w="1778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312249" y="2212848"/>
            <a:ext cx="201168" cy="0"/>
          </a:xfrm>
          <a:prstGeom prst="line">
            <a:avLst/>
          </a:prstGeom>
          <a:ln w="1778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94944" y="1746504"/>
            <a:ext cx="197144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4944" y="1746504"/>
            <a:ext cx="1971446" cy="6400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1920240"/>
            <a:ext cx="178856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6FEB"/>
                </a:solidFill>
                <a:latin typeface="Arial"/>
              </a:rPr>
              <a:t>Curate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2231136"/>
            <a:ext cx="178856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372"/>
                </a:solidFill>
                <a:latin typeface="Arial"/>
              </a:rPr>
              <a:t>Approved document collection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04134" y="1746504"/>
            <a:ext cx="197144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04134" y="1746504"/>
            <a:ext cx="1971446" cy="640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95574" y="1920240"/>
            <a:ext cx="178856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0B981"/>
                </a:solidFill>
                <a:latin typeface="Arial"/>
              </a:rPr>
              <a:t>Index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95574" y="2231136"/>
            <a:ext cx="178856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372"/>
                </a:solidFill>
                <a:latin typeface="Arial"/>
              </a:rPr>
              <a:t>Literal and semantic retrieval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13324" y="1746504"/>
            <a:ext cx="197144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13324" y="1746504"/>
            <a:ext cx="1971446" cy="6400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04764" y="1920240"/>
            <a:ext cx="178856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7C3AED"/>
                </a:solidFill>
                <a:latin typeface="Arial"/>
              </a:rPr>
              <a:t>Retrieve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04764" y="2231136"/>
            <a:ext cx="178856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372"/>
                </a:solidFill>
                <a:latin typeface="Arial"/>
              </a:rPr>
              <a:t>Rank relevant passages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22515" y="1746504"/>
            <a:ext cx="197144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22515" y="1746504"/>
            <a:ext cx="1971446" cy="6400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13955" y="1920240"/>
            <a:ext cx="178856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9E0B"/>
                </a:solidFill>
                <a:latin typeface="Arial"/>
              </a:rPr>
              <a:t>Answer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13955" y="2231136"/>
            <a:ext cx="178856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372"/>
                </a:solidFill>
                <a:latin typeface="Arial"/>
              </a:rPr>
              <a:t>Separate source and inference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31705" y="1746504"/>
            <a:ext cx="197144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1705" y="1746504"/>
            <a:ext cx="1971446" cy="64008"/>
          </a:xfrm>
          <a:prstGeom prst="rect">
            <a:avLst/>
          </a:prstGeom>
          <a:solidFill>
            <a:srgbClr val="F46A5A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23145" y="1920240"/>
            <a:ext cx="178856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46A5A"/>
                </a:solidFill>
                <a:latin typeface="Arial"/>
              </a:rPr>
              <a:t>Maintain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23145" y="2231136"/>
            <a:ext cx="178856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372"/>
                </a:solidFill>
                <a:latin typeface="Arial"/>
              </a:rPr>
              <a:t>Review stale or conflicting notes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4944" y="3054096"/>
            <a:ext cx="5312664" cy="1234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94944" y="3054096"/>
            <a:ext cx="73152" cy="1234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3200400"/>
            <a:ext cx="4791456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6FEB"/>
                </a:solidFill>
                <a:latin typeface="Arial"/>
              </a:rPr>
              <a:t>TRIGGER + SESSION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3493008"/>
            <a:ext cx="4800600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61B26"/>
                </a:solidFill>
                <a:latin typeface="Arial"/>
              </a:rPr>
              <a:t>question from an approved team channel and peer
per-channel-peer; corpus path fixed to approved workspace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0488" y="3054096"/>
            <a:ext cx="5312664" cy="1234440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90488" y="3054096"/>
            <a:ext cx="73152" cy="1234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9944" y="3200400"/>
            <a:ext cx="4791456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B981"/>
                </a:solidFill>
                <a:latin typeface="Arial"/>
              </a:rPr>
              <a:t>TOOLS + STATE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9944" y="3493008"/>
            <a:ext cx="4800600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61B26"/>
                </a:solidFill>
                <a:latin typeface="Arial"/>
              </a:rPr>
              <a:t>file search/retrieve only; no shell, network or file write
State: document version, passage IDs, confidence and unresolved conflict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94944" y="4498848"/>
            <a:ext cx="5312664" cy="1234440"/>
          </a:xfrm>
          <a:prstGeom prst="roundRect">
            <a:avLst>
              <a:gd name="adj" fmla="val 12000"/>
            </a:avLst>
          </a:prstGeom>
          <a:solidFill>
            <a:srgbClr val="F2EC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4944" y="4498848"/>
            <a:ext cx="73152" cy="123444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4645152"/>
            <a:ext cx="4791456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C3AED"/>
                </a:solidFill>
                <a:latin typeface="Arial"/>
              </a:rPr>
              <a:t>APPROVAL / POLICY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4937760"/>
            <a:ext cx="4800600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61B26"/>
                </a:solidFill>
                <a:latin typeface="Arial"/>
              </a:rPr>
              <a:t>Every factual answer cites a passage; inference is separately labelled.
Boundary: Agent sees only the designated corpus and does not invent missing policy.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90488" y="4498848"/>
            <a:ext cx="5312664" cy="1234440"/>
          </a:xfrm>
          <a:prstGeom prst="roundRect">
            <a:avLst>
              <a:gd name="adj" fmla="val 12000"/>
            </a:avLst>
          </a:prstGeom>
          <a:solidFill>
            <a:srgbClr val="FFF6E6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190488" y="4498848"/>
            <a:ext cx="73152" cy="12344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9944" y="4645152"/>
            <a:ext cx="4791456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59E0B"/>
                </a:solidFill>
                <a:latin typeface="Arial"/>
              </a:rPr>
              <a:t>EVIDENCE + FAILURE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9944" y="4937760"/>
            <a:ext cx="4800600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61B26"/>
                </a:solidFill>
                <a:latin typeface="Arial"/>
              </a:rPr>
              <a:t>Quoted evidence, source path, confidence and unresolved gaps.
Failure: Low retrieval or conflicting policy returns UNKNOWN and both sources.</a:t>
            </a:r>
          </a:p>
        </p:txBody>
      </p:sp>
    </p:spTree>
  </p:cSld>
  <p:clrMapOvr>
    <a:masterClrMapping/>
  </p:clrMapOvr>
  <p:transition spd="fast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IMPLEMENTATION CASE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Multi-agent overnight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60704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372"/>
                </a:solidFill>
                <a:latin typeface="Arial"/>
              </a:rPr>
              <a:t>A product owner assigns one bounded prototype for morning review.</a:t>
            </a:r>
          </a:p>
        </p:txBody>
      </p:sp>
      <p:sp>
        <p:nvSpPr>
          <p:cNvPr id="6" name="Oval 5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103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84678" y="2212848"/>
            <a:ext cx="201168" cy="0"/>
          </a:xfrm>
          <a:prstGeom prst="line">
            <a:avLst/>
          </a:prstGeom>
          <a:ln w="1778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893868" y="2212848"/>
            <a:ext cx="201168" cy="0"/>
          </a:xfrm>
          <a:prstGeom prst="line">
            <a:avLst/>
          </a:prstGeom>
          <a:ln w="1778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03059" y="2212848"/>
            <a:ext cx="201168" cy="0"/>
          </a:xfrm>
          <a:prstGeom prst="line">
            <a:avLst/>
          </a:prstGeom>
          <a:ln w="1778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312249" y="2212848"/>
            <a:ext cx="201168" cy="0"/>
          </a:xfrm>
          <a:prstGeom prst="line">
            <a:avLst/>
          </a:prstGeom>
          <a:ln w="1778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94944" y="1746504"/>
            <a:ext cx="197144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4944" y="1746504"/>
            <a:ext cx="1971446" cy="6400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1920240"/>
            <a:ext cx="178856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6FEB"/>
                </a:solidFill>
                <a:latin typeface="Arial"/>
              </a:rPr>
              <a:t>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2231136"/>
            <a:ext cx="178856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372"/>
                </a:solidFill>
                <a:latin typeface="Arial"/>
              </a:rPr>
              <a:t>Parent defines tasks and acceptance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04134" y="1746504"/>
            <a:ext cx="197144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04134" y="1746504"/>
            <a:ext cx="1971446" cy="640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95574" y="1920240"/>
            <a:ext cx="178856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0B981"/>
                </a:solidFill>
                <a:latin typeface="Arial"/>
              </a:rPr>
              <a:t>Delegate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95574" y="2231136"/>
            <a:ext cx="178856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372"/>
                </a:solidFill>
                <a:latin typeface="Arial"/>
              </a:rPr>
              <a:t>Research, build and test specialists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13324" y="1746504"/>
            <a:ext cx="197144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13324" y="1746504"/>
            <a:ext cx="1971446" cy="6400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04764" y="1920240"/>
            <a:ext cx="178856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7C3AED"/>
                </a:solidFill>
                <a:latin typeface="Arial"/>
              </a:rPr>
              <a:t>Isolate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04764" y="2231136"/>
            <a:ext cx="178856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372"/>
                </a:solidFill>
                <a:latin typeface="Arial"/>
              </a:rPr>
              <a:t>Separate worktrees and tool sets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22515" y="1746504"/>
            <a:ext cx="197144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22515" y="1746504"/>
            <a:ext cx="1971446" cy="6400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13955" y="1920240"/>
            <a:ext cx="178856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9E0B"/>
                </a:solidFill>
                <a:latin typeface="Arial"/>
              </a:rPr>
              <a:t>Challenge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13955" y="2231136"/>
            <a:ext cx="178856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372"/>
                </a:solidFill>
                <a:latin typeface="Arial"/>
              </a:rPr>
              <a:t>Reviewer checks evidence and conflicts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31705" y="1746504"/>
            <a:ext cx="197144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1705" y="1746504"/>
            <a:ext cx="1971446" cy="64008"/>
          </a:xfrm>
          <a:prstGeom prst="rect">
            <a:avLst/>
          </a:prstGeom>
          <a:solidFill>
            <a:srgbClr val="F46A5A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23145" y="1920240"/>
            <a:ext cx="178856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46A5A"/>
                </a:solidFill>
                <a:latin typeface="Arial"/>
              </a:rPr>
              <a:t>Brief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23145" y="2231136"/>
            <a:ext cx="1788566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B6372"/>
                </a:solidFill>
                <a:latin typeface="Arial"/>
              </a:rPr>
              <a:t>Owner decides whether anything ships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4944" y="3054096"/>
            <a:ext cx="5312664" cy="1234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94944" y="3054096"/>
            <a:ext cx="73152" cy="1234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3200400"/>
            <a:ext cx="4791456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6FEB"/>
                </a:solidFill>
                <a:latin typeface="Arial"/>
              </a:rPr>
              <a:t>TRIGGER + SESSION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3493008"/>
            <a:ext cx="4800600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61B26"/>
                </a:solidFill>
                <a:latin typeface="Arial"/>
              </a:rPr>
              <a:t>owner submits a bounded prototype brief before cutoff
parent run delegates research, build and test task sessions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0488" y="3054096"/>
            <a:ext cx="5312664" cy="1234440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90488" y="3054096"/>
            <a:ext cx="73152" cy="1234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9944" y="3200400"/>
            <a:ext cx="4791456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B981"/>
                </a:solidFill>
                <a:latin typeface="Arial"/>
              </a:rPr>
              <a:t>TOOLS + STATE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9944" y="3493008"/>
            <a:ext cx="4800600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61B26"/>
                </a:solidFill>
                <a:latin typeface="Arial"/>
              </a:rPr>
              <a:t>role-specific tools and separate worktrees; no deployment tool
State: task graph, agent reports, commit SHA, tests and conflict log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94944" y="4498848"/>
            <a:ext cx="5312664" cy="1234440"/>
          </a:xfrm>
          <a:prstGeom prst="roundRect">
            <a:avLst>
              <a:gd name="adj" fmla="val 12000"/>
            </a:avLst>
          </a:prstGeom>
          <a:solidFill>
            <a:srgbClr val="F2EC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4944" y="4498848"/>
            <a:ext cx="73152" cy="123444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4645152"/>
            <a:ext cx="4791456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C3AED"/>
                </a:solidFill>
                <a:latin typeface="Arial"/>
              </a:rPr>
              <a:t>APPROVAL / POLICY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4937760"/>
            <a:ext cx="4800600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61B26"/>
                </a:solidFill>
                <a:latin typeface="Arial"/>
              </a:rPr>
              <a:t>Parent cannot ship; owner reviews evidence and decides next action.
Boundary: No production deployment, purchasing or external publication; all agents have time and tool limits.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90488" y="4498848"/>
            <a:ext cx="5312664" cy="1234440"/>
          </a:xfrm>
          <a:prstGeom prst="roundRect">
            <a:avLst>
              <a:gd name="adj" fmla="val 12000"/>
            </a:avLst>
          </a:prstGeom>
          <a:solidFill>
            <a:srgbClr val="FFF6E6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190488" y="4498848"/>
            <a:ext cx="73152" cy="12344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9944" y="4645152"/>
            <a:ext cx="4791456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59E0B"/>
                </a:solidFill>
                <a:latin typeface="Arial"/>
              </a:rPr>
              <a:t>EVIDENCE + FAILURE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9944" y="4937760"/>
            <a:ext cx="4800600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61B26"/>
                </a:solidFill>
                <a:latin typeface="Arial"/>
              </a:rPr>
              <a:t>Task graph, agent reports, tests, diff, unresolved risks and owner decision.
Failure: Agent disagreement or failed test is preserved in the morning brief.</a:t>
            </a:r>
          </a:p>
        </p:txBody>
      </p:sp>
    </p:spTree>
  </p:cSld>
  <p:clrMapOvr>
    <a:masterClrMapping/>
  </p:clrMapOvr>
  <p:transition spd="fast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AUTHORIZATION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Bind each action class to an enforceable control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104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664208"/>
          <a:ext cx="10826496" cy="4370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57400"/>
                <a:gridCol w="2240280"/>
                <a:gridCol w="2331720"/>
                <a:gridCol w="2368296"/>
              </a:tblGrid>
              <a:tr h="728472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Action class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Examples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Default autonomy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Enforcement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Required evidence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72847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Read / retrieve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Search, fetch, file read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Automatic inside scope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Data and network allowlist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Source, query, timestamp, result hash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72847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Draft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Reply, report, task proposal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Automatic; no external effect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No send/write capability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Draft ID, citations, confidence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72847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Reversible write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Label, create task, update staging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Bounded automatic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Idempotency key + rollback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Before/after, receipt, rollback test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72847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Consequential write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Send message, refund, delete, deploy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Per-action approval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Approval gate + exact arguments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Approver, decision, tool result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72847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Runtime control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Gateway, plugins, secrets, agent spawning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Denied to task agents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Separate operator identity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Change ticket and operator audit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tool-policy, sandbox and security documentation</a:t>
            </a:r>
          </a:p>
        </p:txBody>
      </p:sp>
    </p:spTree>
  </p:cSld>
  <p:clrMapOvr>
    <a:masterClrMapping/>
  </p:clrMapOvr>
  <p:transition spd="fast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THREAT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Model compromise must not become runtime compromise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105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664208"/>
          <a:ext cx="10826495" cy="4370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880360"/>
                <a:gridCol w="3977639"/>
                <a:gridCol w="2368296"/>
              </a:tblGrid>
              <a:tr h="624404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Boundary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Attack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Primary control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Detection evidence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Channel ingress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untrusted sender / room instruction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pairing, allowFrom, mention gate, isolated dmScope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auth rejection and route decision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Retrieved content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prompt injection in page/file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data/instruction separation + source trust label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tainted-source annotation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Tool call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argument injection or destination pivot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schema validation, allowlist, approval, idempotency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args hash + policy decision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Sandbox/host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escape or overbroad filesystem/network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non-main sandbox, workspaceAccess none, host boundary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sandbox explain + denied syscall/action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Plugin/MCP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supply-chain or hidden capability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pinned reviewed package + plugin allowlist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manifest/hash and effective tool diff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Secrets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prompt/log/transcript exfiltration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SecretRef/runtime injection + redaction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secret access event without value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security, sandbox and skill/plugin trust guidance</a:t>
            </a:r>
          </a:p>
        </p:txBody>
      </p:sp>
    </p:spTree>
  </p:cSld>
  <p:clrMapOvr>
    <a:masterClrMapping/>
  </p:clrMapOvr>
  <p:transition spd="fast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PROMPT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Treat retrieved content as data, never authority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106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53004" y="3273552"/>
            <a:ext cx="310896" cy="0"/>
          </a:xfrm>
          <a:prstGeom prst="line">
            <a:avLst/>
          </a:prstGeom>
          <a:ln w="2032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795113" y="3273552"/>
            <a:ext cx="310896" cy="0"/>
          </a:xfrm>
          <a:prstGeom prst="line">
            <a:avLst/>
          </a:prstGeom>
          <a:ln w="2032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37222" y="3273552"/>
            <a:ext cx="310896" cy="0"/>
          </a:xfrm>
          <a:prstGeom prst="line">
            <a:avLst/>
          </a:prstGeom>
          <a:ln w="2032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279331" y="3273552"/>
            <a:ext cx="310896" cy="0"/>
          </a:xfrm>
          <a:prstGeom prst="line">
            <a:avLst/>
          </a:prstGeom>
          <a:ln w="2032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58368" y="2139696"/>
            <a:ext cx="1858060" cy="23591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139696"/>
            <a:ext cx="1858060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59" y="2395728"/>
            <a:ext cx="393192" cy="39319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2395728"/>
            <a:ext cx="1144828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61B26"/>
                </a:solidFill>
                <a:latin typeface="Arial"/>
              </a:rPr>
              <a:t>Label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3090672"/>
            <a:ext cx="1528876" cy="10241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372"/>
                </a:solidFill>
                <a:latin typeface="Arial"/>
              </a:rPr>
              <a:t>Preserve the source and trust level.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00476" y="2139696"/>
            <a:ext cx="1858060" cy="23591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00476" y="2139696"/>
            <a:ext cx="1858060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065068" y="2395728"/>
            <a:ext cx="393192" cy="39319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03980" y="2395728"/>
            <a:ext cx="1144828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61B26"/>
                </a:solidFill>
                <a:latin typeface="Arial"/>
              </a:rPr>
              <a:t>Separate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5068" y="3090672"/>
            <a:ext cx="1528876" cy="10241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372"/>
                </a:solidFill>
                <a:latin typeface="Arial"/>
              </a:rPr>
              <a:t>Keep system and workspace rules above content.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42585" y="2139696"/>
            <a:ext cx="1858060" cy="23591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42585" y="2139696"/>
            <a:ext cx="1858060" cy="9144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07177" y="2395728"/>
            <a:ext cx="393192" cy="39319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46089" y="2395728"/>
            <a:ext cx="1144828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61B26"/>
                </a:solidFill>
                <a:latin typeface="Arial"/>
              </a:rPr>
              <a:t>Constrain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7177" y="3090672"/>
            <a:ext cx="1528876" cy="10241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372"/>
                </a:solidFill>
                <a:latin typeface="Arial"/>
              </a:rPr>
              <a:t>Expose only tools required for the task.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84694" y="2139696"/>
            <a:ext cx="1858060" cy="23591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84694" y="2139696"/>
            <a:ext cx="1858060" cy="914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549286" y="2395728"/>
            <a:ext cx="393192" cy="39319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88198" y="2395728"/>
            <a:ext cx="1144828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61B26"/>
                </a:solidFill>
                <a:latin typeface="Arial"/>
              </a:rPr>
              <a:t>Approve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9286" y="3090672"/>
            <a:ext cx="1528876" cy="10241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372"/>
                </a:solidFill>
                <a:latin typeface="Arial"/>
              </a:rPr>
              <a:t>Pause before consequential side effects.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26803" y="2139696"/>
            <a:ext cx="1858060" cy="23591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626803" y="2139696"/>
            <a:ext cx="1858060" cy="91440"/>
          </a:xfrm>
          <a:prstGeom prst="rect">
            <a:avLst/>
          </a:prstGeom>
          <a:solidFill>
            <a:srgbClr val="F46A5A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791395" y="2395728"/>
            <a:ext cx="393192" cy="393192"/>
          </a:xfrm>
          <a:prstGeom prst="ellipse">
            <a:avLst/>
          </a:prstGeom>
          <a:solidFill>
            <a:srgbClr val="F46A5A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30307" y="2395728"/>
            <a:ext cx="1144828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61B26"/>
                </a:solidFill>
                <a:latin typeface="Arial"/>
              </a:rPr>
              <a:t>Audit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91395" y="3090672"/>
            <a:ext cx="1528876" cy="10241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372"/>
                </a:solidFill>
                <a:latin typeface="Arial"/>
              </a:rPr>
              <a:t>Record input, decision, action and result.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4901184"/>
            <a:ext cx="10826496" cy="82296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5084064"/>
            <a:ext cx="11430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6FEB"/>
                </a:solidFill>
                <a:latin typeface="Arial"/>
              </a:rPr>
              <a:t>SYSTEM PATH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11680" y="5029200"/>
            <a:ext cx="909828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Label -&gt; Separate -&gt; Constrain -&gt; Approve -&gt; Audit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security guidance</a:t>
            </a:r>
          </a:p>
        </p:txBody>
      </p:sp>
    </p:spTree>
  </p:cSld>
  <p:clrMapOvr>
    <a:masterClrMapping/>
  </p:clrMapOvr>
  <p:transition spd="fast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LEAST PRIVILEGE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Bind authority to agent, session, tool and exact argument scope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107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664208"/>
          <a:ext cx="10826496" cy="4370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3154680"/>
                <a:gridCol w="3474720"/>
                <a:gridCol w="2688336"/>
              </a:tblGrid>
              <a:tr h="624404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Scope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Enforcement point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Safe default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Proof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Agent identity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binding -&gt; agents.entries[]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separate specialist agent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resolved agentId and workspace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Session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dmScope/groupScope/thread binding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per-channel-peer for multi-user DMs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effective sessionKey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Tool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global/profile/agent allow-deny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deny runtime controls to task agents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effective tool list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Execution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sandbox mode/scope/workspaceAccess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non-main + session + none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sandbox explain --json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Arguments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command/destination allowlist + approval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ask on miss; deny unknown target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policy match + approver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Credential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SecretRef/service account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one purpose and minimal API scope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secret reference and provider audit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security, session, sandbox and tool-policy reference</a:t>
            </a:r>
          </a:p>
        </p:txBody>
      </p:sp>
    </p:spTree>
  </p:cSld>
  <p:clrMapOvr>
    <a:masterClrMapping/>
  </p:clrMapOvr>
  <p:transition spd="fast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SECRET SEMANTICS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Credential references and runtime snapshots prevent prompt leakage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108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664208"/>
          <a:ext cx="10826496" cy="4370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834640"/>
                <a:gridCol w="3886200"/>
                <a:gridCol w="2688336"/>
              </a:tblGrid>
              <a:tr h="624404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Phase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Representation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Runtime behavior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Failure handling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Configuration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SecretRef or environment-backed reference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Config stores a reference, not the secret value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Schema/ref validation fails closed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Resolution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provider-specific secret lookup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Resolve only for the component requiring it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Missing secret blocks account/provider start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Snapshot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active in-memory secret snapshot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Successful reload atomically replaces active values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Failed reload keeps last good snapshot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Injection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narrow process/file/credential path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Secret is not placed in model prompt or skill text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Limit scope and lifetime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Logging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redacted metadata and safe reason codes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Record source/path/status without value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Scan logs/transcripts for accidental value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Rotation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new version + secrets reload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Revoke old credential after dependent surfaces pass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Rollback to last known-good reference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secrets management and Gateway reload reference</a:t>
            </a:r>
          </a:p>
        </p:txBody>
      </p:sp>
    </p:spTree>
  </p:cSld>
  <p:clrMapOvr>
    <a:masterClrMapping/>
  </p:clrMapOvr>
  <p:transition spd="fast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OPERATING SLOS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Define reliability with computable formulas and event sources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109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664208"/>
          <a:ext cx="10826496" cy="4370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3063240"/>
                <a:gridCol w="2331720"/>
                <a:gridCol w="3739896"/>
              </a:tblGrid>
              <a:tr h="624404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SLO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Formula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Example target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Required events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End-to-end success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delivered_once / accepted_runs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&gt;= 99% over 7 days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accepted, terminal, delivery receipt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p95 latency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p95(deliveredAt - acceptedAt)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&lt; 30 s interactive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acceptedAt, startedAt, model/tool spans, deliveredAt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Queue wait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p95(startedAt - acceptedAt)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&lt; 2 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queue accepted/start timestamps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Tool reliability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successful_calls / attempted_calls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&gt;= 99.5% per tool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toolCallId, status, duration, retry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  <a:tr h="62440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Human intervention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approved_or_corrected / completed_runs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&lt; 10% for low-risk flow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approval and correction events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2440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1B26"/>
                          </a:solidFill>
                          <a:latin typeface="Arial"/>
                        </a:rPr>
                        <a:t>Cost per verified outcome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model+tool cost / accepted outcomes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workflow-specific budget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B26"/>
                          </a:solidFill>
                          <a:latin typeface="Arial"/>
                        </a:rPr>
                        <a:t>usage, tool charges, acceptance result</a:t>
                      </a:r>
                    </a:p>
                  </a:txBody>
                  <a:tcPr marL="73152" marR="73152" marT="45720" marB="4572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telemetry guidance and service-operation practice</a:t>
            </a:r>
          </a:p>
        </p:txBody>
      </p:sp>
    </p:spTree>
  </p:cSld>
  <p:clrMapOvr>
    <a:masterClrMapping/>
  </p:clrMapOvr>
  <p:transition spd="fast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RECOVERY RUNBOOK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Recover the control plane without destroying evidence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110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627632"/>
            <a:ext cx="6565392" cy="3621024"/>
          </a:xfrm>
          <a:prstGeom prst="roundRect">
            <a:avLst>
              <a:gd name="adj" fmla="val 12000"/>
            </a:avLst>
          </a:prstGeom>
          <a:solidFill>
            <a:srgbClr val="101826"/>
          </a:solidFill>
          <a:ln>
            <a:solidFill>
              <a:srgbClr val="101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65376"/>
            <a:ext cx="6089904" cy="31272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D8E3F0"/>
                </a:solidFill>
                <a:latin typeface="Consolas"/>
              </a:rPr>
              <a:t>openclaw gateway status --deep
openclaw gateway status --require-rpc
openclaw channels status --probe
openclaw logs --follow
openclaw doctor
openclaw doctor --fix
openclaw secrets reload
openclaw gateway restart
# invalid configuration exits 78
# systemd: RestartPreventExitStatus=78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79792" y="1627632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62672" y="1792224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737360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Ownership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011680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--deep finds competing launchd/systemd/schtasks services.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79792" y="2523744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662672" y="268833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633472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RPC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907791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--require-rpc distinguishes process reachability from usable control plane.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79792" y="3419856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62672" y="3584448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529584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Safe mode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803904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Repeated unclean boots suppress channel/provider auto-start for inspection.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79792" y="4315968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62672" y="4480559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425696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Exit 78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700016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Invalid config must stop restart storms until repaired.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431536"/>
            <a:ext cx="5285232" cy="548640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5559552"/>
            <a:ext cx="89611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B981"/>
                </a:solidFill>
                <a:latin typeface="Arial"/>
              </a:rPr>
              <a:t>EXPECTED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00784" y="5504688"/>
            <a:ext cx="4023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61B26"/>
                </a:solidFill>
                <a:latin typeface="Arial"/>
              </a:rPr>
              <a:t>One lifecycle owner, valid config, authenticated RPC, healthy channels and preserved transcripts.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2" y="5431536"/>
            <a:ext cx="5285232" cy="548640"/>
          </a:xfrm>
          <a:prstGeom prst="roundRect">
            <a:avLst>
              <a:gd name="adj" fmla="val 12000"/>
            </a:avLst>
          </a:prstGeom>
          <a:solidFill>
            <a:srgbClr val="FFF0EE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5559552"/>
            <a:ext cx="71323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6A5A"/>
                </a:solidFill>
                <a:latin typeface="Arial"/>
              </a:rPr>
              <a:t>IF NOT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9168" y="5504688"/>
            <a:ext cx="41605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0" b="1" i="0">
                <a:solidFill>
                  <a:srgbClr val="161B26"/>
                </a:solidFill>
                <a:latin typeface="Arial"/>
              </a:rPr>
              <a:t>Do not delete state or reinstall before exporting logs, config path, session identifiers and the first failing timestamp.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official Gateway runbook, restart recovery and Doctor reference</a:t>
            </a:r>
          </a:p>
        </p:txBody>
      </p:sp>
    </p:spTree>
  </p:cSld>
  <p:clrMapOvr>
    <a:masterClrMapping/>
  </p:clrMapOvr>
  <p:transition spd="fast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CAPSTONE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Submit an implementation manifest that an operator can enforce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111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627632"/>
            <a:ext cx="6565392" cy="3621024"/>
          </a:xfrm>
          <a:prstGeom prst="roundRect">
            <a:avLst>
              <a:gd name="adj" fmla="val 12000"/>
            </a:avLst>
          </a:prstGeom>
          <a:solidFill>
            <a:srgbClr val="101826"/>
          </a:solidFill>
          <a:ln>
            <a:solidFill>
              <a:srgbClr val="101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65376"/>
            <a:ext cx="6089904" cy="31272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D8E3F0"/>
                </a:solidFill>
                <a:latin typeface="Consolas"/>
              </a:rPr>
              <a:t>workflow:
  owner: finance-ops
  trigger: {type: webhook, idempotency: invoice_id}
  route: {agent: invoice, session: per-case}
  data: {allow: [invoice_registry], retention: 30d}
  tools: {allow: [http_verify], deny: [exec, gateway, cron]}
  approval: {required_for: [payment_release]}
  failure: {timeout_s: 20, retries: 2, escalate: finance}
  evidence: [run_id, input_hash, tool_result, approver, receipt]
  slo: {success: 0.99, p95_s: 30, max_cost_sgd: 0.25}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79792" y="1627632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62672" y="1792224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737360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Deterministic route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011680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Trigger, agent and session scope are explicit.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79792" y="2523744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662672" y="2688336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633472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Least privilege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907791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Allowed data/tools and denied runtime controls are machine-reviewable.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79792" y="3419856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62672" y="3584448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529584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Failure contract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803904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Timeout, retry and escalation are bounded before go-live.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79792" y="4315968"/>
            <a:ext cx="400507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62672" y="4480559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425696"/>
            <a:ext cx="3035808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700016"/>
            <a:ext cx="3035808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Evidence fields and SLOs turn a demo into an operable service.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431536"/>
            <a:ext cx="5285232" cy="548640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5559552"/>
            <a:ext cx="89611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B981"/>
                </a:solidFill>
                <a:latin typeface="Arial"/>
              </a:rPr>
              <a:t>EXPECTED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00784" y="5504688"/>
            <a:ext cx="4023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61B26"/>
                </a:solidFill>
                <a:latin typeface="Arial"/>
              </a:rPr>
              <a:t>A reviewer can map every manifest field to configuration, runtime evidence and an acceptance test.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2" y="5431536"/>
            <a:ext cx="5285232" cy="548640"/>
          </a:xfrm>
          <a:prstGeom prst="roundRect">
            <a:avLst>
              <a:gd name="adj" fmla="val 12000"/>
            </a:avLst>
          </a:prstGeom>
          <a:solidFill>
            <a:srgbClr val="FFF0EE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5559552"/>
            <a:ext cx="71323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6A5A"/>
                </a:solidFill>
                <a:latin typeface="Arial"/>
              </a:rPr>
              <a:t>IF NOT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9168" y="5504688"/>
            <a:ext cx="41605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0" b="1" i="0">
                <a:solidFill>
                  <a:srgbClr val="161B26"/>
                </a:solidFill>
                <a:latin typeface="Arial"/>
              </a:rPr>
              <a:t>Reject the design if any consequential action lacks an approval gate, receipt or rollback/escalation path.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" y="6181344"/>
            <a:ext cx="11018520" cy="25603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372"/>
                </a:solidFill>
                <a:latin typeface="Arial"/>
              </a:rPr>
              <a:t>Source lens: derived implementation contract using official security, routing and telemetry guidance</a:t>
            </a:r>
          </a:p>
        </p:txBody>
      </p:sp>
    </p:spTree>
  </p:cSld>
  <p:clrMapOvr>
    <a:masterClrMapping/>
  </p:clrMapOvr>
  <p:transition spd="fast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SOURCE REGISTER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Official product, architecture and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60704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372"/>
                </a:solidFill>
                <a:latin typeface="Arial"/>
              </a:rPr>
              <a:t>Reviewed 23 August 2026 - part 1 of 3</a:t>
            </a:r>
          </a:p>
        </p:txBody>
      </p:sp>
      <p:sp>
        <p:nvSpPr>
          <p:cNvPr id="6" name="Oval 5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112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1709928"/>
            <a:ext cx="292608" cy="2926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9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1664208"/>
            <a:ext cx="2980944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Official documentation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6512" y="1664208"/>
            <a:ext cx="72237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6FEB"/>
                </a:solidFill>
                <a:latin typeface="Arial"/>
                <a:hlinkClick r:id="rId2"/>
              </a:rPr>
              <a:t>https://docs.openclaw.ai/</a:t>
            </a:r>
          </a:p>
        </p:txBody>
      </p:sp>
      <p:sp>
        <p:nvSpPr>
          <p:cNvPr id="16" name="Oval 15"/>
          <p:cNvSpPr/>
          <p:nvPr/>
        </p:nvSpPr>
        <p:spPr>
          <a:xfrm>
            <a:off x="713232" y="2331720"/>
            <a:ext cx="292608" cy="29260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9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2286000"/>
            <a:ext cx="2980944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Official FAQ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6512" y="2286000"/>
            <a:ext cx="72237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6FEB"/>
                </a:solidFill>
                <a:latin typeface="Arial"/>
                <a:hlinkClick r:id="rId3"/>
              </a:rPr>
              <a:t>https://docs.openclaw.ai/help/faq</a:t>
            </a:r>
          </a:p>
        </p:txBody>
      </p:sp>
      <p:sp>
        <p:nvSpPr>
          <p:cNvPr id="19" name="Oval 18"/>
          <p:cNvSpPr/>
          <p:nvPr/>
        </p:nvSpPr>
        <p:spPr>
          <a:xfrm>
            <a:off x="713232" y="2953512"/>
            <a:ext cx="292608" cy="29260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9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907792"/>
            <a:ext cx="2980944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Official getting started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96512" y="2907792"/>
            <a:ext cx="72237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6FEB"/>
                </a:solidFill>
                <a:latin typeface="Arial"/>
                <a:hlinkClick r:id="rId4"/>
              </a:rPr>
              <a:t>https://docs.openclaw.ai/start/getting-started</a:t>
            </a:r>
          </a:p>
        </p:txBody>
      </p:sp>
      <p:sp>
        <p:nvSpPr>
          <p:cNvPr id="22" name="Oval 21"/>
          <p:cNvSpPr/>
          <p:nvPr/>
        </p:nvSpPr>
        <p:spPr>
          <a:xfrm>
            <a:off x="713232" y="3575304"/>
            <a:ext cx="292608" cy="2926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9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3529584"/>
            <a:ext cx="2980944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Official showcase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6512" y="3529584"/>
            <a:ext cx="72237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6FEB"/>
                </a:solidFill>
                <a:latin typeface="Arial"/>
                <a:hlinkClick r:id="rId5"/>
              </a:rPr>
              <a:t>https://openclaw.ai/showcase</a:t>
            </a:r>
          </a:p>
        </p:txBody>
      </p:sp>
      <p:sp>
        <p:nvSpPr>
          <p:cNvPr id="25" name="Oval 24"/>
          <p:cNvSpPr/>
          <p:nvPr/>
        </p:nvSpPr>
        <p:spPr>
          <a:xfrm>
            <a:off x="713232" y="4197096"/>
            <a:ext cx="292608" cy="2926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90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4151376"/>
            <a:ext cx="2980944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OpenClaw repository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96512" y="4151376"/>
            <a:ext cx="72237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6FEB"/>
                </a:solidFill>
                <a:latin typeface="Arial"/>
                <a:hlinkClick r:id="rId6"/>
              </a:rPr>
              <a:t>https://github.com/openclaw/openclaw</a:t>
            </a:r>
          </a:p>
        </p:txBody>
      </p:sp>
      <p:sp>
        <p:nvSpPr>
          <p:cNvPr id="28" name="Oval 27"/>
          <p:cNvSpPr/>
          <p:nvPr/>
        </p:nvSpPr>
        <p:spPr>
          <a:xfrm>
            <a:off x="713232" y="4818888"/>
            <a:ext cx="292608" cy="29260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90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4773168"/>
            <a:ext cx="2980944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OpenClaw GitHub organisation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96512" y="4773168"/>
            <a:ext cx="72237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6FEB"/>
                </a:solidFill>
                <a:latin typeface="Arial"/>
                <a:hlinkClick r:id="rId7"/>
              </a:rPr>
              <a:t>https://github.com/openclaw</a:t>
            </a:r>
          </a:p>
        </p:txBody>
      </p:sp>
      <p:sp>
        <p:nvSpPr>
          <p:cNvPr id="31" name="Oval 30"/>
          <p:cNvSpPr/>
          <p:nvPr/>
        </p:nvSpPr>
        <p:spPr>
          <a:xfrm>
            <a:off x="713232" y="5440679"/>
            <a:ext cx="292608" cy="29260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90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" y="5394959"/>
            <a:ext cx="2980944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OpenClaw Foundation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96512" y="5394959"/>
            <a:ext cx="72237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6FEB"/>
                </a:solidFill>
                <a:latin typeface="Arial"/>
                <a:hlinkClick r:id="rId8"/>
              </a:rPr>
              <a:t>https://www.openclaw.org/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6062472"/>
            <a:ext cx="10826496" cy="310896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" y="6117336"/>
            <a:ext cx="104241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B6372"/>
                </a:solidFill>
                <a:latin typeface="Arial"/>
              </a:rPr>
              <a:t>Official documentation governs technical facts; independent sources broaden examples and risk discussion.</a:t>
            </a:r>
          </a:p>
        </p:txBody>
      </p:sp>
    </p:spTree>
  </p:cSld>
  <p:clrMapOvr>
    <a:masterClrMapping/>
  </p:clrMapOvr>
  <p:transition spd="fast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SOURCE REGISTER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Use cases and deployment perspectives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60704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372"/>
                </a:solidFill>
                <a:latin typeface="Arial"/>
              </a:rPr>
              <a:t>Reviewed 23 August 2026 - part 2 of 3</a:t>
            </a:r>
          </a:p>
        </p:txBody>
      </p:sp>
      <p:sp>
        <p:nvSpPr>
          <p:cNvPr id="6" name="Oval 5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113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1709928"/>
            <a:ext cx="292608" cy="29260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9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1664208"/>
            <a:ext cx="2980944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Android app listing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6512" y="1664208"/>
            <a:ext cx="72237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6FEB"/>
                </a:solidFill>
                <a:latin typeface="Arial"/>
                <a:hlinkClick r:id="rId2"/>
              </a:rPr>
              <a:t>https://play.google.com/store/apps/details?id=ai.openclaw.app&amp;hl=en_US</a:t>
            </a:r>
          </a:p>
        </p:txBody>
      </p:sp>
      <p:sp>
        <p:nvSpPr>
          <p:cNvPr id="16" name="Oval 15"/>
          <p:cNvSpPr/>
          <p:nvPr/>
        </p:nvSpPr>
        <p:spPr>
          <a:xfrm>
            <a:off x="713232" y="2331720"/>
            <a:ext cx="292608" cy="29260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9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2286000"/>
            <a:ext cx="2980944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Awesome OpenClaw use cases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6512" y="2286000"/>
            <a:ext cx="72237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6FEB"/>
                </a:solidFill>
                <a:latin typeface="Arial"/>
                <a:hlinkClick r:id="rId3"/>
              </a:rPr>
              <a:t>https://github.com/hesamsheikh/awesome-openclaw-usecases</a:t>
            </a:r>
          </a:p>
        </p:txBody>
      </p:sp>
      <p:sp>
        <p:nvSpPr>
          <p:cNvPr id="19" name="Oval 18"/>
          <p:cNvSpPr/>
          <p:nvPr/>
        </p:nvSpPr>
        <p:spPr>
          <a:xfrm>
            <a:off x="713232" y="2953512"/>
            <a:ext cx="292608" cy="2926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9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907792"/>
            <a:ext cx="2980944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Awesome OpenClaw directory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96512" y="2907792"/>
            <a:ext cx="72237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6FEB"/>
                </a:solidFill>
                <a:latin typeface="Arial"/>
                <a:hlinkClick r:id="rId4"/>
              </a:rPr>
              <a:t>https://github.com/rohitg00/awesome-openclaw/blob/main/README.md</a:t>
            </a:r>
          </a:p>
        </p:txBody>
      </p:sp>
      <p:sp>
        <p:nvSpPr>
          <p:cNvPr id="22" name="Oval 21"/>
          <p:cNvSpPr/>
          <p:nvPr/>
        </p:nvSpPr>
        <p:spPr>
          <a:xfrm>
            <a:off x="713232" y="3575304"/>
            <a:ext cx="292608" cy="2926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9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3529584"/>
            <a:ext cx="2980944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Hostinger use-case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6512" y="3529584"/>
            <a:ext cx="72237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6FEB"/>
                </a:solidFill>
                <a:latin typeface="Arial"/>
                <a:hlinkClick r:id="rId5"/>
              </a:rPr>
              <a:t>https://www.hostinger.com/tutorials/openclaw-use-cases/</a:t>
            </a:r>
          </a:p>
        </p:txBody>
      </p:sp>
      <p:sp>
        <p:nvSpPr>
          <p:cNvPr id="25" name="Oval 24"/>
          <p:cNvSpPr/>
          <p:nvPr/>
        </p:nvSpPr>
        <p:spPr>
          <a:xfrm>
            <a:off x="713232" y="4197096"/>
            <a:ext cx="292608" cy="29260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90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4151376"/>
            <a:ext cx="2980944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AI Agents Kit use-case guide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96512" y="4151376"/>
            <a:ext cx="72237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6FEB"/>
                </a:solidFill>
                <a:latin typeface="Arial"/>
                <a:hlinkClick r:id="rId6"/>
              </a:rPr>
              <a:t>https://aiagentskit.com/blog/openclaw-use-cases/</a:t>
            </a:r>
          </a:p>
        </p:txBody>
      </p:sp>
      <p:sp>
        <p:nvSpPr>
          <p:cNvPr id="28" name="Oval 27"/>
          <p:cNvSpPr/>
          <p:nvPr/>
        </p:nvSpPr>
        <p:spPr>
          <a:xfrm>
            <a:off x="713232" y="4818888"/>
            <a:ext cx="292608" cy="29260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90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4773168"/>
            <a:ext cx="2980944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Kanerika use-case guide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96512" y="4773168"/>
            <a:ext cx="72237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6FEB"/>
                </a:solidFill>
                <a:latin typeface="Arial"/>
                <a:hlinkClick r:id="rId7"/>
              </a:rPr>
              <a:t>https://kanerika.com/blogs/openclaw-usecases/</a:t>
            </a:r>
          </a:p>
        </p:txBody>
      </p:sp>
      <p:sp>
        <p:nvSpPr>
          <p:cNvPr id="31" name="Oval 30"/>
          <p:cNvSpPr/>
          <p:nvPr/>
        </p:nvSpPr>
        <p:spPr>
          <a:xfrm>
            <a:off x="713232" y="5440679"/>
            <a:ext cx="292608" cy="2926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90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" y="5394959"/>
            <a:ext cx="2980944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DigitalOcean overview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96512" y="5394959"/>
            <a:ext cx="72237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6FEB"/>
                </a:solidFill>
                <a:latin typeface="Arial"/>
                <a:hlinkClick r:id="rId8"/>
              </a:rPr>
              <a:t>https://www.digitalocean.com/resources/articles/what-is-openclaw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6062472"/>
            <a:ext cx="10826496" cy="310896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" y="6117336"/>
            <a:ext cx="104241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B6372"/>
                </a:solidFill>
                <a:latin typeface="Arial"/>
              </a:rPr>
              <a:t>Official documentation governs technical facts; independent sources broaden examples and risk discussion.</a:t>
            </a:r>
          </a:p>
        </p:txBody>
      </p:sp>
    </p:spTree>
  </p:cSld>
  <p:clrMapOvr>
    <a:masterClrMapping/>
  </p:clrMapOvr>
  <p:transition spd="fast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SOURCE REGISTER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Safety, ecosystem and additional perspectives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60704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372"/>
                </a:solidFill>
                <a:latin typeface="Arial"/>
              </a:rPr>
              <a:t>Reviewed 23 August 2026 - part 3 of 3</a:t>
            </a:r>
          </a:p>
        </p:txBody>
      </p:sp>
      <p:sp>
        <p:nvSpPr>
          <p:cNvPr id="6" name="Oval 5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114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1709928"/>
            <a:ext cx="292608" cy="29260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9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1664208"/>
            <a:ext cx="2980944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TechRadar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6512" y="1664208"/>
            <a:ext cx="72237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6FEB"/>
                </a:solidFill>
                <a:latin typeface="Arial"/>
                <a:hlinkClick r:id="rId2"/>
              </a:rPr>
              <a:t>https://www.techradar.com/pro/what-is-openclaw</a:t>
            </a:r>
          </a:p>
        </p:txBody>
      </p:sp>
      <p:sp>
        <p:nvSpPr>
          <p:cNvPr id="16" name="Oval 15"/>
          <p:cNvSpPr/>
          <p:nvPr/>
        </p:nvSpPr>
        <p:spPr>
          <a:xfrm>
            <a:off x="713232" y="2331720"/>
            <a:ext cx="292608" cy="2926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9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2286000"/>
            <a:ext cx="2980944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Malwarebytes safety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6512" y="2286000"/>
            <a:ext cx="72237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6FEB"/>
                </a:solidFill>
                <a:latin typeface="Arial"/>
                <a:hlinkClick r:id="rId3"/>
              </a:rPr>
              <a:t>https://www.malwarebytes.com/blog/news/2026/02/openclaw-what-is-it-and-can-you-use-it-safely</a:t>
            </a:r>
          </a:p>
        </p:txBody>
      </p:sp>
      <p:sp>
        <p:nvSpPr>
          <p:cNvPr id="19" name="Oval 18"/>
          <p:cNvSpPr/>
          <p:nvPr/>
        </p:nvSpPr>
        <p:spPr>
          <a:xfrm>
            <a:off x="713232" y="2953512"/>
            <a:ext cx="292608" cy="2926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9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907792"/>
            <a:ext cx="2980944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IONOS overview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96512" y="2907792"/>
            <a:ext cx="72237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6FEB"/>
                </a:solidFill>
                <a:latin typeface="Arial"/>
                <a:hlinkClick r:id="rId4"/>
              </a:rPr>
              <a:t>https://www.ionos.com/digitalguide/server/know-how/openclaw/</a:t>
            </a:r>
          </a:p>
        </p:txBody>
      </p:sp>
      <p:sp>
        <p:nvSpPr>
          <p:cNvPr id="22" name="Oval 21"/>
          <p:cNvSpPr/>
          <p:nvPr/>
        </p:nvSpPr>
        <p:spPr>
          <a:xfrm>
            <a:off x="713232" y="3575304"/>
            <a:ext cx="292608" cy="29260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9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3529584"/>
            <a:ext cx="2980944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Milvus architecture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6512" y="3529584"/>
            <a:ext cx="72237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6FEB"/>
                </a:solidFill>
                <a:latin typeface="Arial"/>
                <a:hlinkClick r:id="rId5"/>
              </a:rPr>
              <a:t>https://milvus.io/blog/openclaw-complete-guide</a:t>
            </a:r>
          </a:p>
        </p:txBody>
      </p:sp>
      <p:sp>
        <p:nvSpPr>
          <p:cNvPr id="25" name="Oval 24"/>
          <p:cNvSpPr/>
          <p:nvPr/>
        </p:nvSpPr>
        <p:spPr>
          <a:xfrm>
            <a:off x="713232" y="4197096"/>
            <a:ext cx="292608" cy="29260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90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4151376"/>
            <a:ext cx="2980944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Tencent Cloud TechPedia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96512" y="4151376"/>
            <a:ext cx="72237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6FEB"/>
                </a:solidFill>
                <a:latin typeface="Arial"/>
                <a:hlinkClick r:id="rId6"/>
              </a:rPr>
              <a:t>https://www.tencentcloud.com/techpedia/140975</a:t>
            </a:r>
          </a:p>
        </p:txBody>
      </p:sp>
      <p:sp>
        <p:nvSpPr>
          <p:cNvPr id="28" name="Oval 27"/>
          <p:cNvSpPr/>
          <p:nvPr/>
        </p:nvSpPr>
        <p:spPr>
          <a:xfrm>
            <a:off x="713232" y="4818888"/>
            <a:ext cx="292608" cy="2926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90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4773168"/>
            <a:ext cx="2980944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Emergent guide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96512" y="4773168"/>
            <a:ext cx="72237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6FEB"/>
                </a:solidFill>
                <a:latin typeface="Arial"/>
                <a:hlinkClick r:id="rId7"/>
              </a:rPr>
              <a:t>https://emergent.sh/learn/what-is-openclaw</a:t>
            </a:r>
          </a:p>
        </p:txBody>
      </p:sp>
      <p:sp>
        <p:nvSpPr>
          <p:cNvPr id="31" name="Oval 30"/>
          <p:cNvSpPr/>
          <p:nvPr/>
        </p:nvSpPr>
        <p:spPr>
          <a:xfrm>
            <a:off x="713232" y="5440679"/>
            <a:ext cx="292608" cy="29260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90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" y="5394959"/>
            <a:ext cx="2980944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Wikipedia overview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96512" y="5394959"/>
            <a:ext cx="72237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6FEB"/>
                </a:solidFill>
                <a:latin typeface="Arial"/>
                <a:hlinkClick r:id="rId8"/>
              </a:rPr>
              <a:t>https://en.wikipedia.org/wiki/OpenClaw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6062472"/>
            <a:ext cx="10826496" cy="310896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" y="6117336"/>
            <a:ext cx="104241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B6372"/>
                </a:solidFill>
                <a:latin typeface="Arial"/>
              </a:rPr>
              <a:t>Official documentation governs technical facts; independent sources broaden examples and risk discussion.</a:t>
            </a:r>
          </a:p>
        </p:txBody>
      </p:sp>
    </p:spTree>
  </p:cSld>
  <p:clrMapOvr>
    <a:masterClrMapping/>
  </p:clrMapOvr>
  <p:transition spd="fast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COURSEWARE AND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Use the LMS for the current learner materials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60704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372"/>
                </a:solidFill>
                <a:latin typeface="Arial"/>
              </a:rPr>
              <a:t>Download the learner slide PDF, Learner Guide, labs and learner-facing assessment papers</a:t>
            </a:r>
          </a:p>
        </p:txBody>
      </p:sp>
      <p:sp>
        <p:nvSpPr>
          <p:cNvPr id="6" name="Oval 5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115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1719072"/>
            <a:ext cx="10753344" cy="3163824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2084831"/>
            <a:ext cx="10058400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6FEB"/>
                </a:solidFill>
                <a:latin typeface="Arial"/>
                <a:hlinkClick r:id="rId2"/>
              </a:rPr>
              <a:t>https://lms-tms.tertiaryinfotech.com/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" y="3063240"/>
            <a:ext cx="2249424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3273552"/>
            <a:ext cx="193852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6FEB"/>
                </a:solidFill>
                <a:latin typeface="Arial"/>
              </a:rPr>
              <a:t>1  Download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657600"/>
            <a:ext cx="1938528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Use the current v6.0 slides and guide.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47872" y="3063240"/>
            <a:ext cx="2249424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94176" y="3273552"/>
            <a:ext cx="193852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0B981"/>
                </a:solidFill>
                <a:latin typeface="Arial"/>
              </a:rPr>
              <a:t>2  Complete labs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94176" y="3657600"/>
            <a:ext cx="1938528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Retain the required evidence.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79" y="3063240"/>
            <a:ext cx="2249424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2783" y="3273552"/>
            <a:ext cx="193852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C3AED"/>
                </a:solidFill>
                <a:latin typeface="Arial"/>
              </a:rPr>
              <a:t>3  Take assessment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2783" y="3657600"/>
            <a:ext cx="1938528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Open learner papers only.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05088" y="3063240"/>
            <a:ext cx="2249424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51392" y="3273552"/>
            <a:ext cx="193852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59E0B"/>
                </a:solidFill>
                <a:latin typeface="Arial"/>
              </a:rPr>
              <a:t>4  Submit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51392" y="3657600"/>
            <a:ext cx="1938528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372"/>
                </a:solidFill>
                <a:latin typeface="Arial"/>
              </a:rPr>
              <a:t>Follow the course record instructions.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93392" y="5230368"/>
            <a:ext cx="8211312" cy="548640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67712" y="5367528"/>
            <a:ext cx="7662672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ial"/>
              </a:rPr>
              <a:t>Answer keys remain trainer-only and are never attached to the learner course record.</a:t>
            </a:r>
          </a:p>
        </p:txBody>
      </p:sp>
    </p:spTree>
  </p:cSld>
  <p:clrMapOvr>
    <a:masterClrMapping/>
  </p:clrMapOvr>
  <p:transition spd="fast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Final reminder before you begin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116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" y="1755648"/>
            <a:ext cx="3502152" cy="2020824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5216" y="1755648"/>
            <a:ext cx="73152" cy="2020824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1938528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30 min WA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2414015"/>
            <a:ext cx="3108960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Answer the architecture and operating-control questions in your own words.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755648"/>
            <a:ext cx="3502152" cy="2020824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1755648"/>
            <a:ext cx="73152" cy="202082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1938528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30 min Case Study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414015"/>
            <a:ext cx="3108960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Apply the ten labs to the stated business scenario.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1584" y="1755648"/>
            <a:ext cx="3502152" cy="2020824"/>
          </a:xfrm>
          <a:prstGeom prst="roundRect">
            <a:avLst>
              <a:gd name="adj" fmla="val 12000"/>
            </a:avLst>
          </a:prstGeom>
          <a:solidFill>
            <a:srgbClr val="F2EC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01584" y="1755648"/>
            <a:ext cx="73152" cy="202082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0184" y="1938528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Open 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4" y="2414015"/>
            <a:ext cx="3108960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Use the current slides, Learner Guide and approved lab materials.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5216" y="4014215"/>
            <a:ext cx="3502152" cy="2020824"/>
          </a:xfrm>
          <a:prstGeom prst="roundRect">
            <a:avLst>
              <a:gd name="adj" fmla="val 12000"/>
            </a:avLst>
          </a:prstGeom>
          <a:solidFill>
            <a:srgbClr val="FFF6E6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5216" y="4014215"/>
            <a:ext cx="73152" cy="202082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" y="4197096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Attendance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" y="4672583"/>
            <a:ext cx="3108960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Complete the Assessment digital attendance first.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014215"/>
            <a:ext cx="3502152" cy="2020824"/>
          </a:xfrm>
          <a:prstGeom prst="roundRect">
            <a:avLst>
              <a:gd name="adj" fmla="val 12000"/>
            </a:avLst>
          </a:prstGeom>
          <a:solidFill>
            <a:srgbClr val="FFF0EE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43400" y="4014215"/>
            <a:ext cx="73152" cy="2020824"/>
          </a:xfrm>
          <a:prstGeom prst="rect">
            <a:avLst/>
          </a:prstGeom>
          <a:solidFill>
            <a:srgbClr val="F46A5A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4197096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Submission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672583"/>
            <a:ext cx="3108960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Submit both learner-facing instruments through the LMS.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01584" y="4014215"/>
            <a:ext cx="3502152" cy="2020824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01584" y="4014215"/>
            <a:ext cx="73152" cy="2020824"/>
          </a:xfrm>
          <a:prstGeom prst="rect">
            <a:avLst/>
          </a:prstGeom>
          <a:solidFill>
            <a:srgbClr val="161B26"/>
          </a:solidFill>
          <a:ln>
            <a:solidFill>
              <a:srgbClr val="161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30184" y="4197096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Record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0184" y="4672583"/>
            <a:ext cx="3108960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Sign the Assessment Summary Record after completion.</a:t>
            </a:r>
          </a:p>
        </p:txBody>
      </p:sp>
    </p:spTree>
  </p:cSld>
  <p:clrMapOvr>
    <a:masterClrMapping/>
  </p:clrMapOvr>
  <p:transition spd="fast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ASSESSMENT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Complete every assessment step in order</a:t>
            </a:r>
          </a:p>
        </p:txBody>
      </p:sp>
      <p:sp>
        <p:nvSpPr>
          <p:cNvPr id="5" name="Oval 4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117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53004" y="3273552"/>
            <a:ext cx="310896" cy="0"/>
          </a:xfrm>
          <a:prstGeom prst="line">
            <a:avLst/>
          </a:prstGeom>
          <a:ln w="2032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795113" y="3273552"/>
            <a:ext cx="310896" cy="0"/>
          </a:xfrm>
          <a:prstGeom prst="line">
            <a:avLst/>
          </a:prstGeom>
          <a:ln w="2032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37222" y="3273552"/>
            <a:ext cx="310896" cy="0"/>
          </a:xfrm>
          <a:prstGeom prst="line">
            <a:avLst/>
          </a:prstGeom>
          <a:ln w="2032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279331" y="3273552"/>
            <a:ext cx="310896" cy="0"/>
          </a:xfrm>
          <a:prstGeom prst="line">
            <a:avLst/>
          </a:prstGeom>
          <a:ln w="20320">
            <a:solidFill>
              <a:srgbClr val="5B63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58368" y="2139696"/>
            <a:ext cx="1858060" cy="23591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139696"/>
            <a:ext cx="1858060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59" y="2395728"/>
            <a:ext cx="393192" cy="39319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2395728"/>
            <a:ext cx="1144828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61B26"/>
                </a:solidFill>
                <a:latin typeface="Arial"/>
              </a:rPr>
              <a:t>TRAQOM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3090672"/>
            <a:ext cx="1528876" cy="10241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372"/>
                </a:solidFill>
                <a:latin typeface="Arial"/>
              </a:rPr>
              <a:t>Scan the LMS QR and complete attendance.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00476" y="2139696"/>
            <a:ext cx="1858060" cy="23591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00476" y="2139696"/>
            <a:ext cx="1858060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065068" y="2395728"/>
            <a:ext cx="393192" cy="39319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03980" y="2395728"/>
            <a:ext cx="1144828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61B26"/>
                </a:solidFill>
                <a:latin typeface="Arial"/>
              </a:rPr>
              <a:t>Assessment attendance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5068" y="3090672"/>
            <a:ext cx="1528876" cy="10241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372"/>
                </a:solidFill>
                <a:latin typeface="Arial"/>
              </a:rPr>
              <a:t>Record the assessment session.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42585" y="2139696"/>
            <a:ext cx="1858060" cy="23591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42585" y="2139696"/>
            <a:ext cx="1858060" cy="9144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07177" y="2395728"/>
            <a:ext cx="393192" cy="39319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46089" y="2395728"/>
            <a:ext cx="1144828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61B26"/>
                </a:solidFill>
                <a:latin typeface="Arial"/>
              </a:rPr>
              <a:t>Sit WA + 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7177" y="3090672"/>
            <a:ext cx="1528876" cy="10241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372"/>
                </a:solidFill>
                <a:latin typeface="Arial"/>
              </a:rPr>
              <a:t>Complete both open-book instruments.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84694" y="2139696"/>
            <a:ext cx="1858060" cy="23591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84694" y="2139696"/>
            <a:ext cx="1858060" cy="914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549286" y="2395728"/>
            <a:ext cx="393192" cy="39319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88198" y="2395728"/>
            <a:ext cx="1144828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61B26"/>
                </a:solidFill>
                <a:latin typeface="Arial"/>
              </a:rPr>
              <a:t>Submit on LMS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9286" y="3090672"/>
            <a:ext cx="1528876" cy="10241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372"/>
                </a:solidFill>
                <a:latin typeface="Arial"/>
              </a:rPr>
              <a:t>Upload or enter the required answers.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26803" y="2139696"/>
            <a:ext cx="1858060" cy="23591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626803" y="2139696"/>
            <a:ext cx="1858060" cy="91440"/>
          </a:xfrm>
          <a:prstGeom prst="rect">
            <a:avLst/>
          </a:prstGeom>
          <a:solidFill>
            <a:srgbClr val="F46A5A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791395" y="2395728"/>
            <a:ext cx="393192" cy="393192"/>
          </a:xfrm>
          <a:prstGeom prst="ellipse">
            <a:avLst/>
          </a:prstGeom>
          <a:solidFill>
            <a:srgbClr val="F46A5A"/>
          </a:solidFill>
          <a:ln>
            <a:solidFill>
              <a:srgbClr val="F4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30307" y="2395728"/>
            <a:ext cx="1144828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61B26"/>
                </a:solidFill>
                <a:latin typeface="Arial"/>
              </a:rPr>
              <a:t>Sign record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91395" y="3090672"/>
            <a:ext cx="1528876" cy="10241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372"/>
                </a:solidFill>
                <a:latin typeface="Arial"/>
              </a:rPr>
              <a:t>Confirm the Assessment Summary Record.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4901184"/>
            <a:ext cx="10826496" cy="82296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5084064"/>
            <a:ext cx="11430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6FEB"/>
                </a:solidFill>
                <a:latin typeface="Arial"/>
              </a:rPr>
              <a:t>SYSTEM PATH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11680" y="5029200"/>
            <a:ext cx="909828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B26"/>
                </a:solidFill>
                <a:latin typeface="Arial"/>
              </a:rPr>
              <a:t>TRAQOM -&gt; Assessment attendance -&gt; Sit WA + CS -&gt; Submit on LMS -&gt; Sign record</a:t>
            </a:r>
          </a:p>
        </p:txBody>
      </p:sp>
    </p:spTree>
  </p:cSld>
  <p:clrMapOvr>
    <a:masterClrMapping/>
  </p:clrMapOvr>
  <p:transition spd="fast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583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Arial"/>
              </a:rPr>
              <a:t>TRAQOM - SSG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270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60704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372"/>
                </a:solidFill>
                <a:latin typeface="Arial"/>
              </a:rPr>
              <a:t>Complete this immediately before the assessment begins</a:t>
            </a:r>
          </a:p>
        </p:txBody>
      </p:sp>
      <p:sp>
        <p:nvSpPr>
          <p:cNvPr id="6" name="Oval 5"/>
          <p:cNvSpPr/>
          <p:nvPr/>
        </p:nvSpPr>
        <p:spPr>
          <a:xfrm>
            <a:off x="11384280" y="292608"/>
            <a:ext cx="118872" cy="1188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12880" y="292608"/>
            <a:ext cx="118872" cy="11887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41480" y="292608"/>
            <a:ext cx="118872" cy="11887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118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" y="1755648"/>
            <a:ext cx="3502152" cy="4279392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5216" y="1755648"/>
            <a:ext cx="73152" cy="427939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1938528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Scan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2414015"/>
            <a:ext cx="3108960" cy="3474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Use the official assessment attendance QR code shown by the trainer.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1755648"/>
            <a:ext cx="3502152" cy="4279392"/>
          </a:xfrm>
          <a:prstGeom prst="roundRect">
            <a:avLst>
              <a:gd name="adj" fmla="val 12000"/>
            </a:avLst>
          </a:prstGeom>
          <a:solidFill>
            <a:srgbClr val="EAFBF5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1755648"/>
            <a:ext cx="73152" cy="427939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1938528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414015"/>
            <a:ext cx="3108960" cy="3474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Confirm your identity, course code and assessment session.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1584" y="1755648"/>
            <a:ext cx="3502152" cy="4279392"/>
          </a:xfrm>
          <a:prstGeom prst="roundRect">
            <a:avLst>
              <a:gd name="adj" fmla="val 12000"/>
            </a:avLst>
          </a:prstGeom>
          <a:solidFill>
            <a:srgbClr val="F2EC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1584" y="1755648"/>
            <a:ext cx="73152" cy="427939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4" y="1938528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1B26"/>
                </a:solidFill>
                <a:latin typeface="Arial"/>
              </a:rPr>
              <a:t>Retain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4" y="2414015"/>
            <a:ext cx="3108960" cy="3474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B6372"/>
                </a:solidFill>
                <a:latin typeface="Arial"/>
              </a:rPr>
              <a:t>Keep the confirmation screen until the trainer verifies completion.</a:t>
            </a:r>
          </a:p>
        </p:txBody>
      </p:sp>
    </p:spTree>
  </p:cSld>
  <p:clrMapOvr>
    <a:masterClrMapping/>
  </p:clrMapOvr>
  <p:transition spd="fast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22860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B981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8046720" cy="21214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00" b="1" i="0">
                <a:solidFill>
                  <a:srgbClr val="161B26"/>
                </a:solidFill>
                <a:latin typeface="Arial"/>
              </a:rPr>
              <a:t>Understand the system.
Bound the authority.
Prove the result.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3767328"/>
            <a:ext cx="5669280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B6372"/>
                </a:solidFill>
                <a:latin typeface="Arial"/>
              </a:rPr>
              <a:t>Questions - reflections - assessment</a:t>
            </a:r>
          </a:p>
        </p:txBody>
      </p:sp>
      <p:sp>
        <p:nvSpPr>
          <p:cNvPr id="6" name="Oval 5"/>
          <p:cNvSpPr/>
          <p:nvPr/>
        </p:nvSpPr>
        <p:spPr>
          <a:xfrm>
            <a:off x="9308592" y="1408176"/>
            <a:ext cx="1097280" cy="10972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3000">
                <a:solidFill>
                  <a:srgbClr val="FFFFFF"/>
                </a:solidFill>
                <a:latin typeface="Arial"/>
              </a:rPr>
              <a:t>G</a:t>
            </a:r>
          </a:p>
        </p:txBody>
      </p:sp>
      <p:sp>
        <p:nvSpPr>
          <p:cNvPr id="7" name="Oval 6"/>
          <p:cNvSpPr/>
          <p:nvPr/>
        </p:nvSpPr>
        <p:spPr>
          <a:xfrm>
            <a:off x="10287000" y="2212848"/>
            <a:ext cx="841248" cy="84124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30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8" name="Oval 7"/>
          <p:cNvSpPr/>
          <p:nvPr/>
        </p:nvSpPr>
        <p:spPr>
          <a:xfrm>
            <a:off x="9034272" y="3218688"/>
            <a:ext cx="640080" cy="64008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700">
                <a:solidFill>
                  <a:srgbClr val="FFFFFF"/>
                </a:solidFill>
                <a:latin typeface="Arial"/>
              </a:rPr>
              <a:t>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875520" y="2249424"/>
            <a:ext cx="594360" cy="237744"/>
          </a:xfrm>
          <a:prstGeom prst="line">
            <a:avLst/>
          </a:prstGeom>
          <a:ln w="38100">
            <a:solidFill>
              <a:srgbClr val="DCE4E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9345168" y="2523744"/>
            <a:ext cx="329184" cy="877824"/>
          </a:xfrm>
          <a:prstGeom prst="line">
            <a:avLst/>
          </a:prstGeom>
          <a:ln w="38100">
            <a:solidFill>
              <a:srgbClr val="DCE4E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397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30352" y="655624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Autonomous AI Agents with OpenClaw  ·  TGS-2026064859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556248"/>
            <a:ext cx="3063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37960"/>
            <a:ext cx="502920" cy="192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1B26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AI Agents with OpenClaw</dc:title>
  <dc:subject>TGS-2026064859 WSQ course slides - substantive architecture edition v6.0</dc:subject>
  <dc:creator>Tertiary Infotech Academy Pte Ltd</dc:creator>
  <cp:keywords/>
  <dc:description>v6.0 substantive rebuild using the archived v2.0 deck as the coverage floor. New cover hero generated with built-in image generation on 23 Aug 2026. All instructional diagrams are editable PowerPoint shapes.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